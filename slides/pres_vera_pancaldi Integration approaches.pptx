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147473634" r:id="rId2"/>
    <p:sldId id="2147473766" r:id="rId3"/>
    <p:sldId id="2147473769" r:id="rId4"/>
    <p:sldId id="2147473772" r:id="rId5"/>
    <p:sldId id="2147473770" r:id="rId6"/>
    <p:sldId id="2147473775" r:id="rId7"/>
    <p:sldId id="2147473773" r:id="rId8"/>
    <p:sldId id="2147473774" r:id="rId9"/>
    <p:sldId id="262" r:id="rId10"/>
    <p:sldId id="2147473771" r:id="rId11"/>
    <p:sldId id="2147473767" r:id="rId12"/>
    <p:sldId id="2147473768" r:id="rId13"/>
    <p:sldId id="25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548550B-3527-7AF1-A444-1E2523999059}" name="Bastien Chassagnol" initials="BC" userId="S::bastien.chassagnol@ardata.fr::9556babb-c02f-4c37-838a-8ab53642e849" providerId="AD"/>
  <p188:author id="{A80CA0AA-747E-1CF2-ADC3-ECF8DC1940A3}" name="CHASSAGNOL BASTIEN IDRS" initials="CBI" userId="S::bastien.chassagnol@servier.com::2d7ba84f-2528-431f-98df-23117ea955c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ED7D31"/>
    <a:srgbClr val="002060"/>
    <a:srgbClr val="7030A0"/>
    <a:srgbClr val="028383"/>
    <a:srgbClr val="0000FF"/>
    <a:srgbClr val="00B0F0"/>
    <a:srgbClr val="FFC000"/>
    <a:srgbClr val="FFFFFF"/>
    <a:srgbClr val="70AD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08" autoAdjust="0"/>
    <p:restoredTop sz="94049" autoAdjust="0"/>
  </p:normalViewPr>
  <p:slideViewPr>
    <p:cSldViewPr snapToGrid="0">
      <p:cViewPr varScale="1">
        <p:scale>
          <a:sx n="64" d="100"/>
          <a:sy n="64" d="100"/>
        </p:scale>
        <p:origin x="996" y="44"/>
      </p:cViewPr>
      <p:guideLst/>
    </p:cSldViewPr>
  </p:slideViewPr>
  <p:outlineViewPr>
    <p:cViewPr>
      <p:scale>
        <a:sx n="33" d="100"/>
        <a:sy n="33" d="100"/>
      </p:scale>
      <p:origin x="0" y="-300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1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stien CHASSAGNOL" userId="5147dea5b81ac1f3" providerId="LiveId" clId="{F9474986-E1B6-4969-B274-9775E9FBF3D9}"/>
    <pc:docChg chg="delSld">
      <pc:chgData name="bastien CHASSAGNOL" userId="5147dea5b81ac1f3" providerId="LiveId" clId="{F9474986-E1B6-4969-B274-9775E9FBF3D9}" dt="2025-11-17T13:14:27.604" v="0" actId="47"/>
      <pc:docMkLst>
        <pc:docMk/>
      </pc:docMkLst>
      <pc:sldChg chg="del">
        <pc:chgData name="bastien CHASSAGNOL" userId="5147dea5b81ac1f3" providerId="LiveId" clId="{F9474986-E1B6-4969-B274-9775E9FBF3D9}" dt="2025-11-17T13:14:27.604" v="0" actId="47"/>
        <pc:sldMkLst>
          <pc:docMk/>
          <pc:sldMk cId="2703997703" sldId="26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F62AFFDE-BD51-2503-66CE-81276AB1FA8B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2C6F4BA-6B05-1173-EEFA-463EABDA851E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2337886-3689-4381-89A1-CE0DF0A875F2}" type="datetime1">
              <a: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17/11/2025</a:t>
            </a:fld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CC77892-C21F-4DD7-E9FD-4CBD45E112D7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86BDF4F-D413-97E3-5AD6-B5E1E416A560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02E6483-5AE7-4730-98F8-6408E82BD030}" type="slidenum">
              <a:t>‹#›</a:t>
            </a:fld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596575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6E01C077-03FE-1698-44FB-F9BE61F28B7D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245F41E-3110-A2FC-FE49-2888522D938C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78F9E89B-918C-4743-9B72-8B52610DE5BD}" type="datetime1">
              <a:rPr lang="fr-FR"/>
              <a:pPr lvl="0"/>
              <a:t>17/11/2025</a:t>
            </a:fld>
            <a:endParaRPr lang="fr-FR"/>
          </a:p>
        </p:txBody>
      </p:sp>
      <p:sp>
        <p:nvSpPr>
          <p:cNvPr id="4" name="Espace réservé de l'image des diapositives 3">
            <a:extLst>
              <a:ext uri="{FF2B5EF4-FFF2-40B4-BE49-F238E27FC236}">
                <a16:creationId xmlns:a16="http://schemas.microsoft.com/office/drawing/2014/main" id="{39434BB8-F0CC-84B8-8124-D43F08CC9D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Espace réservé des notes 4">
            <a:extLst>
              <a:ext uri="{FF2B5EF4-FFF2-40B4-BE49-F238E27FC236}">
                <a16:creationId xmlns:a16="http://schemas.microsoft.com/office/drawing/2014/main" id="{E530BC21-741F-76AD-AB77-9E345D59C4F7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fr-FR"/>
              <a:t>Modifier les styles du texte du masque Deuxième niveau Troisième niveau Quatrième niveau Cinquième niveau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1B2A27E-8FD3-722F-D94A-E9A36AC3E6DC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3A1B63B-E878-2588-5F95-78182E32986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313DA476-FE06-43DC-9739-BCB26B1203F1}" type="slidenum"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5769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Calibri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7571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1c10047810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1c10047810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a4708bb41e_2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a4708bb41e_2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a4708bb41e_2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a4708bb41e_2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>
            <a:extLst>
              <a:ext uri="{FF2B5EF4-FFF2-40B4-BE49-F238E27FC236}">
                <a16:creationId xmlns:a16="http://schemas.microsoft.com/office/drawing/2014/main" id="{005D4410-052B-FC08-585D-6DBF9D17D7D7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242269"/>
          </a:solidFill>
          <a:ln w="12701" cap="flat">
            <a:solidFill>
              <a:srgbClr val="17164B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3" name="Espace réservé de la date 3">
            <a:extLst>
              <a:ext uri="{FF2B5EF4-FFF2-40B4-BE49-F238E27FC236}">
                <a16:creationId xmlns:a16="http://schemas.microsoft.com/office/drawing/2014/main" id="{85B8755F-3568-8D65-F570-A39DA8181695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xfrm>
            <a:off x="1235070" y="6184901"/>
            <a:ext cx="2743200" cy="21431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300" b="1" i="0" u="none" strike="noStrike" kern="1200" cap="none" spc="0" baseline="0">
                <a:solidFill>
                  <a:srgbClr val="FFFFFF"/>
                </a:solidFill>
                <a:uFillTx/>
                <a:latin typeface="Century Gothic" pitchFamily="34"/>
              </a:defRPr>
            </a:lvl1pPr>
          </a:lstStyle>
          <a:p>
            <a:pPr lvl="0"/>
            <a:fld id="{B4BFF1BA-DD1D-4DF6-9E10-BB467AA4B846}" type="datetime1">
              <a:rPr lang="en-GB" smtClean="0"/>
              <a:t>17/11/2025</a:t>
            </a:fld>
            <a:endParaRPr lang="fr-FR"/>
          </a:p>
        </p:txBody>
      </p:sp>
      <p:pic>
        <p:nvPicPr>
          <p:cNvPr id="4" name="Image 8">
            <a:extLst>
              <a:ext uri="{FF2B5EF4-FFF2-40B4-BE49-F238E27FC236}">
                <a16:creationId xmlns:a16="http://schemas.microsoft.com/office/drawing/2014/main" id="{7C1C449B-EE48-7D07-C5BB-3B3694EA9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203" y="5656414"/>
            <a:ext cx="2955121" cy="98739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Forme libre 11">
            <a:extLst>
              <a:ext uri="{FF2B5EF4-FFF2-40B4-BE49-F238E27FC236}">
                <a16:creationId xmlns:a16="http://schemas.microsoft.com/office/drawing/2014/main" id="{B5500A4B-26A4-C708-4B14-6F17BDB56A23}"/>
              </a:ext>
            </a:extLst>
          </p:cNvPr>
          <p:cNvSpPr/>
          <p:nvPr/>
        </p:nvSpPr>
        <p:spPr>
          <a:xfrm>
            <a:off x="1225552" y="0"/>
            <a:ext cx="5494236" cy="5461254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494236"/>
              <a:gd name="f7" fmla="val 5461251"/>
              <a:gd name="f8" fmla="val 3533858"/>
              <a:gd name="f9" fmla="val 5492795"/>
              <a:gd name="f10" fmla="val 56984"/>
              <a:gd name="f11" fmla="val 3041678"/>
              <a:gd name="f12" fmla="val 3074663"/>
              <a:gd name="f13" fmla="val 89969"/>
              <a:gd name="f14" fmla="val 5458976"/>
              <a:gd name="f15" fmla="val 3500039"/>
              <a:gd name="f16" fmla="val 89970"/>
              <a:gd name="f17" fmla="val 3502314"/>
              <a:gd name="f18" fmla="val 1992773"/>
              <a:gd name="f19" fmla="val 3535299"/>
              <a:gd name="f20" fmla="val 1959788"/>
              <a:gd name="f21" fmla="val 56985"/>
              <a:gd name="f22" fmla="+- 0 0 -90"/>
              <a:gd name="f23" fmla="*/ f3 1 5494236"/>
              <a:gd name="f24" fmla="*/ f4 1 5461251"/>
              <a:gd name="f25" fmla="+- f7 0 f5"/>
              <a:gd name="f26" fmla="+- f6 0 f5"/>
              <a:gd name="f27" fmla="*/ f22 f0 1"/>
              <a:gd name="f28" fmla="*/ f26 1 5494236"/>
              <a:gd name="f29" fmla="*/ f25 1 5461251"/>
              <a:gd name="f30" fmla="*/ 3533858 f26 1"/>
              <a:gd name="f31" fmla="*/ 0 f25 1"/>
              <a:gd name="f32" fmla="*/ 5492795 f26 1"/>
              <a:gd name="f33" fmla="*/ 5494236 f26 1"/>
              <a:gd name="f34" fmla="*/ 56984 f25 1"/>
              <a:gd name="f35" fmla="*/ 89969 f26 1"/>
              <a:gd name="f36" fmla="*/ 5461251 f25 1"/>
              <a:gd name="f37" fmla="*/ 0 f26 1"/>
              <a:gd name="f38" fmla="*/ 5458976 f25 1"/>
              <a:gd name="f39" fmla="*/ 3500039 f25 1"/>
              <a:gd name="f40" fmla="*/ 89970 f26 1"/>
              <a:gd name="f41" fmla="*/ 3502314 f25 1"/>
              <a:gd name="f42" fmla="*/ 3535299 f26 1"/>
              <a:gd name="f43" fmla="*/ 56985 f25 1"/>
              <a:gd name="f44" fmla="*/ f27 1 f2"/>
              <a:gd name="f45" fmla="*/ f30 1 5494236"/>
              <a:gd name="f46" fmla="*/ f31 1 5461251"/>
              <a:gd name="f47" fmla="*/ f32 1 5494236"/>
              <a:gd name="f48" fmla="*/ f33 1 5494236"/>
              <a:gd name="f49" fmla="*/ f34 1 5461251"/>
              <a:gd name="f50" fmla="*/ f35 1 5494236"/>
              <a:gd name="f51" fmla="*/ f36 1 5461251"/>
              <a:gd name="f52" fmla="*/ f37 1 5494236"/>
              <a:gd name="f53" fmla="*/ f38 1 5461251"/>
              <a:gd name="f54" fmla="*/ f39 1 5461251"/>
              <a:gd name="f55" fmla="*/ f40 1 5494236"/>
              <a:gd name="f56" fmla="*/ f41 1 5461251"/>
              <a:gd name="f57" fmla="*/ f42 1 5494236"/>
              <a:gd name="f58" fmla="*/ f43 1 5461251"/>
              <a:gd name="f59" fmla="*/ f5 1 f28"/>
              <a:gd name="f60" fmla="*/ f6 1 f28"/>
              <a:gd name="f61" fmla="*/ f5 1 f29"/>
              <a:gd name="f62" fmla="*/ f7 1 f29"/>
              <a:gd name="f63" fmla="+- f44 0 f1"/>
              <a:gd name="f64" fmla="*/ f45 1 f28"/>
              <a:gd name="f65" fmla="*/ f46 1 f29"/>
              <a:gd name="f66" fmla="*/ f47 1 f28"/>
              <a:gd name="f67" fmla="*/ f48 1 f28"/>
              <a:gd name="f68" fmla="*/ f49 1 f29"/>
              <a:gd name="f69" fmla="*/ f50 1 f28"/>
              <a:gd name="f70" fmla="*/ f51 1 f29"/>
              <a:gd name="f71" fmla="*/ f52 1 f28"/>
              <a:gd name="f72" fmla="*/ f53 1 f29"/>
              <a:gd name="f73" fmla="*/ f54 1 f29"/>
              <a:gd name="f74" fmla="*/ f55 1 f28"/>
              <a:gd name="f75" fmla="*/ f56 1 f29"/>
              <a:gd name="f76" fmla="*/ f57 1 f28"/>
              <a:gd name="f77" fmla="*/ f58 1 f29"/>
              <a:gd name="f78" fmla="*/ f59 f23 1"/>
              <a:gd name="f79" fmla="*/ f60 f23 1"/>
              <a:gd name="f80" fmla="*/ f62 f24 1"/>
              <a:gd name="f81" fmla="*/ f61 f24 1"/>
              <a:gd name="f82" fmla="*/ f64 f23 1"/>
              <a:gd name="f83" fmla="*/ f65 f24 1"/>
              <a:gd name="f84" fmla="*/ f66 f23 1"/>
              <a:gd name="f85" fmla="*/ f67 f23 1"/>
              <a:gd name="f86" fmla="*/ f68 f24 1"/>
              <a:gd name="f87" fmla="*/ f69 f23 1"/>
              <a:gd name="f88" fmla="*/ f70 f24 1"/>
              <a:gd name="f89" fmla="*/ f71 f23 1"/>
              <a:gd name="f90" fmla="*/ f72 f24 1"/>
              <a:gd name="f91" fmla="*/ f73 f24 1"/>
              <a:gd name="f92" fmla="*/ f74 f23 1"/>
              <a:gd name="f93" fmla="*/ f75 f24 1"/>
              <a:gd name="f94" fmla="*/ f76 f23 1"/>
              <a:gd name="f95" fmla="*/ f77 f2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63">
                <a:pos x="f82" y="f83"/>
              </a:cxn>
              <a:cxn ang="f63">
                <a:pos x="f84" y="f83"/>
              </a:cxn>
              <a:cxn ang="f63">
                <a:pos x="f85" y="f86"/>
              </a:cxn>
              <a:cxn ang="f63">
                <a:pos x="f87" y="f88"/>
              </a:cxn>
              <a:cxn ang="f63">
                <a:pos x="f89" y="f90"/>
              </a:cxn>
              <a:cxn ang="f63">
                <a:pos x="f89" y="f91"/>
              </a:cxn>
              <a:cxn ang="f63">
                <a:pos x="f92" y="f93"/>
              </a:cxn>
              <a:cxn ang="f63">
                <a:pos x="f94" y="f95"/>
              </a:cxn>
            </a:cxnLst>
            <a:rect l="f78" t="f81" r="f79" b="f80"/>
            <a:pathLst>
              <a:path w="5494236" h="5461251">
                <a:moveTo>
                  <a:pt x="f8" y="f5"/>
                </a:moveTo>
                <a:lnTo>
                  <a:pt x="f9" y="f5"/>
                </a:lnTo>
                <a:lnTo>
                  <a:pt x="f6" y="f10"/>
                </a:lnTo>
                <a:cubicBezTo>
                  <a:pt x="f6" y="f11"/>
                  <a:pt x="f12" y="f7"/>
                  <a:pt x="f13" y="f7"/>
                </a:cubicBezTo>
                <a:lnTo>
                  <a:pt x="f5" y="f14"/>
                </a:lnTo>
                <a:lnTo>
                  <a:pt x="f5" y="f15"/>
                </a:lnTo>
                <a:lnTo>
                  <a:pt x="f16" y="f17"/>
                </a:lnTo>
                <a:cubicBezTo>
                  <a:pt x="f18" y="f17"/>
                  <a:pt x="f19" y="f20"/>
                  <a:pt x="f19" y="f21"/>
                </a:cubicBezTo>
                <a:close/>
              </a:path>
            </a:pathLst>
          </a:custGeom>
          <a:solidFill>
            <a:srgbClr val="323C8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E026D752-BE85-0075-C5C6-B22D2EDC9D8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225552" y="969995"/>
            <a:ext cx="10342558" cy="2216624"/>
          </a:xfrm>
        </p:spPr>
        <p:txBody>
          <a:bodyPr/>
          <a:lstStyle>
            <a:lvl1pPr>
              <a:lnSpc>
                <a:spcPts val="5200"/>
              </a:lnSpc>
              <a:defRPr sz="4100">
                <a:solidFill>
                  <a:srgbClr val="FFFFFF"/>
                </a:solidFill>
              </a:defRPr>
            </a:lvl1pPr>
          </a:lstStyle>
          <a:p>
            <a:pPr lvl="0"/>
            <a:r>
              <a:rPr lang="fr-FR"/>
              <a:t>Title of your presentation in few lines (Century Gothic 41 pt)</a:t>
            </a:r>
          </a:p>
        </p:txBody>
      </p:sp>
      <p:sp>
        <p:nvSpPr>
          <p:cNvPr id="7" name="Sous-titre 2">
            <a:extLst>
              <a:ext uri="{FF2B5EF4-FFF2-40B4-BE49-F238E27FC236}">
                <a16:creationId xmlns:a16="http://schemas.microsoft.com/office/drawing/2014/main" id="{83927F5B-AB59-499F-F119-F4FF5117136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35070" y="3805495"/>
            <a:ext cx="10342568" cy="165575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rgbClr val="FFFFFF"/>
                </a:solidFill>
              </a:defRPr>
            </a:lvl1pPr>
            <a:lvl2pPr marL="0" lvl="0" indent="0">
              <a:spcBef>
                <a:spcPts val="0"/>
              </a:spcBef>
              <a:buNone/>
              <a:defRPr sz="2400">
                <a:solidFill>
                  <a:srgbClr val="FFFFFF"/>
                </a:solidFill>
              </a:defRPr>
            </a:lvl2pPr>
          </a:lstStyle>
          <a:p>
            <a:pPr lvl="0"/>
            <a:r>
              <a:rPr lang="fr-FR"/>
              <a:t>Subtitle in one or two lines</a:t>
            </a:r>
          </a:p>
          <a:p>
            <a:pPr lvl="0"/>
            <a:r>
              <a:rPr lang="fr-FR"/>
              <a:t>(Century Gothic 24 pt)</a:t>
            </a:r>
          </a:p>
        </p:txBody>
      </p:sp>
    </p:spTree>
    <p:extLst>
      <p:ext uri="{BB962C8B-B14F-4D97-AF65-F5344CB8AC3E}">
        <p14:creationId xmlns:p14="http://schemas.microsoft.com/office/powerpoint/2010/main" val="3788930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e libre 10">
            <a:extLst>
              <a:ext uri="{FF2B5EF4-FFF2-40B4-BE49-F238E27FC236}">
                <a16:creationId xmlns:a16="http://schemas.microsoft.com/office/drawing/2014/main" id="{F55540DA-5C3A-9B47-968E-3BC881A8339C}"/>
              </a:ext>
            </a:extLst>
          </p:cNvPr>
          <p:cNvSpPr/>
          <p:nvPr/>
        </p:nvSpPr>
        <p:spPr>
          <a:xfrm>
            <a:off x="1235070" y="0"/>
            <a:ext cx="5494236" cy="5461254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494236"/>
              <a:gd name="f7" fmla="val 5461251"/>
              <a:gd name="f8" fmla="val 3533858"/>
              <a:gd name="f9" fmla="val 5492795"/>
              <a:gd name="f10" fmla="val 56984"/>
              <a:gd name="f11" fmla="val 3041678"/>
              <a:gd name="f12" fmla="val 3074663"/>
              <a:gd name="f13" fmla="val 89969"/>
              <a:gd name="f14" fmla="val 5458976"/>
              <a:gd name="f15" fmla="val 3500039"/>
              <a:gd name="f16" fmla="val 89970"/>
              <a:gd name="f17" fmla="val 3502314"/>
              <a:gd name="f18" fmla="val 1992773"/>
              <a:gd name="f19" fmla="val 3535299"/>
              <a:gd name="f20" fmla="val 1959788"/>
              <a:gd name="f21" fmla="val 56985"/>
              <a:gd name="f22" fmla="+- 0 0 -90"/>
              <a:gd name="f23" fmla="*/ f3 1 5494236"/>
              <a:gd name="f24" fmla="*/ f4 1 5461251"/>
              <a:gd name="f25" fmla="+- f7 0 f5"/>
              <a:gd name="f26" fmla="+- f6 0 f5"/>
              <a:gd name="f27" fmla="*/ f22 f0 1"/>
              <a:gd name="f28" fmla="*/ f26 1 5494236"/>
              <a:gd name="f29" fmla="*/ f25 1 5461251"/>
              <a:gd name="f30" fmla="*/ 3533858 f26 1"/>
              <a:gd name="f31" fmla="*/ 0 f25 1"/>
              <a:gd name="f32" fmla="*/ 5492795 f26 1"/>
              <a:gd name="f33" fmla="*/ 5494236 f26 1"/>
              <a:gd name="f34" fmla="*/ 56984 f25 1"/>
              <a:gd name="f35" fmla="*/ 89969 f26 1"/>
              <a:gd name="f36" fmla="*/ 5461251 f25 1"/>
              <a:gd name="f37" fmla="*/ 0 f26 1"/>
              <a:gd name="f38" fmla="*/ 5458976 f25 1"/>
              <a:gd name="f39" fmla="*/ 3500039 f25 1"/>
              <a:gd name="f40" fmla="*/ 89970 f26 1"/>
              <a:gd name="f41" fmla="*/ 3502314 f25 1"/>
              <a:gd name="f42" fmla="*/ 3535299 f26 1"/>
              <a:gd name="f43" fmla="*/ 56985 f25 1"/>
              <a:gd name="f44" fmla="*/ f27 1 f2"/>
              <a:gd name="f45" fmla="*/ f30 1 5494236"/>
              <a:gd name="f46" fmla="*/ f31 1 5461251"/>
              <a:gd name="f47" fmla="*/ f32 1 5494236"/>
              <a:gd name="f48" fmla="*/ f33 1 5494236"/>
              <a:gd name="f49" fmla="*/ f34 1 5461251"/>
              <a:gd name="f50" fmla="*/ f35 1 5494236"/>
              <a:gd name="f51" fmla="*/ f36 1 5461251"/>
              <a:gd name="f52" fmla="*/ f37 1 5494236"/>
              <a:gd name="f53" fmla="*/ f38 1 5461251"/>
              <a:gd name="f54" fmla="*/ f39 1 5461251"/>
              <a:gd name="f55" fmla="*/ f40 1 5494236"/>
              <a:gd name="f56" fmla="*/ f41 1 5461251"/>
              <a:gd name="f57" fmla="*/ f42 1 5494236"/>
              <a:gd name="f58" fmla="*/ f43 1 5461251"/>
              <a:gd name="f59" fmla="*/ f5 1 f28"/>
              <a:gd name="f60" fmla="*/ f6 1 f28"/>
              <a:gd name="f61" fmla="*/ f5 1 f29"/>
              <a:gd name="f62" fmla="*/ f7 1 f29"/>
              <a:gd name="f63" fmla="+- f44 0 f1"/>
              <a:gd name="f64" fmla="*/ f45 1 f28"/>
              <a:gd name="f65" fmla="*/ f46 1 f29"/>
              <a:gd name="f66" fmla="*/ f47 1 f28"/>
              <a:gd name="f67" fmla="*/ f48 1 f28"/>
              <a:gd name="f68" fmla="*/ f49 1 f29"/>
              <a:gd name="f69" fmla="*/ f50 1 f28"/>
              <a:gd name="f70" fmla="*/ f51 1 f29"/>
              <a:gd name="f71" fmla="*/ f52 1 f28"/>
              <a:gd name="f72" fmla="*/ f53 1 f29"/>
              <a:gd name="f73" fmla="*/ f54 1 f29"/>
              <a:gd name="f74" fmla="*/ f55 1 f28"/>
              <a:gd name="f75" fmla="*/ f56 1 f29"/>
              <a:gd name="f76" fmla="*/ f57 1 f28"/>
              <a:gd name="f77" fmla="*/ f58 1 f29"/>
              <a:gd name="f78" fmla="*/ f59 f23 1"/>
              <a:gd name="f79" fmla="*/ f60 f23 1"/>
              <a:gd name="f80" fmla="*/ f62 f24 1"/>
              <a:gd name="f81" fmla="*/ f61 f24 1"/>
              <a:gd name="f82" fmla="*/ f64 f23 1"/>
              <a:gd name="f83" fmla="*/ f65 f24 1"/>
              <a:gd name="f84" fmla="*/ f66 f23 1"/>
              <a:gd name="f85" fmla="*/ f67 f23 1"/>
              <a:gd name="f86" fmla="*/ f68 f24 1"/>
              <a:gd name="f87" fmla="*/ f69 f23 1"/>
              <a:gd name="f88" fmla="*/ f70 f24 1"/>
              <a:gd name="f89" fmla="*/ f71 f23 1"/>
              <a:gd name="f90" fmla="*/ f72 f24 1"/>
              <a:gd name="f91" fmla="*/ f73 f24 1"/>
              <a:gd name="f92" fmla="*/ f74 f23 1"/>
              <a:gd name="f93" fmla="*/ f75 f24 1"/>
              <a:gd name="f94" fmla="*/ f76 f23 1"/>
              <a:gd name="f95" fmla="*/ f77 f2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63">
                <a:pos x="f82" y="f83"/>
              </a:cxn>
              <a:cxn ang="f63">
                <a:pos x="f84" y="f83"/>
              </a:cxn>
              <a:cxn ang="f63">
                <a:pos x="f85" y="f86"/>
              </a:cxn>
              <a:cxn ang="f63">
                <a:pos x="f87" y="f88"/>
              </a:cxn>
              <a:cxn ang="f63">
                <a:pos x="f89" y="f90"/>
              </a:cxn>
              <a:cxn ang="f63">
                <a:pos x="f89" y="f91"/>
              </a:cxn>
              <a:cxn ang="f63">
                <a:pos x="f92" y="f93"/>
              </a:cxn>
              <a:cxn ang="f63">
                <a:pos x="f94" y="f95"/>
              </a:cxn>
            </a:cxnLst>
            <a:rect l="f78" t="f81" r="f79" b="f80"/>
            <a:pathLst>
              <a:path w="5494236" h="5461251">
                <a:moveTo>
                  <a:pt x="f8" y="f5"/>
                </a:moveTo>
                <a:lnTo>
                  <a:pt x="f9" y="f5"/>
                </a:lnTo>
                <a:lnTo>
                  <a:pt x="f6" y="f10"/>
                </a:lnTo>
                <a:cubicBezTo>
                  <a:pt x="f6" y="f11"/>
                  <a:pt x="f12" y="f7"/>
                  <a:pt x="f13" y="f7"/>
                </a:cubicBezTo>
                <a:lnTo>
                  <a:pt x="f5" y="f14"/>
                </a:lnTo>
                <a:lnTo>
                  <a:pt x="f5" y="f15"/>
                </a:lnTo>
                <a:lnTo>
                  <a:pt x="f16" y="f17"/>
                </a:lnTo>
                <a:cubicBezTo>
                  <a:pt x="f18" y="f17"/>
                  <a:pt x="f19" y="f20"/>
                  <a:pt x="f19" y="f21"/>
                </a:cubicBezTo>
                <a:close/>
              </a:path>
            </a:pathLst>
          </a:custGeom>
          <a:solidFill>
            <a:srgbClr val="D3DEF2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443A510F-7F9A-211D-8357-9598408383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5070" y="931901"/>
            <a:ext cx="10475915" cy="2216624"/>
          </a:xfrm>
        </p:spPr>
        <p:txBody>
          <a:bodyPr/>
          <a:lstStyle>
            <a:lvl1pPr>
              <a:lnSpc>
                <a:spcPts val="5200"/>
              </a:lnSpc>
              <a:defRPr sz="4100"/>
            </a:lvl1pPr>
          </a:lstStyle>
          <a:p>
            <a:pPr lvl="0"/>
            <a:r>
              <a:rPr lang="fr-FR"/>
              <a:t>Title of your presentation in few lines (Century Gothic 41 pt)</a:t>
            </a:r>
          </a:p>
        </p:txBody>
      </p:sp>
      <p:sp>
        <p:nvSpPr>
          <p:cNvPr id="7" name="Sous-titre 2">
            <a:extLst>
              <a:ext uri="{FF2B5EF4-FFF2-40B4-BE49-F238E27FC236}">
                <a16:creationId xmlns:a16="http://schemas.microsoft.com/office/drawing/2014/main" id="{518B9E2E-2F18-3209-D82F-54748F7BCA9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235070" y="3805495"/>
            <a:ext cx="10475915" cy="165575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/>
            </a:lvl1pPr>
            <a:lvl2pPr marL="0" lvl="0" indent="0">
              <a:spcBef>
                <a:spcPts val="0"/>
              </a:spcBef>
              <a:buNone/>
              <a:defRPr sz="2400"/>
            </a:lvl2pPr>
          </a:lstStyle>
          <a:p>
            <a:pPr lvl="0"/>
            <a:r>
              <a:rPr lang="fr-FR"/>
              <a:t>Subtitle in one or two lines</a:t>
            </a:r>
          </a:p>
          <a:p>
            <a:pPr lvl="0"/>
            <a:r>
              <a:rPr lang="fr-FR"/>
              <a:t>(Century Gothic 24 pt)</a:t>
            </a:r>
          </a:p>
        </p:txBody>
      </p:sp>
      <p:sp>
        <p:nvSpPr>
          <p:cNvPr id="17" name="Espace réservé du numéro de diapositive 5">
            <a:extLst>
              <a:ext uri="{FF2B5EF4-FFF2-40B4-BE49-F238E27FC236}">
                <a16:creationId xmlns:a16="http://schemas.microsoft.com/office/drawing/2014/main" id="{5BD0FBB7-D0DC-CE60-2F05-4A0BFAC8352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623885" y="6292013"/>
            <a:ext cx="411955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pPr lvl="0"/>
            <a:fld id="{5341EB0D-23C4-4C73-A207-765DDCBDE840}" type="slidenum">
              <a:t>‹#›</a:t>
            </a:fld>
            <a:endParaRPr lang="fr-FR"/>
          </a:p>
        </p:txBody>
      </p:sp>
      <p:sp>
        <p:nvSpPr>
          <p:cNvPr id="24" name="Date Placeholder 21">
            <a:extLst>
              <a:ext uri="{FF2B5EF4-FFF2-40B4-BE49-F238E27FC236}">
                <a16:creationId xmlns:a16="http://schemas.microsoft.com/office/drawing/2014/main" id="{1CE66603-4231-C853-6DC6-F687767898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53351" y="6318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AA67F0-E549-4DAB-8C86-9F189557FA68}" type="datetime1">
              <a:rPr lang="en-GB" smtClean="0"/>
              <a:pPr/>
              <a:t>17/11/2025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7953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E5FDB51C-E3B0-ED0D-7DE4-3F99D42E68F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3769816-012C-4027-9C2F-1A4D7A5F1BD8}" type="slidenum">
              <a:t>‹#›</a:t>
            </a:fld>
            <a:endParaRPr lang="fr-FR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443D7FC5-DD33-9644-8DB7-4DC2001D8C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5070" y="748509"/>
            <a:ext cx="10333040" cy="77866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Title slide in one or two lines</a:t>
            </a:r>
            <a:br>
              <a:rPr lang="fr-FR"/>
            </a:br>
            <a:r>
              <a:rPr lang="fr-FR"/>
              <a:t>(Century Gothic 26 pt)</a:t>
            </a:r>
          </a:p>
        </p:txBody>
      </p: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ECB586B2-A0F6-5892-E159-E04C5ED87D65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1235070" y="1825627"/>
            <a:ext cx="10333040" cy="403776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Level 1 with round bullet point </a:t>
            </a:r>
            <a:br>
              <a:rPr lang="fr-FR"/>
            </a:br>
            <a:r>
              <a:rPr lang="fr-FR"/>
              <a:t>(Century Gothic 20 pt)</a:t>
            </a:r>
          </a:p>
          <a:p>
            <a:pPr lvl="1"/>
            <a:r>
              <a:rPr lang="fr-FR"/>
              <a:t>Level 2 with dash bullet point (Century Gothic 18 pt) </a:t>
            </a:r>
          </a:p>
          <a:p>
            <a:pPr lvl="2"/>
            <a:r>
              <a:rPr lang="fr-FR"/>
              <a:t>Level 3 with roubd bullet point (century Gothic 16 pt)</a:t>
            </a:r>
          </a:p>
          <a:p>
            <a:pPr lvl="3"/>
            <a:r>
              <a:rPr lang="fr-FR"/>
              <a:t>Level 4 with dash bullet point (Century Gothic 14 pt)</a:t>
            </a:r>
          </a:p>
          <a:p>
            <a:pPr lvl="4"/>
            <a:r>
              <a:rPr lang="fr-FR"/>
              <a:t>Body text (Century Gothic 12 pt)</a:t>
            </a:r>
          </a:p>
        </p:txBody>
      </p:sp>
      <p:sp>
        <p:nvSpPr>
          <p:cNvPr id="16" name="Date Placeholder 21">
            <a:extLst>
              <a:ext uri="{FF2B5EF4-FFF2-40B4-BE49-F238E27FC236}">
                <a16:creationId xmlns:a16="http://schemas.microsoft.com/office/drawing/2014/main" id="{A519C860-82B5-E23B-D1E3-FE1271F8F5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53351" y="6318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AA67F0-E549-4DAB-8C86-9F189557FA68}" type="datetime1">
              <a:rPr lang="en-GB" smtClean="0"/>
              <a:pPr/>
              <a:t>17/11/2025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25864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21">
            <a:extLst>
              <a:ext uri="{FF2B5EF4-FFF2-40B4-BE49-F238E27FC236}">
                <a16:creationId xmlns:a16="http://schemas.microsoft.com/office/drawing/2014/main" id="{79531E45-EE3B-CB51-6CE4-C5E761CCE2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53351" y="6318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AA67F0-E549-4DAB-8C86-9F189557FA68}" type="datetime1">
              <a:rPr lang="en-GB" smtClean="0"/>
              <a:pPr/>
              <a:t>17/11/2025</a:t>
            </a:fld>
            <a:endParaRPr lang="en-GB" dirty="0"/>
          </a:p>
        </p:txBody>
      </p:sp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3E816FB8-55AC-A972-5855-C1FFF971A7F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623885" y="6292013"/>
            <a:ext cx="411955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pPr lvl="0"/>
            <a:fld id="{5341EB0D-23C4-4C73-A207-765DDCBDE840}" type="slidenum"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1851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EA56E-3E94-B258-AF12-432F88D96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9B7794-BAF6-2F3C-27BC-15B7A41651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5341EB0D-23C4-4C73-A207-765DDCBDE8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4534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23216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24967" y="1105052"/>
            <a:ext cx="2447925" cy="38900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1" i="0" u="sng">
                <a:solidFill>
                  <a:srgbClr val="4B4D4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07996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b="0" spc="-25" dirty="0">
                <a:solidFill>
                  <a:srgbClr val="A4A4A4"/>
                </a:solidFill>
                <a:latin typeface="Calibri"/>
                <a:cs typeface="Calibri"/>
              </a:rPr>
              <a:t>‹#›</a:t>
            </a:fld>
            <a:endParaRPr b="0" spc="-25" dirty="0">
              <a:solidFill>
                <a:srgbClr val="A4A4A4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5438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23216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07996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b="0" spc="-25" dirty="0">
                <a:solidFill>
                  <a:srgbClr val="A4A4A4"/>
                </a:solidFill>
                <a:latin typeface="Calibri"/>
                <a:cs typeface="Calibri"/>
              </a:rPr>
              <a:t>‹#›</a:t>
            </a:fld>
            <a:endParaRPr b="0" spc="-25" dirty="0">
              <a:solidFill>
                <a:srgbClr val="A4A4A4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98692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re et contenu">
    <p:bg>
      <p:bgPr>
        <a:solidFill>
          <a:srgbClr val="F8FAFD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CFB1E9A4-2814-FF34-A740-D4CE4A339027}"/>
              </a:ext>
            </a:extLst>
          </p:cNvPr>
          <p:cNvSpPr/>
          <p:nvPr/>
        </p:nvSpPr>
        <p:spPr>
          <a:xfrm>
            <a:off x="0" y="6080869"/>
            <a:ext cx="12191996" cy="787398"/>
          </a:xfrm>
          <a:prstGeom prst="rect">
            <a:avLst/>
          </a:prstGeom>
          <a:solidFill>
            <a:srgbClr val="F3F7F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 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D15E30D-7D02-D4E1-A384-66E869751D11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127043" y="0"/>
            <a:ext cx="8064953" cy="6858000"/>
          </a:xfrm>
        </p:spPr>
        <p:txBody>
          <a:bodyPr anchor="ctr" anchorCtr="1"/>
          <a:lstStyle>
            <a:lvl1pPr marL="0" indent="0" algn="ctr">
              <a:buNone/>
              <a:defRPr sz="1300"/>
            </a:lvl1pPr>
          </a:lstStyle>
          <a:p>
            <a:pPr lvl="0"/>
            <a:r>
              <a:rPr lang="fr-FR"/>
              <a:t>Visual</a:t>
            </a:r>
          </a:p>
        </p:txBody>
      </p:sp>
      <p:sp>
        <p:nvSpPr>
          <p:cNvPr id="4" name="Espace réservé du pied de page 4">
            <a:extLst>
              <a:ext uri="{FF2B5EF4-FFF2-40B4-BE49-F238E27FC236}">
                <a16:creationId xmlns:a16="http://schemas.microsoft.com/office/drawing/2014/main" id="{FB4E18F9-59EB-957A-0FAF-E3AC0A740E0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Footer of your presentation</a:t>
            </a:r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A374FEC0-0860-C370-FD47-794E82CF2CA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0FEE4E4-9154-473B-BE02-7AD2CD0DCB0A}" type="slidenum">
              <a:t>‹#›</a:t>
            </a:fld>
            <a:endParaRPr lang="fr-FR"/>
          </a:p>
        </p:txBody>
      </p:sp>
      <p:sp>
        <p:nvSpPr>
          <p:cNvPr id="6" name="ZoneTexte 3">
            <a:extLst>
              <a:ext uri="{FF2B5EF4-FFF2-40B4-BE49-F238E27FC236}">
                <a16:creationId xmlns:a16="http://schemas.microsoft.com/office/drawing/2014/main" id="{29F8F7AA-7D62-ED7D-1E2D-0C1D2A6607B1}"/>
              </a:ext>
            </a:extLst>
          </p:cNvPr>
          <p:cNvSpPr txBox="1"/>
          <p:nvPr/>
        </p:nvSpPr>
        <p:spPr>
          <a:xfrm>
            <a:off x="-2832408" y="3300764"/>
            <a:ext cx="184727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91C361"/>
              </a:solidFill>
              <a:uFillTx/>
              <a:latin typeface="Calibri"/>
            </a:endParaRP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D79EC8EE-B7B2-8620-5038-4D0AA3B606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5070" y="931901"/>
            <a:ext cx="10475915" cy="2216624"/>
          </a:xfrm>
        </p:spPr>
        <p:txBody>
          <a:bodyPr/>
          <a:lstStyle>
            <a:lvl1pPr>
              <a:lnSpc>
                <a:spcPts val="5200"/>
              </a:lnSpc>
              <a:defRPr sz="4100"/>
            </a:lvl1pPr>
          </a:lstStyle>
          <a:p>
            <a:pPr lvl="0"/>
            <a:r>
              <a:rPr lang="fr-FR"/>
              <a:t>Chapter title in few lines </a:t>
            </a:r>
            <a:br>
              <a:rPr lang="fr-FR"/>
            </a:br>
            <a:r>
              <a:rPr lang="fr-FR"/>
              <a:t>(Century Gothic 41 pt)</a:t>
            </a:r>
          </a:p>
        </p:txBody>
      </p:sp>
      <p:sp>
        <p:nvSpPr>
          <p:cNvPr id="8" name="Sous-titre 2">
            <a:extLst>
              <a:ext uri="{FF2B5EF4-FFF2-40B4-BE49-F238E27FC236}">
                <a16:creationId xmlns:a16="http://schemas.microsoft.com/office/drawing/2014/main" id="{575DCF4B-2F80-31B7-08E5-F8EEFE839AE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235070" y="3805495"/>
            <a:ext cx="10475915" cy="165575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/>
            </a:lvl1pPr>
            <a:lvl2pPr marL="0" lvl="0" indent="0">
              <a:spcBef>
                <a:spcPts val="0"/>
              </a:spcBef>
              <a:buNone/>
              <a:defRPr sz="2400"/>
            </a:lvl2pPr>
          </a:lstStyle>
          <a:p>
            <a:pPr lvl="0"/>
            <a:r>
              <a:rPr lang="fr-FR"/>
              <a:t>Subtitle in one or two lines</a:t>
            </a:r>
          </a:p>
          <a:p>
            <a:pPr lvl="0"/>
            <a:r>
              <a:rPr lang="fr-FR"/>
              <a:t>(Century Gothic 24 pt)</a:t>
            </a:r>
          </a:p>
        </p:txBody>
      </p:sp>
      <p:pic>
        <p:nvPicPr>
          <p:cNvPr id="9" name="Image 12">
            <a:extLst>
              <a:ext uri="{FF2B5EF4-FFF2-40B4-BE49-F238E27FC236}">
                <a16:creationId xmlns:a16="http://schemas.microsoft.com/office/drawing/2014/main" id="{E981BCD2-32F2-51A0-7107-91CE915FF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6851" y="6250326"/>
            <a:ext cx="1319259" cy="410401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685353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fr" smtClean="0"/>
              <a:pPr algn="r"/>
              <a:t>‹#›</a:t>
            </a:fld>
            <a:endParaRPr lang="fr"/>
          </a:p>
        </p:txBody>
      </p:sp>
    </p:spTree>
    <p:extLst>
      <p:ext uri="{BB962C8B-B14F-4D97-AF65-F5344CB8AC3E}">
        <p14:creationId xmlns:p14="http://schemas.microsoft.com/office/powerpoint/2010/main" val="885207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5.png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115B016D-5C27-F0AA-F31D-0B76E72FAD48}"/>
              </a:ext>
            </a:extLst>
          </p:cNvPr>
          <p:cNvSpPr/>
          <p:nvPr userDrawn="1"/>
        </p:nvSpPr>
        <p:spPr>
          <a:xfrm>
            <a:off x="1" y="6142162"/>
            <a:ext cx="12192000" cy="717800"/>
          </a:xfrm>
          <a:prstGeom prst="rect">
            <a:avLst/>
          </a:prstGeom>
          <a:solidFill>
            <a:schemeClr val="accent5">
              <a:lumMod val="20000"/>
              <a:lumOff val="80000"/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73F141E-9D19-6507-3BED-E2D6747F94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9467" y="255235"/>
            <a:ext cx="10333040" cy="7786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fr-FR"/>
              <a:t>Title of your presentation</a:t>
            </a:r>
            <a:br>
              <a:rPr lang="fr-FR"/>
            </a:br>
            <a:r>
              <a:rPr lang="fr-FR"/>
              <a:t>in few lines (Century Gothic Bold 32 pt) 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836E62-764C-DF89-B00B-168CADB339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1911" y="1434078"/>
            <a:ext cx="10333040" cy="423941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fr-FR"/>
              <a:t>Level 1 with round bullet point </a:t>
            </a:r>
            <a:br>
              <a:rPr lang="fr-FR"/>
            </a:br>
            <a:r>
              <a:rPr lang="fr-FR"/>
              <a:t>(Century Gothic 20 pt)</a:t>
            </a:r>
          </a:p>
          <a:p>
            <a:pPr lvl="1"/>
            <a:r>
              <a:rPr lang="fr-FR"/>
              <a:t>Level 2 with dash bullet point (Century Gothic 18 pt) </a:t>
            </a:r>
          </a:p>
          <a:p>
            <a:pPr lvl="2"/>
            <a:r>
              <a:rPr lang="fr-FR"/>
              <a:t>Level 3 with roubd bullet point (century Gothic 16 pt)</a:t>
            </a:r>
          </a:p>
          <a:p>
            <a:pPr lvl="3"/>
            <a:r>
              <a:rPr lang="fr-FR"/>
              <a:t>Level 4 with dash bullet point (Century Gothic 14 pt)</a:t>
            </a:r>
          </a:p>
          <a:p>
            <a:pPr lvl="4"/>
            <a:r>
              <a:rPr lang="fr-FR"/>
              <a:t>Body text (Century Gothic 12 pt)</a:t>
            </a:r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64F121FC-AF83-B272-6243-91995BB9345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623885" y="6292013"/>
            <a:ext cx="411955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pPr lvl="0"/>
            <a:fld id="{5341EB0D-23C4-4C73-A207-765DDCBDE840}" type="slidenum">
              <a:t>‹#›</a:t>
            </a:fld>
            <a:endParaRPr lang="fr-FR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1994F2A-D44D-3B16-C2D0-C2335A6AC93C}"/>
              </a:ext>
            </a:extLst>
          </p:cNvPr>
          <p:cNvGrpSpPr/>
          <p:nvPr userDrawn="1"/>
        </p:nvGrpSpPr>
        <p:grpSpPr>
          <a:xfrm>
            <a:off x="1995990" y="6093212"/>
            <a:ext cx="8200020" cy="762729"/>
            <a:chOff x="1995990" y="6217048"/>
            <a:chExt cx="8200020" cy="762729"/>
          </a:xfrm>
        </p:grpSpPr>
        <p:pic>
          <p:nvPicPr>
            <p:cNvPr id="15" name="Picture 14" descr="A picture containing font, line, graphics, design&#10;&#10;Description automatically generated">
              <a:extLst>
                <a:ext uri="{FF2B5EF4-FFF2-40B4-BE49-F238E27FC236}">
                  <a16:creationId xmlns:a16="http://schemas.microsoft.com/office/drawing/2014/main" id="{7463442E-E38C-A833-0613-96797C6C3F6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317460" y="6217048"/>
              <a:ext cx="1123729" cy="762729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16" name="Image 349" descr="Une image contenant capture d’écran, symbole, Graphique, Police&#10;&#10;Description générée automatiquement">
              <a:extLst>
                <a:ext uri="{FF2B5EF4-FFF2-40B4-BE49-F238E27FC236}">
                  <a16:creationId xmlns:a16="http://schemas.microsoft.com/office/drawing/2014/main" id="{865E9357-4D7C-83EB-710A-7C986C5ECCC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61959" y="6339868"/>
              <a:ext cx="917413" cy="517088"/>
            </a:xfrm>
            <a:prstGeom prst="rect">
              <a:avLst/>
            </a:prstGeom>
          </p:spPr>
        </p:pic>
        <p:pic>
          <p:nvPicPr>
            <p:cNvPr id="17" name="Image 358" descr="Une image contenant texte, Police, Graphique, graphisme&#10;&#10;Description générée automatiquement">
              <a:extLst>
                <a:ext uri="{FF2B5EF4-FFF2-40B4-BE49-F238E27FC236}">
                  <a16:creationId xmlns:a16="http://schemas.microsoft.com/office/drawing/2014/main" id="{5B025CF1-0B1B-7A0F-B86F-A0340BFB53A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84396" y="6412280"/>
              <a:ext cx="928040" cy="372264"/>
            </a:xfrm>
            <a:prstGeom prst="rect">
              <a:avLst/>
            </a:prstGeom>
          </p:spPr>
        </p:pic>
        <p:pic>
          <p:nvPicPr>
            <p:cNvPr id="19" name="Picture 18" descr="Blue letters on a black background&#10;&#10;Description automatically generated">
              <a:extLst>
                <a:ext uri="{FF2B5EF4-FFF2-40B4-BE49-F238E27FC236}">
                  <a16:creationId xmlns:a16="http://schemas.microsoft.com/office/drawing/2014/main" id="{266647F6-0AC5-A546-53D0-AAACAE44A7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95990" y="6416907"/>
              <a:ext cx="1660945" cy="363011"/>
            </a:xfrm>
            <a:prstGeom prst="rect">
              <a:avLst/>
            </a:prstGeom>
          </p:spPr>
        </p:pic>
        <p:pic>
          <p:nvPicPr>
            <p:cNvPr id="20" name="Picture 19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200669C5-AB56-D216-CE5F-E5EB49FD74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46214" y="6442336"/>
              <a:ext cx="1149796" cy="312152"/>
            </a:xfrm>
            <a:prstGeom prst="rect">
              <a:avLst/>
            </a:prstGeom>
          </p:spPr>
        </p:pic>
      </p:grp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69184F93-9C28-01E6-FECB-914FA4C9E8AF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9353351" y="6318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AA67F0-E549-4DAB-8C86-9F189557FA68}" type="datetime1">
              <a:rPr lang="en-GB" smtClean="0"/>
              <a:pPr/>
              <a:t>17/11/2025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9" r:id="rId3"/>
    <p:sldLayoutId id="2147483675" r:id="rId4"/>
    <p:sldLayoutId id="2147483676" r:id="rId5"/>
    <p:sldLayoutId id="2147483677" r:id="rId6"/>
    <p:sldLayoutId id="2147483678" r:id="rId7"/>
    <p:sldLayoutId id="2147483680" r:id="rId8"/>
    <p:sldLayoutId id="2147483681" r:id="rId9"/>
  </p:sldLayoutIdLst>
  <p:hf hdr="0" ftr="0"/>
  <p:txStyles>
    <p:titleStyle>
      <a:lvl1pPr marL="0" marR="0" lvl="0" indent="0" algn="l" defTabSz="914400" rtl="0" fontAlgn="auto" hangingPunct="1">
        <a:lnSpc>
          <a:spcPts val="3200"/>
        </a:lnSpc>
        <a:spcBef>
          <a:spcPts val="0"/>
        </a:spcBef>
        <a:spcAft>
          <a:spcPts val="0"/>
        </a:spcAft>
        <a:buNone/>
        <a:tabLst/>
        <a:defRPr lang="fr-FR" sz="2600" b="1" i="0" u="none" strike="noStrike" kern="1200" cap="none" spc="0" baseline="0">
          <a:solidFill>
            <a:srgbClr val="242269"/>
          </a:solidFill>
          <a:uFillTx/>
          <a:latin typeface="Century Gothic" pitchFamily="34"/>
        </a:defRPr>
      </a:lvl1pPr>
    </p:titleStyle>
    <p:bodyStyle>
      <a:lvl1pPr marL="215999" marR="0" lvl="0" indent="-215999" algn="l" defTabSz="914400" rtl="0" fontAlgn="auto" hangingPunct="1">
        <a:lnSpc>
          <a:spcPct val="100000"/>
        </a:lnSpc>
        <a:spcBef>
          <a:spcPts val="600"/>
        </a:spcBef>
        <a:spcAft>
          <a:spcPts val="0"/>
        </a:spcAft>
        <a:buSzPct val="90000"/>
        <a:buFont typeface="Arial" pitchFamily="34"/>
        <a:buChar char="•"/>
        <a:tabLst/>
        <a:defRPr lang="fr-FR" sz="2000" b="0" i="0" u="none" strike="noStrike" kern="1200" cap="none" spc="0" baseline="0">
          <a:solidFill>
            <a:srgbClr val="242269"/>
          </a:solidFill>
          <a:uFillTx/>
          <a:latin typeface="Century Gothic" pitchFamily="34"/>
        </a:defRPr>
      </a:lvl1pPr>
      <a:lvl2pPr marL="395999" marR="0" lvl="1" indent="-179999" algn="l" defTabSz="914400" rtl="0" fontAlgn="auto" hangingPunct="1">
        <a:lnSpc>
          <a:spcPct val="100000"/>
        </a:lnSpc>
        <a:spcBef>
          <a:spcPts val="400"/>
        </a:spcBef>
        <a:spcAft>
          <a:spcPts val="0"/>
        </a:spcAft>
        <a:buSzPct val="120000"/>
        <a:buFont typeface="Police système"/>
        <a:buChar char="-"/>
        <a:tabLst/>
        <a:defRPr lang="fr-FR" sz="1800" b="0" i="0" u="none" strike="noStrike" kern="1200" cap="none" spc="0" baseline="0">
          <a:solidFill>
            <a:srgbClr val="242269"/>
          </a:solidFill>
          <a:uFillTx/>
          <a:latin typeface="Century Gothic" pitchFamily="34"/>
        </a:defRPr>
      </a:lvl2pPr>
      <a:lvl3pPr marL="575998" marR="0" lvl="2" indent="-179999" algn="l" defTabSz="914400" rtl="0" fontAlgn="auto" hangingPunct="1">
        <a:lnSpc>
          <a:spcPts val="2200"/>
        </a:lnSpc>
        <a:spcBef>
          <a:spcPts val="0"/>
        </a:spcBef>
        <a:spcAft>
          <a:spcPts val="0"/>
        </a:spcAft>
        <a:buSzPct val="90000"/>
        <a:buFont typeface="Arial" pitchFamily="34"/>
        <a:buChar char="•"/>
        <a:tabLst/>
        <a:defRPr lang="fr-FR" sz="1600" b="0" i="0" u="none" strike="noStrike" kern="1200" cap="none" spc="0" baseline="0">
          <a:solidFill>
            <a:srgbClr val="242269"/>
          </a:solidFill>
          <a:uFillTx/>
          <a:latin typeface="Century Gothic" pitchFamily="34"/>
        </a:defRPr>
      </a:lvl3pPr>
      <a:lvl4pPr marL="719998" marR="0" lvl="3" indent="-143999" algn="l" defTabSz="914400" rtl="0" fontAlgn="auto" hangingPunct="1">
        <a:lnSpc>
          <a:spcPts val="2000"/>
        </a:lnSpc>
        <a:spcBef>
          <a:spcPts val="0"/>
        </a:spcBef>
        <a:spcAft>
          <a:spcPts val="0"/>
        </a:spcAft>
        <a:buSzPct val="120000"/>
        <a:buFont typeface="Police système"/>
        <a:buChar char="-"/>
        <a:tabLst/>
        <a:defRPr lang="fr-FR" sz="1400" b="0" i="0" u="none" strike="noStrike" kern="1200" cap="none" spc="0" baseline="0">
          <a:solidFill>
            <a:srgbClr val="242269"/>
          </a:solidFill>
          <a:uFillTx/>
          <a:latin typeface="Century Gothic" pitchFamily="34"/>
        </a:defRPr>
      </a:lvl4pPr>
      <a:lvl5pPr marL="719998" marR="0" lvl="4" indent="0" algn="l" defTabSz="914400" rtl="0" fontAlgn="auto" hangingPunct="1">
        <a:lnSpc>
          <a:spcPts val="2000"/>
        </a:lnSpc>
        <a:spcBef>
          <a:spcPts val="0"/>
        </a:spcBef>
        <a:spcAft>
          <a:spcPts val="0"/>
        </a:spcAft>
        <a:buNone/>
        <a:tabLst/>
        <a:defRPr lang="fr-FR" sz="1200" b="0" i="0" u="none" strike="noStrike" kern="1200" cap="none" spc="0" baseline="0">
          <a:solidFill>
            <a:srgbClr val="242269"/>
          </a:solidFill>
          <a:uFillTx/>
          <a:latin typeface="Century Gothic" pitchFamily="34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posts/natalie-rodrigue-7694ba1a_robust-statistics-theory-and-methods-activity-7264949451956314112-PE0u?utm_source=share&amp;utm_medium=member_desktop" TargetMode="Externa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hyperlink" Target="https://mixomics.org/mixdiablo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wgmao/PLIER" TargetMode="External"/><Relationship Id="rId2" Type="http://schemas.openxmlformats.org/officeDocument/2006/relationships/hyperlink" Target="https://www.nature.com/articles/s41592-019-0456-1" TargetMode="Externa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s41467-023-43019-2#Sec9" TargetMode="External"/><Relationship Id="rId2" Type="http://schemas.openxmlformats.org/officeDocument/2006/relationships/hyperlink" Target="https://github.com/bastienchassagnol/RMowgli" TargetMode="Externa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proceedings.mlr.press/v51/rolet16.pdf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vancouver.consulfrance.org/IMG/pdf/guidelines-fcrf-2025_en.pdf?7284/759f994afdd0190449bbc7fdc185f6de834abd45" TargetMode="External"/><Relationship Id="rId2" Type="http://schemas.openxmlformats.org/officeDocument/2006/relationships/hyperlink" Target="https://vancouver.consulfrance.org/Canada-Research-Fund-2025" TargetMode="Externa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vancouver.consulfrance.org/Visiting-Scientist-from-France-2025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google.com/view/ascona2025/committees" TargetMode="External"/><Relationship Id="rId2" Type="http://schemas.openxmlformats.org/officeDocument/2006/relationships/hyperlink" Target="https://github.com/bastienchassagnol/DrosophiliaDeconv" TargetMode="Externa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307F05-9108-EA2C-D8C2-CEE7EF582520}"/>
              </a:ext>
            </a:extLst>
          </p:cNvPr>
          <p:cNvSpPr>
            <a:spLocks noGrp="1"/>
          </p:cNvSpPr>
          <p:nvPr>
            <p:ph type="dt" sz="quarter" idx="7"/>
          </p:nvPr>
        </p:nvSpPr>
        <p:spPr>
          <a:xfrm>
            <a:off x="1235070" y="6184901"/>
            <a:ext cx="2743200" cy="214317"/>
          </a:xfrm>
        </p:spPr>
        <p:txBody>
          <a:bodyPr/>
          <a:lstStyle/>
          <a:p>
            <a:pPr lvl="0"/>
            <a:fld id="{17951DB0-5918-4884-88A4-EE4966C98626}" type="datetime1">
              <a:rPr lang="en-GB" smtClean="0"/>
              <a:pPr lvl="0"/>
              <a:t>17/11/2025</a:t>
            </a:fld>
            <a:endParaRPr lang="fr-FR"/>
          </a:p>
        </p:txBody>
      </p:sp>
      <p:sp>
        <p:nvSpPr>
          <p:cNvPr id="184" name="Google Shape;184;p32"/>
          <p:cNvSpPr txBox="1">
            <a:spLocks noGrp="1"/>
          </p:cNvSpPr>
          <p:nvPr>
            <p:ph type="ctrTitle"/>
          </p:nvPr>
        </p:nvSpPr>
        <p:spPr>
          <a:xfrm>
            <a:off x="1225552" y="969995"/>
            <a:ext cx="10342558" cy="2216624"/>
          </a:xfrm>
        </p:spPr>
        <p:txBody>
          <a:bodyPr spcFirstLastPara="1" vert="horz" wrap="square" lIns="121900" tIns="121900" rIns="121900" bIns="121900" anchor="b" anchorCtr="0" compatLnSpc="1">
            <a:noAutofit/>
          </a:bodyPr>
          <a:lstStyle/>
          <a:p>
            <a:pPr algn="ctr"/>
            <a:r>
              <a:rPr lang="en-GB" dirty="0"/>
              <a:t>Early integration and holistic approaches for enhanced and interpretable deconvolution algorithms</a:t>
            </a:r>
          </a:p>
        </p:txBody>
      </p:sp>
      <p:grpSp>
        <p:nvGrpSpPr>
          <p:cNvPr id="221" name="Google Shape;221;p32"/>
          <p:cNvGrpSpPr/>
          <p:nvPr/>
        </p:nvGrpSpPr>
        <p:grpSpPr>
          <a:xfrm>
            <a:off x="9976729" y="4414160"/>
            <a:ext cx="1899063" cy="1268409"/>
            <a:chOff x="1445825" y="4120775"/>
            <a:chExt cx="882300" cy="589300"/>
          </a:xfrm>
        </p:grpSpPr>
        <p:sp>
          <p:nvSpPr>
            <p:cNvPr id="222" name="Google Shape;222;p32"/>
            <p:cNvSpPr/>
            <p:nvPr/>
          </p:nvSpPr>
          <p:spPr>
            <a:xfrm>
              <a:off x="1671000" y="4208275"/>
              <a:ext cx="326125" cy="290950"/>
            </a:xfrm>
            <a:custGeom>
              <a:avLst/>
              <a:gdLst/>
              <a:ahLst/>
              <a:cxnLst/>
              <a:rect l="l" t="t" r="r" b="b"/>
              <a:pathLst>
                <a:path w="13045" h="11638" extrusionOk="0">
                  <a:moveTo>
                    <a:pt x="8513" y="0"/>
                  </a:moveTo>
                  <a:cubicBezTo>
                    <a:pt x="8289" y="0"/>
                    <a:pt x="8069" y="34"/>
                    <a:pt x="8069" y="34"/>
                  </a:cubicBezTo>
                  <a:cubicBezTo>
                    <a:pt x="8069" y="34"/>
                    <a:pt x="7704" y="241"/>
                    <a:pt x="7159" y="551"/>
                  </a:cubicBezTo>
                  <a:cubicBezTo>
                    <a:pt x="5563" y="1459"/>
                    <a:pt x="2407" y="3259"/>
                    <a:pt x="2204" y="3399"/>
                  </a:cubicBezTo>
                  <a:cubicBezTo>
                    <a:pt x="1931" y="3588"/>
                    <a:pt x="1314" y="4114"/>
                    <a:pt x="957" y="4548"/>
                  </a:cubicBezTo>
                  <a:cubicBezTo>
                    <a:pt x="599" y="4980"/>
                    <a:pt x="346" y="5602"/>
                    <a:pt x="256" y="5842"/>
                  </a:cubicBezTo>
                  <a:cubicBezTo>
                    <a:pt x="166" y="6082"/>
                    <a:pt x="58" y="6609"/>
                    <a:pt x="29" y="6817"/>
                  </a:cubicBezTo>
                  <a:cubicBezTo>
                    <a:pt x="1" y="7024"/>
                    <a:pt x="5" y="7217"/>
                    <a:pt x="29" y="7438"/>
                  </a:cubicBezTo>
                  <a:cubicBezTo>
                    <a:pt x="53" y="7659"/>
                    <a:pt x="110" y="8064"/>
                    <a:pt x="151" y="8248"/>
                  </a:cubicBezTo>
                  <a:cubicBezTo>
                    <a:pt x="194" y="8431"/>
                    <a:pt x="331" y="8883"/>
                    <a:pt x="490" y="9208"/>
                  </a:cubicBezTo>
                  <a:cubicBezTo>
                    <a:pt x="650" y="9532"/>
                    <a:pt x="1046" y="10022"/>
                    <a:pt x="1244" y="10234"/>
                  </a:cubicBezTo>
                  <a:cubicBezTo>
                    <a:pt x="1442" y="10446"/>
                    <a:pt x="1667" y="10657"/>
                    <a:pt x="2058" y="10963"/>
                  </a:cubicBezTo>
                  <a:cubicBezTo>
                    <a:pt x="2449" y="11269"/>
                    <a:pt x="3503" y="11532"/>
                    <a:pt x="4096" y="11618"/>
                  </a:cubicBezTo>
                  <a:cubicBezTo>
                    <a:pt x="4194" y="11632"/>
                    <a:pt x="4297" y="11638"/>
                    <a:pt x="4402" y="11638"/>
                  </a:cubicBezTo>
                  <a:cubicBezTo>
                    <a:pt x="4934" y="11638"/>
                    <a:pt x="5513" y="11482"/>
                    <a:pt x="5678" y="11429"/>
                  </a:cubicBezTo>
                  <a:cubicBezTo>
                    <a:pt x="5875" y="11366"/>
                    <a:pt x="6581" y="11084"/>
                    <a:pt x="6581" y="11084"/>
                  </a:cubicBezTo>
                  <a:lnTo>
                    <a:pt x="11406" y="8314"/>
                  </a:lnTo>
                  <a:cubicBezTo>
                    <a:pt x="11406" y="8314"/>
                    <a:pt x="11495" y="8260"/>
                    <a:pt x="11606" y="8194"/>
                  </a:cubicBezTo>
                  <a:cubicBezTo>
                    <a:pt x="11766" y="8097"/>
                    <a:pt x="11970" y="7973"/>
                    <a:pt x="12023" y="7937"/>
                  </a:cubicBezTo>
                  <a:cubicBezTo>
                    <a:pt x="12113" y="7876"/>
                    <a:pt x="12493" y="7569"/>
                    <a:pt x="12560" y="7504"/>
                  </a:cubicBezTo>
                  <a:cubicBezTo>
                    <a:pt x="12625" y="7438"/>
                    <a:pt x="12828" y="6977"/>
                    <a:pt x="12884" y="6820"/>
                  </a:cubicBezTo>
                  <a:cubicBezTo>
                    <a:pt x="12941" y="6666"/>
                    <a:pt x="13026" y="6054"/>
                    <a:pt x="13035" y="5875"/>
                  </a:cubicBezTo>
                  <a:cubicBezTo>
                    <a:pt x="13045" y="5696"/>
                    <a:pt x="12950" y="5070"/>
                    <a:pt x="12903" y="4840"/>
                  </a:cubicBezTo>
                  <a:cubicBezTo>
                    <a:pt x="12855" y="4608"/>
                    <a:pt x="12658" y="3968"/>
                    <a:pt x="12574" y="3734"/>
                  </a:cubicBezTo>
                  <a:cubicBezTo>
                    <a:pt x="12546" y="3657"/>
                    <a:pt x="12491" y="3539"/>
                    <a:pt x="12425" y="3409"/>
                  </a:cubicBezTo>
                  <a:lnTo>
                    <a:pt x="6220" y="6910"/>
                  </a:lnTo>
                  <a:cubicBezTo>
                    <a:pt x="6102" y="6977"/>
                    <a:pt x="5973" y="7008"/>
                    <a:pt x="5847" y="7008"/>
                  </a:cubicBezTo>
                  <a:cubicBezTo>
                    <a:pt x="5575" y="7008"/>
                    <a:pt x="5312" y="6864"/>
                    <a:pt x="5171" y="6609"/>
                  </a:cubicBezTo>
                  <a:cubicBezTo>
                    <a:pt x="4964" y="6237"/>
                    <a:pt x="5099" y="5767"/>
                    <a:pt x="5472" y="5561"/>
                  </a:cubicBezTo>
                  <a:lnTo>
                    <a:pt x="11624" y="2089"/>
                  </a:lnTo>
                  <a:cubicBezTo>
                    <a:pt x="11468" y="1868"/>
                    <a:pt x="11320" y="1664"/>
                    <a:pt x="11284" y="1616"/>
                  </a:cubicBezTo>
                  <a:cubicBezTo>
                    <a:pt x="11213" y="1517"/>
                    <a:pt x="10578" y="923"/>
                    <a:pt x="10507" y="852"/>
                  </a:cubicBezTo>
                  <a:cubicBezTo>
                    <a:pt x="10436" y="783"/>
                    <a:pt x="9792" y="345"/>
                    <a:pt x="9632" y="283"/>
                  </a:cubicBezTo>
                  <a:cubicBezTo>
                    <a:pt x="9472" y="222"/>
                    <a:pt x="9090" y="110"/>
                    <a:pt x="8827" y="34"/>
                  </a:cubicBezTo>
                  <a:cubicBezTo>
                    <a:pt x="8739" y="8"/>
                    <a:pt x="8626" y="0"/>
                    <a:pt x="851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3" name="Google Shape;223;p32"/>
            <p:cNvSpPr/>
            <p:nvPr/>
          </p:nvSpPr>
          <p:spPr>
            <a:xfrm>
              <a:off x="1868200" y="4120775"/>
              <a:ext cx="297125" cy="287275"/>
            </a:xfrm>
            <a:custGeom>
              <a:avLst/>
              <a:gdLst/>
              <a:ahLst/>
              <a:cxnLst/>
              <a:rect l="l" t="t" r="r" b="b"/>
              <a:pathLst>
                <a:path w="11885" h="11491" extrusionOk="0">
                  <a:moveTo>
                    <a:pt x="7339" y="1"/>
                  </a:moveTo>
                  <a:cubicBezTo>
                    <a:pt x="6790" y="1"/>
                    <a:pt x="6191" y="161"/>
                    <a:pt x="6020" y="215"/>
                  </a:cubicBezTo>
                  <a:cubicBezTo>
                    <a:pt x="5816" y="282"/>
                    <a:pt x="5087" y="574"/>
                    <a:pt x="5087" y="574"/>
                  </a:cubicBezTo>
                  <a:lnTo>
                    <a:pt x="0" y="3344"/>
                  </a:lnTo>
                  <a:cubicBezTo>
                    <a:pt x="116" y="3289"/>
                    <a:pt x="232" y="3246"/>
                    <a:pt x="317" y="3228"/>
                  </a:cubicBezTo>
                  <a:cubicBezTo>
                    <a:pt x="398" y="3212"/>
                    <a:pt x="510" y="3206"/>
                    <a:pt x="626" y="3206"/>
                  </a:cubicBezTo>
                  <a:cubicBezTo>
                    <a:pt x="789" y="3206"/>
                    <a:pt x="959" y="3218"/>
                    <a:pt x="1058" y="3228"/>
                  </a:cubicBezTo>
                  <a:cubicBezTo>
                    <a:pt x="1228" y="3246"/>
                    <a:pt x="1838" y="3450"/>
                    <a:pt x="1945" y="3503"/>
                  </a:cubicBezTo>
                  <a:cubicBezTo>
                    <a:pt x="2051" y="3556"/>
                    <a:pt x="2782" y="4037"/>
                    <a:pt x="2841" y="4093"/>
                  </a:cubicBezTo>
                  <a:cubicBezTo>
                    <a:pt x="2902" y="4149"/>
                    <a:pt x="3622" y="4820"/>
                    <a:pt x="3713" y="4947"/>
                  </a:cubicBezTo>
                  <a:cubicBezTo>
                    <a:pt x="3756" y="5007"/>
                    <a:pt x="3900" y="5202"/>
                    <a:pt x="4051" y="5411"/>
                  </a:cubicBezTo>
                  <a:lnTo>
                    <a:pt x="8260" y="3035"/>
                  </a:lnTo>
                  <a:cubicBezTo>
                    <a:pt x="8379" y="2969"/>
                    <a:pt x="8507" y="2938"/>
                    <a:pt x="8634" y="2938"/>
                  </a:cubicBezTo>
                  <a:cubicBezTo>
                    <a:pt x="8905" y="2938"/>
                    <a:pt x="9168" y="3082"/>
                    <a:pt x="9309" y="3336"/>
                  </a:cubicBezTo>
                  <a:cubicBezTo>
                    <a:pt x="9516" y="3709"/>
                    <a:pt x="9381" y="4178"/>
                    <a:pt x="9008" y="4386"/>
                  </a:cubicBezTo>
                  <a:lnTo>
                    <a:pt x="4857" y="6728"/>
                  </a:lnTo>
                  <a:cubicBezTo>
                    <a:pt x="4940" y="6889"/>
                    <a:pt x="5010" y="7036"/>
                    <a:pt x="5038" y="7126"/>
                  </a:cubicBezTo>
                  <a:cubicBezTo>
                    <a:pt x="5115" y="7376"/>
                    <a:pt x="5327" y="7976"/>
                    <a:pt x="5377" y="8259"/>
                  </a:cubicBezTo>
                  <a:cubicBezTo>
                    <a:pt x="5426" y="8541"/>
                    <a:pt x="5517" y="9198"/>
                    <a:pt x="5497" y="9403"/>
                  </a:cubicBezTo>
                  <a:cubicBezTo>
                    <a:pt x="5476" y="9607"/>
                    <a:pt x="5440" y="10069"/>
                    <a:pt x="5372" y="10327"/>
                  </a:cubicBezTo>
                  <a:cubicBezTo>
                    <a:pt x="5306" y="10585"/>
                    <a:pt x="5122" y="10920"/>
                    <a:pt x="5013" y="11083"/>
                  </a:cubicBezTo>
                  <a:cubicBezTo>
                    <a:pt x="4923" y="11214"/>
                    <a:pt x="4721" y="11391"/>
                    <a:pt x="4571" y="11491"/>
                  </a:cubicBezTo>
                  <a:cubicBezTo>
                    <a:pt x="5244" y="11095"/>
                    <a:pt x="9351" y="8689"/>
                    <a:pt x="9608" y="8511"/>
                  </a:cubicBezTo>
                  <a:cubicBezTo>
                    <a:pt x="9891" y="8316"/>
                    <a:pt x="10528" y="7771"/>
                    <a:pt x="10898" y="7323"/>
                  </a:cubicBezTo>
                  <a:cubicBezTo>
                    <a:pt x="11266" y="6876"/>
                    <a:pt x="11529" y="6235"/>
                    <a:pt x="11622" y="5987"/>
                  </a:cubicBezTo>
                  <a:cubicBezTo>
                    <a:pt x="11713" y="5740"/>
                    <a:pt x="11827" y="5194"/>
                    <a:pt x="11855" y="4981"/>
                  </a:cubicBezTo>
                  <a:cubicBezTo>
                    <a:pt x="11884" y="4767"/>
                    <a:pt x="11880" y="4568"/>
                    <a:pt x="11855" y="4339"/>
                  </a:cubicBezTo>
                  <a:cubicBezTo>
                    <a:pt x="11830" y="4111"/>
                    <a:pt x="11773" y="3692"/>
                    <a:pt x="11728" y="3502"/>
                  </a:cubicBezTo>
                  <a:cubicBezTo>
                    <a:pt x="11684" y="3312"/>
                    <a:pt x="11544" y="2846"/>
                    <a:pt x="11379" y="2511"/>
                  </a:cubicBezTo>
                  <a:cubicBezTo>
                    <a:pt x="11214" y="2175"/>
                    <a:pt x="10805" y="1670"/>
                    <a:pt x="10601" y="1451"/>
                  </a:cubicBezTo>
                  <a:cubicBezTo>
                    <a:pt x="10396" y="1232"/>
                    <a:pt x="10164" y="1013"/>
                    <a:pt x="9760" y="697"/>
                  </a:cubicBezTo>
                  <a:cubicBezTo>
                    <a:pt x="9355" y="380"/>
                    <a:pt x="8267" y="109"/>
                    <a:pt x="7654" y="21"/>
                  </a:cubicBezTo>
                  <a:cubicBezTo>
                    <a:pt x="7553" y="7"/>
                    <a:pt x="7447" y="1"/>
                    <a:pt x="73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4" name="Google Shape;224;p32"/>
            <p:cNvSpPr/>
            <p:nvPr/>
          </p:nvSpPr>
          <p:spPr>
            <a:xfrm>
              <a:off x="1961600" y="4256050"/>
              <a:ext cx="28025" cy="37475"/>
            </a:xfrm>
            <a:custGeom>
              <a:avLst/>
              <a:gdLst/>
              <a:ahLst/>
              <a:cxnLst/>
              <a:rect l="l" t="t" r="r" b="b"/>
              <a:pathLst>
                <a:path w="1121" h="1499" extrusionOk="0">
                  <a:moveTo>
                    <a:pt x="316" y="0"/>
                  </a:moveTo>
                  <a:lnTo>
                    <a:pt x="0" y="178"/>
                  </a:lnTo>
                  <a:cubicBezTo>
                    <a:pt x="156" y="396"/>
                    <a:pt x="321" y="631"/>
                    <a:pt x="390" y="745"/>
                  </a:cubicBezTo>
                  <a:cubicBezTo>
                    <a:pt x="482" y="897"/>
                    <a:pt x="665" y="1226"/>
                    <a:pt x="801" y="1498"/>
                  </a:cubicBezTo>
                  <a:lnTo>
                    <a:pt x="1121" y="1317"/>
                  </a:lnTo>
                  <a:cubicBezTo>
                    <a:pt x="972" y="1029"/>
                    <a:pt x="779" y="696"/>
                    <a:pt x="719" y="585"/>
                  </a:cubicBezTo>
                  <a:cubicBezTo>
                    <a:pt x="667" y="492"/>
                    <a:pt x="488" y="238"/>
                    <a:pt x="316" y="0"/>
                  </a:cubicBezTo>
                  <a:close/>
                </a:path>
              </a:pathLst>
            </a:custGeom>
            <a:solidFill>
              <a:srgbClr val="FFE28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5" name="Google Shape;225;p32"/>
            <p:cNvSpPr/>
            <p:nvPr/>
          </p:nvSpPr>
          <p:spPr>
            <a:xfrm>
              <a:off x="1795100" y="4260475"/>
              <a:ext cx="186525" cy="123000"/>
            </a:xfrm>
            <a:custGeom>
              <a:avLst/>
              <a:gdLst/>
              <a:ahLst/>
              <a:cxnLst/>
              <a:rect l="l" t="t" r="r" b="b"/>
              <a:pathLst>
                <a:path w="7461" h="4920" extrusionOk="0">
                  <a:moveTo>
                    <a:pt x="6660" y="1"/>
                  </a:moveTo>
                  <a:lnTo>
                    <a:pt x="508" y="3473"/>
                  </a:lnTo>
                  <a:cubicBezTo>
                    <a:pt x="135" y="3679"/>
                    <a:pt x="0" y="4149"/>
                    <a:pt x="207" y="4521"/>
                  </a:cubicBezTo>
                  <a:cubicBezTo>
                    <a:pt x="348" y="4776"/>
                    <a:pt x="611" y="4920"/>
                    <a:pt x="883" y="4920"/>
                  </a:cubicBezTo>
                  <a:cubicBezTo>
                    <a:pt x="1009" y="4920"/>
                    <a:pt x="1138" y="4889"/>
                    <a:pt x="1256" y="4822"/>
                  </a:cubicBezTo>
                  <a:lnTo>
                    <a:pt x="7461" y="1321"/>
                  </a:lnTo>
                  <a:cubicBezTo>
                    <a:pt x="7325" y="1049"/>
                    <a:pt x="7142" y="720"/>
                    <a:pt x="7050" y="568"/>
                  </a:cubicBezTo>
                  <a:cubicBezTo>
                    <a:pt x="6981" y="454"/>
                    <a:pt x="6816" y="219"/>
                    <a:pt x="66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6" name="Google Shape;226;p32"/>
            <p:cNvSpPr/>
            <p:nvPr/>
          </p:nvSpPr>
          <p:spPr>
            <a:xfrm>
              <a:off x="1969475" y="4194225"/>
              <a:ext cx="136625" cy="94775"/>
            </a:xfrm>
            <a:custGeom>
              <a:avLst/>
              <a:gdLst/>
              <a:ahLst/>
              <a:cxnLst/>
              <a:rect l="l" t="t" r="r" b="b"/>
              <a:pathLst>
                <a:path w="5465" h="3791" extrusionOk="0">
                  <a:moveTo>
                    <a:pt x="4583" y="0"/>
                  </a:moveTo>
                  <a:cubicBezTo>
                    <a:pt x="4456" y="0"/>
                    <a:pt x="4328" y="31"/>
                    <a:pt x="4209" y="97"/>
                  </a:cubicBezTo>
                  <a:lnTo>
                    <a:pt x="1" y="2473"/>
                  </a:lnTo>
                  <a:cubicBezTo>
                    <a:pt x="173" y="2710"/>
                    <a:pt x="352" y="2965"/>
                    <a:pt x="404" y="3058"/>
                  </a:cubicBezTo>
                  <a:cubicBezTo>
                    <a:pt x="464" y="3169"/>
                    <a:pt x="657" y="3501"/>
                    <a:pt x="806" y="3790"/>
                  </a:cubicBezTo>
                  <a:lnTo>
                    <a:pt x="4957" y="1448"/>
                  </a:lnTo>
                  <a:cubicBezTo>
                    <a:pt x="5330" y="1240"/>
                    <a:pt x="5465" y="771"/>
                    <a:pt x="5258" y="398"/>
                  </a:cubicBezTo>
                  <a:cubicBezTo>
                    <a:pt x="5117" y="144"/>
                    <a:pt x="4854" y="0"/>
                    <a:pt x="45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7" name="Google Shape;227;p32"/>
            <p:cNvSpPr/>
            <p:nvPr/>
          </p:nvSpPr>
          <p:spPr>
            <a:xfrm>
              <a:off x="1849975" y="4200900"/>
              <a:ext cx="156175" cy="213100"/>
            </a:xfrm>
            <a:custGeom>
              <a:avLst/>
              <a:gdLst/>
              <a:ahLst/>
              <a:cxnLst/>
              <a:rect l="l" t="t" r="r" b="b"/>
              <a:pathLst>
                <a:path w="6247" h="8524" extrusionOk="0">
                  <a:moveTo>
                    <a:pt x="1355" y="1"/>
                  </a:moveTo>
                  <a:cubicBezTo>
                    <a:pt x="1239" y="1"/>
                    <a:pt x="1127" y="7"/>
                    <a:pt x="1046" y="23"/>
                  </a:cubicBezTo>
                  <a:cubicBezTo>
                    <a:pt x="961" y="41"/>
                    <a:pt x="845" y="84"/>
                    <a:pt x="729" y="139"/>
                  </a:cubicBezTo>
                  <a:cubicBezTo>
                    <a:pt x="646" y="178"/>
                    <a:pt x="563" y="224"/>
                    <a:pt x="491" y="269"/>
                  </a:cubicBezTo>
                  <a:lnTo>
                    <a:pt x="490" y="269"/>
                  </a:lnTo>
                  <a:cubicBezTo>
                    <a:pt x="437" y="302"/>
                    <a:pt x="391" y="334"/>
                    <a:pt x="354" y="366"/>
                  </a:cubicBezTo>
                  <a:cubicBezTo>
                    <a:pt x="245" y="458"/>
                    <a:pt x="86" y="706"/>
                    <a:pt x="0" y="846"/>
                  </a:cubicBezTo>
                  <a:cubicBezTo>
                    <a:pt x="545" y="535"/>
                    <a:pt x="910" y="329"/>
                    <a:pt x="910" y="329"/>
                  </a:cubicBezTo>
                  <a:cubicBezTo>
                    <a:pt x="910" y="329"/>
                    <a:pt x="1130" y="295"/>
                    <a:pt x="1354" y="295"/>
                  </a:cubicBezTo>
                  <a:cubicBezTo>
                    <a:pt x="1467" y="295"/>
                    <a:pt x="1580" y="303"/>
                    <a:pt x="1668" y="329"/>
                  </a:cubicBezTo>
                  <a:cubicBezTo>
                    <a:pt x="1931" y="405"/>
                    <a:pt x="2313" y="517"/>
                    <a:pt x="2473" y="578"/>
                  </a:cubicBezTo>
                  <a:cubicBezTo>
                    <a:pt x="2633" y="640"/>
                    <a:pt x="3277" y="1078"/>
                    <a:pt x="3348" y="1147"/>
                  </a:cubicBezTo>
                  <a:cubicBezTo>
                    <a:pt x="3419" y="1218"/>
                    <a:pt x="4054" y="1812"/>
                    <a:pt x="4125" y="1911"/>
                  </a:cubicBezTo>
                  <a:cubicBezTo>
                    <a:pt x="4196" y="2008"/>
                    <a:pt x="4718" y="2724"/>
                    <a:pt x="4855" y="2951"/>
                  </a:cubicBezTo>
                  <a:cubicBezTo>
                    <a:pt x="4992" y="3176"/>
                    <a:pt x="5330" y="3793"/>
                    <a:pt x="5415" y="4029"/>
                  </a:cubicBezTo>
                  <a:cubicBezTo>
                    <a:pt x="5499" y="4263"/>
                    <a:pt x="5696" y="4903"/>
                    <a:pt x="5744" y="5135"/>
                  </a:cubicBezTo>
                  <a:cubicBezTo>
                    <a:pt x="5791" y="5365"/>
                    <a:pt x="5886" y="5991"/>
                    <a:pt x="5876" y="6170"/>
                  </a:cubicBezTo>
                  <a:cubicBezTo>
                    <a:pt x="5867" y="6349"/>
                    <a:pt x="5781" y="6961"/>
                    <a:pt x="5725" y="7115"/>
                  </a:cubicBezTo>
                  <a:cubicBezTo>
                    <a:pt x="5669" y="7272"/>
                    <a:pt x="5466" y="7733"/>
                    <a:pt x="5401" y="7799"/>
                  </a:cubicBezTo>
                  <a:cubicBezTo>
                    <a:pt x="5334" y="7864"/>
                    <a:pt x="4954" y="8171"/>
                    <a:pt x="4864" y="8232"/>
                  </a:cubicBezTo>
                  <a:cubicBezTo>
                    <a:pt x="4811" y="8268"/>
                    <a:pt x="4607" y="8392"/>
                    <a:pt x="4447" y="8489"/>
                  </a:cubicBezTo>
                  <a:cubicBezTo>
                    <a:pt x="4494" y="8511"/>
                    <a:pt x="4525" y="8524"/>
                    <a:pt x="4531" y="8524"/>
                  </a:cubicBezTo>
                  <a:cubicBezTo>
                    <a:pt x="4532" y="8524"/>
                    <a:pt x="4532" y="8524"/>
                    <a:pt x="4533" y="8524"/>
                  </a:cubicBezTo>
                  <a:cubicBezTo>
                    <a:pt x="4620" y="8524"/>
                    <a:pt x="5061" y="8411"/>
                    <a:pt x="5205" y="8341"/>
                  </a:cubicBezTo>
                  <a:lnTo>
                    <a:pt x="5300" y="8286"/>
                  </a:lnTo>
                  <a:cubicBezTo>
                    <a:pt x="5450" y="8186"/>
                    <a:pt x="5652" y="8009"/>
                    <a:pt x="5742" y="7878"/>
                  </a:cubicBezTo>
                  <a:cubicBezTo>
                    <a:pt x="5851" y="7715"/>
                    <a:pt x="6035" y="7380"/>
                    <a:pt x="6101" y="7122"/>
                  </a:cubicBezTo>
                  <a:cubicBezTo>
                    <a:pt x="6169" y="6864"/>
                    <a:pt x="6205" y="6402"/>
                    <a:pt x="6226" y="6198"/>
                  </a:cubicBezTo>
                  <a:cubicBezTo>
                    <a:pt x="6246" y="5993"/>
                    <a:pt x="6155" y="5336"/>
                    <a:pt x="6106" y="5054"/>
                  </a:cubicBezTo>
                  <a:cubicBezTo>
                    <a:pt x="6056" y="4771"/>
                    <a:pt x="5844" y="4171"/>
                    <a:pt x="5767" y="3921"/>
                  </a:cubicBezTo>
                  <a:cubicBezTo>
                    <a:pt x="5689" y="3670"/>
                    <a:pt x="5279" y="2964"/>
                    <a:pt x="5184" y="2791"/>
                  </a:cubicBezTo>
                  <a:cubicBezTo>
                    <a:pt x="5088" y="2618"/>
                    <a:pt x="4534" y="1869"/>
                    <a:pt x="4442" y="1742"/>
                  </a:cubicBezTo>
                  <a:cubicBezTo>
                    <a:pt x="4351" y="1615"/>
                    <a:pt x="3631" y="944"/>
                    <a:pt x="3570" y="888"/>
                  </a:cubicBezTo>
                  <a:cubicBezTo>
                    <a:pt x="3511" y="832"/>
                    <a:pt x="2780" y="351"/>
                    <a:pt x="2674" y="298"/>
                  </a:cubicBezTo>
                  <a:cubicBezTo>
                    <a:pt x="2567" y="245"/>
                    <a:pt x="1957" y="41"/>
                    <a:pt x="1787" y="23"/>
                  </a:cubicBezTo>
                  <a:cubicBezTo>
                    <a:pt x="1688" y="13"/>
                    <a:pt x="1518" y="1"/>
                    <a:pt x="13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8" name="Google Shape;228;p32"/>
            <p:cNvSpPr/>
            <p:nvPr/>
          </p:nvSpPr>
          <p:spPr>
            <a:xfrm>
              <a:off x="1833825" y="4321100"/>
              <a:ext cx="326125" cy="290950"/>
            </a:xfrm>
            <a:custGeom>
              <a:avLst/>
              <a:gdLst/>
              <a:ahLst/>
              <a:cxnLst/>
              <a:rect l="l" t="t" r="r" b="b"/>
              <a:pathLst>
                <a:path w="13045" h="11638" extrusionOk="0">
                  <a:moveTo>
                    <a:pt x="8513" y="0"/>
                  </a:moveTo>
                  <a:cubicBezTo>
                    <a:pt x="8289" y="0"/>
                    <a:pt x="8069" y="34"/>
                    <a:pt x="8069" y="34"/>
                  </a:cubicBezTo>
                  <a:cubicBezTo>
                    <a:pt x="8069" y="34"/>
                    <a:pt x="7704" y="240"/>
                    <a:pt x="7159" y="550"/>
                  </a:cubicBezTo>
                  <a:cubicBezTo>
                    <a:pt x="5564" y="1460"/>
                    <a:pt x="2407" y="3259"/>
                    <a:pt x="2204" y="3399"/>
                  </a:cubicBezTo>
                  <a:cubicBezTo>
                    <a:pt x="1931" y="3586"/>
                    <a:pt x="1315" y="4114"/>
                    <a:pt x="956" y="4547"/>
                  </a:cubicBezTo>
                  <a:cubicBezTo>
                    <a:pt x="599" y="4980"/>
                    <a:pt x="344" y="5602"/>
                    <a:pt x="256" y="5841"/>
                  </a:cubicBezTo>
                  <a:cubicBezTo>
                    <a:pt x="166" y="6082"/>
                    <a:pt x="58" y="6609"/>
                    <a:pt x="29" y="6816"/>
                  </a:cubicBezTo>
                  <a:cubicBezTo>
                    <a:pt x="1" y="7023"/>
                    <a:pt x="5" y="7217"/>
                    <a:pt x="29" y="7438"/>
                  </a:cubicBezTo>
                  <a:cubicBezTo>
                    <a:pt x="52" y="7659"/>
                    <a:pt x="110" y="8064"/>
                    <a:pt x="151" y="8248"/>
                  </a:cubicBezTo>
                  <a:cubicBezTo>
                    <a:pt x="194" y="8431"/>
                    <a:pt x="330" y="8882"/>
                    <a:pt x="490" y="9208"/>
                  </a:cubicBezTo>
                  <a:cubicBezTo>
                    <a:pt x="650" y="9532"/>
                    <a:pt x="1046" y="10022"/>
                    <a:pt x="1244" y="10233"/>
                  </a:cubicBezTo>
                  <a:cubicBezTo>
                    <a:pt x="1442" y="10445"/>
                    <a:pt x="1667" y="10657"/>
                    <a:pt x="2058" y="10963"/>
                  </a:cubicBezTo>
                  <a:cubicBezTo>
                    <a:pt x="2449" y="11269"/>
                    <a:pt x="3502" y="11532"/>
                    <a:pt x="4096" y="11618"/>
                  </a:cubicBezTo>
                  <a:cubicBezTo>
                    <a:pt x="4193" y="11631"/>
                    <a:pt x="4295" y="11637"/>
                    <a:pt x="4399" y="11637"/>
                  </a:cubicBezTo>
                  <a:cubicBezTo>
                    <a:pt x="4931" y="11637"/>
                    <a:pt x="5513" y="11482"/>
                    <a:pt x="5678" y="11429"/>
                  </a:cubicBezTo>
                  <a:cubicBezTo>
                    <a:pt x="5876" y="11366"/>
                    <a:pt x="6581" y="11083"/>
                    <a:pt x="6581" y="11083"/>
                  </a:cubicBezTo>
                  <a:lnTo>
                    <a:pt x="11406" y="8313"/>
                  </a:lnTo>
                  <a:cubicBezTo>
                    <a:pt x="11406" y="8313"/>
                    <a:pt x="11495" y="8260"/>
                    <a:pt x="11606" y="8193"/>
                  </a:cubicBezTo>
                  <a:cubicBezTo>
                    <a:pt x="11764" y="8097"/>
                    <a:pt x="11970" y="7973"/>
                    <a:pt x="12023" y="7937"/>
                  </a:cubicBezTo>
                  <a:cubicBezTo>
                    <a:pt x="12111" y="7875"/>
                    <a:pt x="12493" y="7569"/>
                    <a:pt x="12559" y="7503"/>
                  </a:cubicBezTo>
                  <a:cubicBezTo>
                    <a:pt x="12625" y="7438"/>
                    <a:pt x="12828" y="6975"/>
                    <a:pt x="12884" y="6822"/>
                  </a:cubicBezTo>
                  <a:cubicBezTo>
                    <a:pt x="12941" y="6666"/>
                    <a:pt x="13026" y="6054"/>
                    <a:pt x="13036" y="5875"/>
                  </a:cubicBezTo>
                  <a:cubicBezTo>
                    <a:pt x="13045" y="5695"/>
                    <a:pt x="12950" y="5070"/>
                    <a:pt x="12902" y="4839"/>
                  </a:cubicBezTo>
                  <a:cubicBezTo>
                    <a:pt x="12856" y="4608"/>
                    <a:pt x="12658" y="3968"/>
                    <a:pt x="12574" y="3734"/>
                  </a:cubicBezTo>
                  <a:cubicBezTo>
                    <a:pt x="12546" y="3657"/>
                    <a:pt x="12491" y="3538"/>
                    <a:pt x="12426" y="3408"/>
                  </a:cubicBezTo>
                  <a:lnTo>
                    <a:pt x="6220" y="6910"/>
                  </a:lnTo>
                  <a:cubicBezTo>
                    <a:pt x="6102" y="6975"/>
                    <a:pt x="5972" y="7007"/>
                    <a:pt x="5847" y="7007"/>
                  </a:cubicBezTo>
                  <a:cubicBezTo>
                    <a:pt x="5575" y="7007"/>
                    <a:pt x="5311" y="6863"/>
                    <a:pt x="5171" y="6609"/>
                  </a:cubicBezTo>
                  <a:cubicBezTo>
                    <a:pt x="4964" y="6237"/>
                    <a:pt x="5099" y="5766"/>
                    <a:pt x="5472" y="5561"/>
                  </a:cubicBezTo>
                  <a:lnTo>
                    <a:pt x="11624" y="2087"/>
                  </a:lnTo>
                  <a:cubicBezTo>
                    <a:pt x="11468" y="1868"/>
                    <a:pt x="11320" y="1664"/>
                    <a:pt x="11284" y="1615"/>
                  </a:cubicBezTo>
                  <a:cubicBezTo>
                    <a:pt x="11213" y="1516"/>
                    <a:pt x="10578" y="923"/>
                    <a:pt x="10507" y="852"/>
                  </a:cubicBezTo>
                  <a:cubicBezTo>
                    <a:pt x="10437" y="781"/>
                    <a:pt x="9793" y="343"/>
                    <a:pt x="9632" y="283"/>
                  </a:cubicBezTo>
                  <a:cubicBezTo>
                    <a:pt x="9471" y="222"/>
                    <a:pt x="9090" y="109"/>
                    <a:pt x="8827" y="34"/>
                  </a:cubicBezTo>
                  <a:cubicBezTo>
                    <a:pt x="8739" y="8"/>
                    <a:pt x="8625" y="0"/>
                    <a:pt x="8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9" name="Google Shape;229;p32"/>
            <p:cNvSpPr/>
            <p:nvPr/>
          </p:nvSpPr>
          <p:spPr>
            <a:xfrm>
              <a:off x="2031025" y="4233600"/>
              <a:ext cx="297100" cy="287275"/>
            </a:xfrm>
            <a:custGeom>
              <a:avLst/>
              <a:gdLst/>
              <a:ahLst/>
              <a:cxnLst/>
              <a:rect l="l" t="t" r="r" b="b"/>
              <a:pathLst>
                <a:path w="11884" h="11491" extrusionOk="0">
                  <a:moveTo>
                    <a:pt x="7339" y="1"/>
                  </a:moveTo>
                  <a:cubicBezTo>
                    <a:pt x="6789" y="1"/>
                    <a:pt x="6191" y="161"/>
                    <a:pt x="6020" y="215"/>
                  </a:cubicBezTo>
                  <a:cubicBezTo>
                    <a:pt x="5816" y="280"/>
                    <a:pt x="5087" y="572"/>
                    <a:pt x="5087" y="572"/>
                  </a:cubicBezTo>
                  <a:lnTo>
                    <a:pt x="0" y="3344"/>
                  </a:lnTo>
                  <a:cubicBezTo>
                    <a:pt x="116" y="3289"/>
                    <a:pt x="231" y="3245"/>
                    <a:pt x="318" y="3228"/>
                  </a:cubicBezTo>
                  <a:cubicBezTo>
                    <a:pt x="399" y="3212"/>
                    <a:pt x="510" y="3206"/>
                    <a:pt x="626" y="3206"/>
                  </a:cubicBezTo>
                  <a:cubicBezTo>
                    <a:pt x="789" y="3206"/>
                    <a:pt x="959" y="3218"/>
                    <a:pt x="1058" y="3228"/>
                  </a:cubicBezTo>
                  <a:cubicBezTo>
                    <a:pt x="1229" y="3245"/>
                    <a:pt x="1840" y="3450"/>
                    <a:pt x="1945" y="3503"/>
                  </a:cubicBezTo>
                  <a:cubicBezTo>
                    <a:pt x="2051" y="3556"/>
                    <a:pt x="2781" y="4037"/>
                    <a:pt x="2841" y="4093"/>
                  </a:cubicBezTo>
                  <a:cubicBezTo>
                    <a:pt x="2902" y="4149"/>
                    <a:pt x="3622" y="4820"/>
                    <a:pt x="3714" y="4947"/>
                  </a:cubicBezTo>
                  <a:cubicBezTo>
                    <a:pt x="3756" y="5007"/>
                    <a:pt x="3900" y="5202"/>
                    <a:pt x="4051" y="5410"/>
                  </a:cubicBezTo>
                  <a:lnTo>
                    <a:pt x="8260" y="3035"/>
                  </a:lnTo>
                  <a:cubicBezTo>
                    <a:pt x="8379" y="2969"/>
                    <a:pt x="8507" y="2938"/>
                    <a:pt x="8634" y="2938"/>
                  </a:cubicBezTo>
                  <a:cubicBezTo>
                    <a:pt x="8905" y="2938"/>
                    <a:pt x="9168" y="3082"/>
                    <a:pt x="9309" y="3336"/>
                  </a:cubicBezTo>
                  <a:cubicBezTo>
                    <a:pt x="9516" y="3709"/>
                    <a:pt x="9381" y="4178"/>
                    <a:pt x="9008" y="4385"/>
                  </a:cubicBezTo>
                  <a:lnTo>
                    <a:pt x="4857" y="6728"/>
                  </a:lnTo>
                  <a:cubicBezTo>
                    <a:pt x="4939" y="6888"/>
                    <a:pt x="5011" y="7036"/>
                    <a:pt x="5038" y="7125"/>
                  </a:cubicBezTo>
                  <a:cubicBezTo>
                    <a:pt x="5115" y="7376"/>
                    <a:pt x="5327" y="7976"/>
                    <a:pt x="5376" y="8258"/>
                  </a:cubicBezTo>
                  <a:cubicBezTo>
                    <a:pt x="5426" y="8541"/>
                    <a:pt x="5517" y="9198"/>
                    <a:pt x="5497" y="9402"/>
                  </a:cubicBezTo>
                  <a:cubicBezTo>
                    <a:pt x="5476" y="9607"/>
                    <a:pt x="5440" y="10069"/>
                    <a:pt x="5372" y="10326"/>
                  </a:cubicBezTo>
                  <a:cubicBezTo>
                    <a:pt x="5305" y="10585"/>
                    <a:pt x="5122" y="10920"/>
                    <a:pt x="5013" y="11083"/>
                  </a:cubicBezTo>
                  <a:cubicBezTo>
                    <a:pt x="4923" y="11214"/>
                    <a:pt x="4721" y="11391"/>
                    <a:pt x="4570" y="11491"/>
                  </a:cubicBezTo>
                  <a:cubicBezTo>
                    <a:pt x="5244" y="11095"/>
                    <a:pt x="9350" y="8689"/>
                    <a:pt x="9609" y="8510"/>
                  </a:cubicBezTo>
                  <a:cubicBezTo>
                    <a:pt x="9891" y="8316"/>
                    <a:pt x="10527" y="7771"/>
                    <a:pt x="10898" y="7323"/>
                  </a:cubicBezTo>
                  <a:cubicBezTo>
                    <a:pt x="11266" y="6876"/>
                    <a:pt x="11530" y="6235"/>
                    <a:pt x="11622" y="5987"/>
                  </a:cubicBezTo>
                  <a:cubicBezTo>
                    <a:pt x="11714" y="5739"/>
                    <a:pt x="11826" y="5194"/>
                    <a:pt x="11855" y="4980"/>
                  </a:cubicBezTo>
                  <a:cubicBezTo>
                    <a:pt x="11884" y="4767"/>
                    <a:pt x="11879" y="4568"/>
                    <a:pt x="11855" y="4339"/>
                  </a:cubicBezTo>
                  <a:cubicBezTo>
                    <a:pt x="11831" y="4110"/>
                    <a:pt x="11773" y="3692"/>
                    <a:pt x="11729" y="3502"/>
                  </a:cubicBezTo>
                  <a:cubicBezTo>
                    <a:pt x="11685" y="3312"/>
                    <a:pt x="11545" y="2846"/>
                    <a:pt x="11379" y="2511"/>
                  </a:cubicBezTo>
                  <a:cubicBezTo>
                    <a:pt x="11214" y="2175"/>
                    <a:pt x="10805" y="1670"/>
                    <a:pt x="10600" y="1451"/>
                  </a:cubicBezTo>
                  <a:cubicBezTo>
                    <a:pt x="10396" y="1232"/>
                    <a:pt x="10163" y="1013"/>
                    <a:pt x="9759" y="696"/>
                  </a:cubicBezTo>
                  <a:cubicBezTo>
                    <a:pt x="9356" y="380"/>
                    <a:pt x="8267" y="109"/>
                    <a:pt x="7654" y="21"/>
                  </a:cubicBezTo>
                  <a:cubicBezTo>
                    <a:pt x="7553" y="7"/>
                    <a:pt x="7447" y="1"/>
                    <a:pt x="73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0" name="Google Shape;230;p32"/>
            <p:cNvSpPr/>
            <p:nvPr/>
          </p:nvSpPr>
          <p:spPr>
            <a:xfrm>
              <a:off x="2124425" y="4368825"/>
              <a:ext cx="28025" cy="37475"/>
            </a:xfrm>
            <a:custGeom>
              <a:avLst/>
              <a:gdLst/>
              <a:ahLst/>
              <a:cxnLst/>
              <a:rect l="l" t="t" r="r" b="b"/>
              <a:pathLst>
                <a:path w="1121" h="1499" extrusionOk="0">
                  <a:moveTo>
                    <a:pt x="315" y="1"/>
                  </a:moveTo>
                  <a:lnTo>
                    <a:pt x="0" y="178"/>
                  </a:lnTo>
                  <a:cubicBezTo>
                    <a:pt x="157" y="398"/>
                    <a:pt x="321" y="633"/>
                    <a:pt x="390" y="747"/>
                  </a:cubicBezTo>
                  <a:cubicBezTo>
                    <a:pt x="482" y="898"/>
                    <a:pt x="665" y="1228"/>
                    <a:pt x="802" y="1499"/>
                  </a:cubicBezTo>
                  <a:lnTo>
                    <a:pt x="1121" y="1319"/>
                  </a:lnTo>
                  <a:cubicBezTo>
                    <a:pt x="971" y="1030"/>
                    <a:pt x="781" y="697"/>
                    <a:pt x="719" y="586"/>
                  </a:cubicBezTo>
                  <a:cubicBezTo>
                    <a:pt x="668" y="494"/>
                    <a:pt x="487" y="239"/>
                    <a:pt x="315" y="1"/>
                  </a:cubicBezTo>
                  <a:close/>
                </a:path>
              </a:pathLst>
            </a:custGeom>
            <a:solidFill>
              <a:srgbClr val="FFE28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1" name="Google Shape;231;p32"/>
            <p:cNvSpPr/>
            <p:nvPr/>
          </p:nvSpPr>
          <p:spPr>
            <a:xfrm>
              <a:off x="1957925" y="4373275"/>
              <a:ext cx="186550" cy="123000"/>
            </a:xfrm>
            <a:custGeom>
              <a:avLst/>
              <a:gdLst/>
              <a:ahLst/>
              <a:cxnLst/>
              <a:rect l="l" t="t" r="r" b="b"/>
              <a:pathLst>
                <a:path w="7462" h="4920" extrusionOk="0">
                  <a:moveTo>
                    <a:pt x="6660" y="0"/>
                  </a:moveTo>
                  <a:lnTo>
                    <a:pt x="508" y="3474"/>
                  </a:lnTo>
                  <a:cubicBezTo>
                    <a:pt x="135" y="3679"/>
                    <a:pt x="0" y="4150"/>
                    <a:pt x="207" y="4522"/>
                  </a:cubicBezTo>
                  <a:cubicBezTo>
                    <a:pt x="347" y="4776"/>
                    <a:pt x="611" y="4920"/>
                    <a:pt x="883" y="4920"/>
                  </a:cubicBezTo>
                  <a:cubicBezTo>
                    <a:pt x="1008" y="4920"/>
                    <a:pt x="1138" y="4888"/>
                    <a:pt x="1256" y="4823"/>
                  </a:cubicBezTo>
                  <a:lnTo>
                    <a:pt x="7462" y="1321"/>
                  </a:lnTo>
                  <a:cubicBezTo>
                    <a:pt x="7325" y="1050"/>
                    <a:pt x="7142" y="720"/>
                    <a:pt x="7050" y="569"/>
                  </a:cubicBezTo>
                  <a:cubicBezTo>
                    <a:pt x="6981" y="455"/>
                    <a:pt x="6817" y="220"/>
                    <a:pt x="66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2" name="Google Shape;232;p32"/>
            <p:cNvSpPr/>
            <p:nvPr/>
          </p:nvSpPr>
          <p:spPr>
            <a:xfrm>
              <a:off x="2132275" y="4307025"/>
              <a:ext cx="136650" cy="94800"/>
            </a:xfrm>
            <a:custGeom>
              <a:avLst/>
              <a:gdLst/>
              <a:ahLst/>
              <a:cxnLst/>
              <a:rect l="l" t="t" r="r" b="b"/>
              <a:pathLst>
                <a:path w="5466" h="3792" extrusionOk="0">
                  <a:moveTo>
                    <a:pt x="4584" y="1"/>
                  </a:moveTo>
                  <a:cubicBezTo>
                    <a:pt x="4457" y="1"/>
                    <a:pt x="4329" y="32"/>
                    <a:pt x="4210" y="98"/>
                  </a:cubicBezTo>
                  <a:lnTo>
                    <a:pt x="1" y="2473"/>
                  </a:lnTo>
                  <a:cubicBezTo>
                    <a:pt x="173" y="2711"/>
                    <a:pt x="353" y="2966"/>
                    <a:pt x="405" y="3058"/>
                  </a:cubicBezTo>
                  <a:cubicBezTo>
                    <a:pt x="467" y="3169"/>
                    <a:pt x="657" y="3502"/>
                    <a:pt x="807" y="3791"/>
                  </a:cubicBezTo>
                  <a:lnTo>
                    <a:pt x="4958" y="1448"/>
                  </a:lnTo>
                  <a:cubicBezTo>
                    <a:pt x="5331" y="1241"/>
                    <a:pt x="5466" y="772"/>
                    <a:pt x="5259" y="399"/>
                  </a:cubicBezTo>
                  <a:cubicBezTo>
                    <a:pt x="5118" y="145"/>
                    <a:pt x="4855" y="1"/>
                    <a:pt x="45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3" name="Google Shape;233;p32"/>
            <p:cNvSpPr/>
            <p:nvPr/>
          </p:nvSpPr>
          <p:spPr>
            <a:xfrm>
              <a:off x="2012800" y="4313725"/>
              <a:ext cx="156175" cy="213100"/>
            </a:xfrm>
            <a:custGeom>
              <a:avLst/>
              <a:gdLst/>
              <a:ahLst/>
              <a:cxnLst/>
              <a:rect l="l" t="t" r="r" b="b"/>
              <a:pathLst>
                <a:path w="6247" h="8524" extrusionOk="0">
                  <a:moveTo>
                    <a:pt x="1355" y="1"/>
                  </a:moveTo>
                  <a:cubicBezTo>
                    <a:pt x="1239" y="1"/>
                    <a:pt x="1127" y="7"/>
                    <a:pt x="1046" y="23"/>
                  </a:cubicBezTo>
                  <a:cubicBezTo>
                    <a:pt x="960" y="40"/>
                    <a:pt x="845" y="84"/>
                    <a:pt x="729" y="139"/>
                  </a:cubicBezTo>
                  <a:cubicBezTo>
                    <a:pt x="646" y="178"/>
                    <a:pt x="563" y="223"/>
                    <a:pt x="491" y="268"/>
                  </a:cubicBezTo>
                  <a:lnTo>
                    <a:pt x="490" y="269"/>
                  </a:lnTo>
                  <a:cubicBezTo>
                    <a:pt x="438" y="302"/>
                    <a:pt x="391" y="334"/>
                    <a:pt x="354" y="365"/>
                  </a:cubicBezTo>
                  <a:cubicBezTo>
                    <a:pt x="245" y="457"/>
                    <a:pt x="85" y="706"/>
                    <a:pt x="0" y="845"/>
                  </a:cubicBezTo>
                  <a:cubicBezTo>
                    <a:pt x="545" y="534"/>
                    <a:pt x="910" y="329"/>
                    <a:pt x="910" y="329"/>
                  </a:cubicBezTo>
                  <a:cubicBezTo>
                    <a:pt x="910" y="329"/>
                    <a:pt x="1130" y="295"/>
                    <a:pt x="1354" y="295"/>
                  </a:cubicBezTo>
                  <a:cubicBezTo>
                    <a:pt x="1466" y="295"/>
                    <a:pt x="1580" y="303"/>
                    <a:pt x="1668" y="329"/>
                  </a:cubicBezTo>
                  <a:cubicBezTo>
                    <a:pt x="1931" y="404"/>
                    <a:pt x="2312" y="517"/>
                    <a:pt x="2473" y="578"/>
                  </a:cubicBezTo>
                  <a:cubicBezTo>
                    <a:pt x="2634" y="638"/>
                    <a:pt x="3278" y="1076"/>
                    <a:pt x="3348" y="1147"/>
                  </a:cubicBezTo>
                  <a:cubicBezTo>
                    <a:pt x="3419" y="1218"/>
                    <a:pt x="4054" y="1811"/>
                    <a:pt x="4125" y="1910"/>
                  </a:cubicBezTo>
                  <a:cubicBezTo>
                    <a:pt x="4196" y="2008"/>
                    <a:pt x="4718" y="2724"/>
                    <a:pt x="4855" y="2951"/>
                  </a:cubicBezTo>
                  <a:cubicBezTo>
                    <a:pt x="4991" y="3175"/>
                    <a:pt x="5330" y="3793"/>
                    <a:pt x="5415" y="4029"/>
                  </a:cubicBezTo>
                  <a:cubicBezTo>
                    <a:pt x="5499" y="4263"/>
                    <a:pt x="5697" y="4903"/>
                    <a:pt x="5743" y="5134"/>
                  </a:cubicBezTo>
                  <a:cubicBezTo>
                    <a:pt x="5791" y="5365"/>
                    <a:pt x="5886" y="5990"/>
                    <a:pt x="5877" y="6170"/>
                  </a:cubicBezTo>
                  <a:cubicBezTo>
                    <a:pt x="5867" y="6349"/>
                    <a:pt x="5782" y="6961"/>
                    <a:pt x="5725" y="7117"/>
                  </a:cubicBezTo>
                  <a:cubicBezTo>
                    <a:pt x="5669" y="7270"/>
                    <a:pt x="5466" y="7733"/>
                    <a:pt x="5400" y="7798"/>
                  </a:cubicBezTo>
                  <a:cubicBezTo>
                    <a:pt x="5334" y="7864"/>
                    <a:pt x="4952" y="8170"/>
                    <a:pt x="4864" y="8232"/>
                  </a:cubicBezTo>
                  <a:cubicBezTo>
                    <a:pt x="4811" y="8268"/>
                    <a:pt x="4605" y="8392"/>
                    <a:pt x="4447" y="8488"/>
                  </a:cubicBezTo>
                  <a:cubicBezTo>
                    <a:pt x="4494" y="8511"/>
                    <a:pt x="4525" y="8524"/>
                    <a:pt x="4530" y="8524"/>
                  </a:cubicBezTo>
                  <a:cubicBezTo>
                    <a:pt x="4531" y="8524"/>
                    <a:pt x="4531" y="8524"/>
                    <a:pt x="4532" y="8524"/>
                  </a:cubicBezTo>
                  <a:cubicBezTo>
                    <a:pt x="4620" y="8524"/>
                    <a:pt x="5061" y="8410"/>
                    <a:pt x="5205" y="8341"/>
                  </a:cubicBezTo>
                  <a:lnTo>
                    <a:pt x="5299" y="8286"/>
                  </a:lnTo>
                  <a:cubicBezTo>
                    <a:pt x="5450" y="8186"/>
                    <a:pt x="5652" y="8009"/>
                    <a:pt x="5742" y="7878"/>
                  </a:cubicBezTo>
                  <a:cubicBezTo>
                    <a:pt x="5851" y="7715"/>
                    <a:pt x="6034" y="7380"/>
                    <a:pt x="6101" y="7121"/>
                  </a:cubicBezTo>
                  <a:cubicBezTo>
                    <a:pt x="6169" y="6864"/>
                    <a:pt x="6205" y="6402"/>
                    <a:pt x="6226" y="6197"/>
                  </a:cubicBezTo>
                  <a:cubicBezTo>
                    <a:pt x="6246" y="5993"/>
                    <a:pt x="6155" y="5336"/>
                    <a:pt x="6105" y="5053"/>
                  </a:cubicBezTo>
                  <a:cubicBezTo>
                    <a:pt x="6056" y="4771"/>
                    <a:pt x="5844" y="4171"/>
                    <a:pt x="5767" y="3920"/>
                  </a:cubicBezTo>
                  <a:cubicBezTo>
                    <a:pt x="5689" y="3669"/>
                    <a:pt x="5279" y="2964"/>
                    <a:pt x="5184" y="2790"/>
                  </a:cubicBezTo>
                  <a:cubicBezTo>
                    <a:pt x="5088" y="2617"/>
                    <a:pt x="4534" y="1869"/>
                    <a:pt x="4443" y="1742"/>
                  </a:cubicBezTo>
                  <a:cubicBezTo>
                    <a:pt x="4351" y="1615"/>
                    <a:pt x="3631" y="944"/>
                    <a:pt x="3570" y="888"/>
                  </a:cubicBezTo>
                  <a:cubicBezTo>
                    <a:pt x="3510" y="831"/>
                    <a:pt x="2780" y="351"/>
                    <a:pt x="2674" y="298"/>
                  </a:cubicBezTo>
                  <a:cubicBezTo>
                    <a:pt x="2569" y="245"/>
                    <a:pt x="1958" y="40"/>
                    <a:pt x="1787" y="23"/>
                  </a:cubicBezTo>
                  <a:cubicBezTo>
                    <a:pt x="1688" y="13"/>
                    <a:pt x="1518" y="1"/>
                    <a:pt x="13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4" name="Google Shape;234;p32"/>
            <p:cNvSpPr/>
            <p:nvPr/>
          </p:nvSpPr>
          <p:spPr>
            <a:xfrm>
              <a:off x="1614025" y="4419125"/>
              <a:ext cx="326125" cy="290950"/>
            </a:xfrm>
            <a:custGeom>
              <a:avLst/>
              <a:gdLst/>
              <a:ahLst/>
              <a:cxnLst/>
              <a:rect l="l" t="t" r="r" b="b"/>
              <a:pathLst>
                <a:path w="13045" h="11638" extrusionOk="0">
                  <a:moveTo>
                    <a:pt x="4532" y="0"/>
                  </a:moveTo>
                  <a:cubicBezTo>
                    <a:pt x="4420" y="0"/>
                    <a:pt x="4306" y="9"/>
                    <a:pt x="4218" y="34"/>
                  </a:cubicBezTo>
                  <a:cubicBezTo>
                    <a:pt x="3954" y="109"/>
                    <a:pt x="3574" y="222"/>
                    <a:pt x="3413" y="283"/>
                  </a:cubicBezTo>
                  <a:cubicBezTo>
                    <a:pt x="3252" y="345"/>
                    <a:pt x="2608" y="783"/>
                    <a:pt x="2537" y="854"/>
                  </a:cubicBezTo>
                  <a:cubicBezTo>
                    <a:pt x="2467" y="923"/>
                    <a:pt x="1832" y="1516"/>
                    <a:pt x="1761" y="1615"/>
                  </a:cubicBezTo>
                  <a:cubicBezTo>
                    <a:pt x="1725" y="1664"/>
                    <a:pt x="1577" y="1869"/>
                    <a:pt x="1420" y="2088"/>
                  </a:cubicBezTo>
                  <a:lnTo>
                    <a:pt x="7573" y="5561"/>
                  </a:lnTo>
                  <a:cubicBezTo>
                    <a:pt x="7946" y="5767"/>
                    <a:pt x="8081" y="6237"/>
                    <a:pt x="7874" y="6610"/>
                  </a:cubicBezTo>
                  <a:cubicBezTo>
                    <a:pt x="7733" y="6865"/>
                    <a:pt x="7470" y="7008"/>
                    <a:pt x="7198" y="7008"/>
                  </a:cubicBezTo>
                  <a:cubicBezTo>
                    <a:pt x="7073" y="7008"/>
                    <a:pt x="6943" y="6977"/>
                    <a:pt x="6825" y="6911"/>
                  </a:cubicBezTo>
                  <a:lnTo>
                    <a:pt x="619" y="3409"/>
                  </a:lnTo>
                  <a:cubicBezTo>
                    <a:pt x="554" y="3540"/>
                    <a:pt x="499" y="3657"/>
                    <a:pt x="471" y="3734"/>
                  </a:cubicBezTo>
                  <a:cubicBezTo>
                    <a:pt x="387" y="3970"/>
                    <a:pt x="189" y="4609"/>
                    <a:pt x="142" y="4840"/>
                  </a:cubicBezTo>
                  <a:cubicBezTo>
                    <a:pt x="95" y="5070"/>
                    <a:pt x="0" y="5697"/>
                    <a:pt x="9" y="5875"/>
                  </a:cubicBezTo>
                  <a:cubicBezTo>
                    <a:pt x="19" y="6054"/>
                    <a:pt x="104" y="6666"/>
                    <a:pt x="161" y="6822"/>
                  </a:cubicBezTo>
                  <a:cubicBezTo>
                    <a:pt x="217" y="6977"/>
                    <a:pt x="420" y="7438"/>
                    <a:pt x="485" y="7505"/>
                  </a:cubicBezTo>
                  <a:cubicBezTo>
                    <a:pt x="551" y="7570"/>
                    <a:pt x="932" y="7876"/>
                    <a:pt x="1022" y="7937"/>
                  </a:cubicBezTo>
                  <a:cubicBezTo>
                    <a:pt x="1075" y="7973"/>
                    <a:pt x="1279" y="8097"/>
                    <a:pt x="1439" y="8194"/>
                  </a:cubicBezTo>
                  <a:cubicBezTo>
                    <a:pt x="1550" y="8260"/>
                    <a:pt x="1638" y="8313"/>
                    <a:pt x="1638" y="8313"/>
                  </a:cubicBezTo>
                  <a:lnTo>
                    <a:pt x="6464" y="11083"/>
                  </a:lnTo>
                  <a:cubicBezTo>
                    <a:pt x="6464" y="11083"/>
                    <a:pt x="7169" y="11366"/>
                    <a:pt x="7367" y="11429"/>
                  </a:cubicBezTo>
                  <a:cubicBezTo>
                    <a:pt x="7532" y="11483"/>
                    <a:pt x="8111" y="11638"/>
                    <a:pt x="8643" y="11638"/>
                  </a:cubicBezTo>
                  <a:cubicBezTo>
                    <a:pt x="8748" y="11638"/>
                    <a:pt x="8851" y="11632"/>
                    <a:pt x="8949" y="11618"/>
                  </a:cubicBezTo>
                  <a:cubicBezTo>
                    <a:pt x="9542" y="11532"/>
                    <a:pt x="10596" y="11270"/>
                    <a:pt x="10987" y="10964"/>
                  </a:cubicBezTo>
                  <a:cubicBezTo>
                    <a:pt x="11378" y="10658"/>
                    <a:pt x="11603" y="10447"/>
                    <a:pt x="11801" y="10234"/>
                  </a:cubicBezTo>
                  <a:cubicBezTo>
                    <a:pt x="11999" y="10022"/>
                    <a:pt x="12395" y="9533"/>
                    <a:pt x="12555" y="9208"/>
                  </a:cubicBezTo>
                  <a:cubicBezTo>
                    <a:pt x="12715" y="8882"/>
                    <a:pt x="12851" y="8431"/>
                    <a:pt x="12893" y="8248"/>
                  </a:cubicBezTo>
                  <a:cubicBezTo>
                    <a:pt x="12935" y="8064"/>
                    <a:pt x="12993" y="7660"/>
                    <a:pt x="13016" y="7438"/>
                  </a:cubicBezTo>
                  <a:cubicBezTo>
                    <a:pt x="13039" y="7217"/>
                    <a:pt x="13044" y="7024"/>
                    <a:pt x="13016" y="6816"/>
                  </a:cubicBezTo>
                  <a:cubicBezTo>
                    <a:pt x="12987" y="6610"/>
                    <a:pt x="12879" y="6082"/>
                    <a:pt x="12789" y="5843"/>
                  </a:cubicBezTo>
                  <a:cubicBezTo>
                    <a:pt x="12701" y="5602"/>
                    <a:pt x="12446" y="4980"/>
                    <a:pt x="12089" y="4548"/>
                  </a:cubicBezTo>
                  <a:cubicBezTo>
                    <a:pt x="11730" y="4114"/>
                    <a:pt x="11114" y="3588"/>
                    <a:pt x="10841" y="3399"/>
                  </a:cubicBezTo>
                  <a:cubicBezTo>
                    <a:pt x="10638" y="3259"/>
                    <a:pt x="7482" y="1460"/>
                    <a:pt x="5886" y="550"/>
                  </a:cubicBezTo>
                  <a:cubicBezTo>
                    <a:pt x="5340" y="242"/>
                    <a:pt x="4976" y="34"/>
                    <a:pt x="4976" y="34"/>
                  </a:cubicBezTo>
                  <a:cubicBezTo>
                    <a:pt x="4976" y="34"/>
                    <a:pt x="4756" y="0"/>
                    <a:pt x="45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5" name="Google Shape;235;p32"/>
            <p:cNvSpPr/>
            <p:nvPr/>
          </p:nvSpPr>
          <p:spPr>
            <a:xfrm>
              <a:off x="1445825" y="4331625"/>
              <a:ext cx="297125" cy="287275"/>
            </a:xfrm>
            <a:custGeom>
              <a:avLst/>
              <a:gdLst/>
              <a:ahLst/>
              <a:cxnLst/>
              <a:rect l="l" t="t" r="r" b="b"/>
              <a:pathLst>
                <a:path w="11885" h="11491" extrusionOk="0">
                  <a:moveTo>
                    <a:pt x="4546" y="1"/>
                  </a:moveTo>
                  <a:cubicBezTo>
                    <a:pt x="4438" y="1"/>
                    <a:pt x="4332" y="7"/>
                    <a:pt x="4231" y="21"/>
                  </a:cubicBezTo>
                  <a:cubicBezTo>
                    <a:pt x="3618" y="109"/>
                    <a:pt x="2529" y="381"/>
                    <a:pt x="2126" y="697"/>
                  </a:cubicBezTo>
                  <a:cubicBezTo>
                    <a:pt x="1721" y="1013"/>
                    <a:pt x="1488" y="1232"/>
                    <a:pt x="1284" y="1451"/>
                  </a:cubicBezTo>
                  <a:cubicBezTo>
                    <a:pt x="1080" y="1670"/>
                    <a:pt x="671" y="2176"/>
                    <a:pt x="506" y="2512"/>
                  </a:cubicBezTo>
                  <a:cubicBezTo>
                    <a:pt x="340" y="2847"/>
                    <a:pt x="200" y="3313"/>
                    <a:pt x="156" y="3502"/>
                  </a:cubicBezTo>
                  <a:cubicBezTo>
                    <a:pt x="112" y="3692"/>
                    <a:pt x="54" y="4110"/>
                    <a:pt x="30" y="4339"/>
                  </a:cubicBezTo>
                  <a:cubicBezTo>
                    <a:pt x="5" y="4567"/>
                    <a:pt x="1" y="4767"/>
                    <a:pt x="30" y="4981"/>
                  </a:cubicBezTo>
                  <a:cubicBezTo>
                    <a:pt x="59" y="5195"/>
                    <a:pt x="171" y="5739"/>
                    <a:pt x="263" y="5987"/>
                  </a:cubicBezTo>
                  <a:cubicBezTo>
                    <a:pt x="355" y="6236"/>
                    <a:pt x="619" y="6877"/>
                    <a:pt x="987" y="7325"/>
                  </a:cubicBezTo>
                  <a:cubicBezTo>
                    <a:pt x="1356" y="7772"/>
                    <a:pt x="1994" y="8316"/>
                    <a:pt x="2276" y="8512"/>
                  </a:cubicBezTo>
                  <a:cubicBezTo>
                    <a:pt x="2534" y="8690"/>
                    <a:pt x="6641" y="11096"/>
                    <a:pt x="7315" y="11491"/>
                  </a:cubicBezTo>
                  <a:cubicBezTo>
                    <a:pt x="7164" y="11391"/>
                    <a:pt x="6962" y="11216"/>
                    <a:pt x="6872" y="11083"/>
                  </a:cubicBezTo>
                  <a:cubicBezTo>
                    <a:pt x="6763" y="10920"/>
                    <a:pt x="6579" y="10586"/>
                    <a:pt x="6513" y="10327"/>
                  </a:cubicBezTo>
                  <a:cubicBezTo>
                    <a:pt x="6445" y="10069"/>
                    <a:pt x="6409" y="9608"/>
                    <a:pt x="6388" y="9403"/>
                  </a:cubicBezTo>
                  <a:cubicBezTo>
                    <a:pt x="6368" y="9198"/>
                    <a:pt x="6459" y="8541"/>
                    <a:pt x="6508" y="8259"/>
                  </a:cubicBezTo>
                  <a:cubicBezTo>
                    <a:pt x="6558" y="7976"/>
                    <a:pt x="6770" y="7376"/>
                    <a:pt x="6847" y="7126"/>
                  </a:cubicBezTo>
                  <a:cubicBezTo>
                    <a:pt x="6874" y="7036"/>
                    <a:pt x="6945" y="6889"/>
                    <a:pt x="7028" y="6729"/>
                  </a:cubicBezTo>
                  <a:lnTo>
                    <a:pt x="2877" y="4386"/>
                  </a:lnTo>
                  <a:cubicBezTo>
                    <a:pt x="2504" y="4178"/>
                    <a:pt x="2369" y="3709"/>
                    <a:pt x="2576" y="3336"/>
                  </a:cubicBezTo>
                  <a:cubicBezTo>
                    <a:pt x="2717" y="3082"/>
                    <a:pt x="2980" y="2938"/>
                    <a:pt x="3251" y="2938"/>
                  </a:cubicBezTo>
                  <a:cubicBezTo>
                    <a:pt x="3378" y="2938"/>
                    <a:pt x="3506" y="2969"/>
                    <a:pt x="3625" y="3035"/>
                  </a:cubicBezTo>
                  <a:lnTo>
                    <a:pt x="7834" y="5411"/>
                  </a:lnTo>
                  <a:cubicBezTo>
                    <a:pt x="7985" y="5202"/>
                    <a:pt x="8129" y="5007"/>
                    <a:pt x="8171" y="4948"/>
                  </a:cubicBezTo>
                  <a:cubicBezTo>
                    <a:pt x="8263" y="4821"/>
                    <a:pt x="8983" y="4149"/>
                    <a:pt x="9043" y="4093"/>
                  </a:cubicBezTo>
                  <a:cubicBezTo>
                    <a:pt x="9103" y="4036"/>
                    <a:pt x="9834" y="3557"/>
                    <a:pt x="9940" y="3502"/>
                  </a:cubicBezTo>
                  <a:cubicBezTo>
                    <a:pt x="10045" y="3451"/>
                    <a:pt x="10656" y="3245"/>
                    <a:pt x="10826" y="3228"/>
                  </a:cubicBezTo>
                  <a:cubicBezTo>
                    <a:pt x="10925" y="3218"/>
                    <a:pt x="11095" y="3206"/>
                    <a:pt x="11259" y="3206"/>
                  </a:cubicBezTo>
                  <a:cubicBezTo>
                    <a:pt x="11374" y="3206"/>
                    <a:pt x="11486" y="3212"/>
                    <a:pt x="11567" y="3228"/>
                  </a:cubicBezTo>
                  <a:cubicBezTo>
                    <a:pt x="11653" y="3245"/>
                    <a:pt x="11769" y="3290"/>
                    <a:pt x="11885" y="3344"/>
                  </a:cubicBezTo>
                  <a:lnTo>
                    <a:pt x="6798" y="573"/>
                  </a:lnTo>
                  <a:cubicBezTo>
                    <a:pt x="6798" y="573"/>
                    <a:pt x="6069" y="282"/>
                    <a:pt x="5865" y="216"/>
                  </a:cubicBezTo>
                  <a:cubicBezTo>
                    <a:pt x="5694" y="161"/>
                    <a:pt x="5096" y="1"/>
                    <a:pt x="4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6" name="Google Shape;236;p32"/>
            <p:cNvSpPr/>
            <p:nvPr/>
          </p:nvSpPr>
          <p:spPr>
            <a:xfrm>
              <a:off x="1621525" y="4466900"/>
              <a:ext cx="28000" cy="37475"/>
            </a:xfrm>
            <a:custGeom>
              <a:avLst/>
              <a:gdLst/>
              <a:ahLst/>
              <a:cxnLst/>
              <a:rect l="l" t="t" r="r" b="b"/>
              <a:pathLst>
                <a:path w="1120" h="1499" extrusionOk="0">
                  <a:moveTo>
                    <a:pt x="806" y="0"/>
                  </a:moveTo>
                  <a:cubicBezTo>
                    <a:pt x="634" y="237"/>
                    <a:pt x="453" y="492"/>
                    <a:pt x="402" y="584"/>
                  </a:cubicBezTo>
                  <a:cubicBezTo>
                    <a:pt x="340" y="697"/>
                    <a:pt x="150" y="1028"/>
                    <a:pt x="0" y="1318"/>
                  </a:cubicBezTo>
                  <a:lnTo>
                    <a:pt x="319" y="1498"/>
                  </a:lnTo>
                  <a:cubicBezTo>
                    <a:pt x="456" y="1227"/>
                    <a:pt x="639" y="898"/>
                    <a:pt x="731" y="745"/>
                  </a:cubicBezTo>
                  <a:cubicBezTo>
                    <a:pt x="800" y="633"/>
                    <a:pt x="964" y="397"/>
                    <a:pt x="1120" y="177"/>
                  </a:cubicBezTo>
                  <a:lnTo>
                    <a:pt x="806" y="0"/>
                  </a:lnTo>
                  <a:close/>
                </a:path>
              </a:pathLst>
            </a:custGeom>
            <a:solidFill>
              <a:srgbClr val="FFE28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7" name="Google Shape;237;p32"/>
            <p:cNvSpPr/>
            <p:nvPr/>
          </p:nvSpPr>
          <p:spPr>
            <a:xfrm>
              <a:off x="1629500" y="4471300"/>
              <a:ext cx="186550" cy="123050"/>
            </a:xfrm>
            <a:custGeom>
              <a:avLst/>
              <a:gdLst/>
              <a:ahLst/>
              <a:cxnLst/>
              <a:rect l="l" t="t" r="r" b="b"/>
              <a:pathLst>
                <a:path w="7462" h="4922" extrusionOk="0">
                  <a:moveTo>
                    <a:pt x="801" y="1"/>
                  </a:moveTo>
                  <a:cubicBezTo>
                    <a:pt x="645" y="221"/>
                    <a:pt x="481" y="457"/>
                    <a:pt x="412" y="569"/>
                  </a:cubicBezTo>
                  <a:cubicBezTo>
                    <a:pt x="320" y="722"/>
                    <a:pt x="137" y="1051"/>
                    <a:pt x="0" y="1322"/>
                  </a:cubicBezTo>
                  <a:lnTo>
                    <a:pt x="6206" y="4824"/>
                  </a:lnTo>
                  <a:cubicBezTo>
                    <a:pt x="6324" y="4890"/>
                    <a:pt x="6454" y="4921"/>
                    <a:pt x="6579" y="4921"/>
                  </a:cubicBezTo>
                  <a:cubicBezTo>
                    <a:pt x="6851" y="4921"/>
                    <a:pt x="7114" y="4778"/>
                    <a:pt x="7255" y="4523"/>
                  </a:cubicBezTo>
                  <a:cubicBezTo>
                    <a:pt x="7462" y="4150"/>
                    <a:pt x="7327" y="3680"/>
                    <a:pt x="6954" y="3474"/>
                  </a:cubicBezTo>
                  <a:lnTo>
                    <a:pt x="8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8" name="Google Shape;238;p32"/>
            <p:cNvSpPr/>
            <p:nvPr/>
          </p:nvSpPr>
          <p:spPr>
            <a:xfrm>
              <a:off x="1505050" y="4405050"/>
              <a:ext cx="136650" cy="94800"/>
            </a:xfrm>
            <a:custGeom>
              <a:avLst/>
              <a:gdLst/>
              <a:ahLst/>
              <a:cxnLst/>
              <a:rect l="l" t="t" r="r" b="b"/>
              <a:pathLst>
                <a:path w="5466" h="3792" extrusionOk="0">
                  <a:moveTo>
                    <a:pt x="882" y="1"/>
                  </a:moveTo>
                  <a:cubicBezTo>
                    <a:pt x="611" y="1"/>
                    <a:pt x="348" y="145"/>
                    <a:pt x="207" y="399"/>
                  </a:cubicBezTo>
                  <a:cubicBezTo>
                    <a:pt x="0" y="772"/>
                    <a:pt x="135" y="1241"/>
                    <a:pt x="508" y="1449"/>
                  </a:cubicBezTo>
                  <a:lnTo>
                    <a:pt x="4659" y="3792"/>
                  </a:lnTo>
                  <a:cubicBezTo>
                    <a:pt x="4809" y="3502"/>
                    <a:pt x="4999" y="3171"/>
                    <a:pt x="5061" y="3058"/>
                  </a:cubicBezTo>
                  <a:cubicBezTo>
                    <a:pt x="5112" y="2966"/>
                    <a:pt x="5293" y="2711"/>
                    <a:pt x="5465" y="2474"/>
                  </a:cubicBezTo>
                  <a:lnTo>
                    <a:pt x="1256" y="98"/>
                  </a:lnTo>
                  <a:cubicBezTo>
                    <a:pt x="1137" y="32"/>
                    <a:pt x="1009" y="1"/>
                    <a:pt x="8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9" name="Google Shape;239;p32"/>
            <p:cNvSpPr/>
            <p:nvPr/>
          </p:nvSpPr>
          <p:spPr>
            <a:xfrm>
              <a:off x="1605000" y="4411775"/>
              <a:ext cx="156175" cy="213100"/>
            </a:xfrm>
            <a:custGeom>
              <a:avLst/>
              <a:gdLst/>
              <a:ahLst/>
              <a:cxnLst/>
              <a:rect l="l" t="t" r="r" b="b"/>
              <a:pathLst>
                <a:path w="6247" h="8524" extrusionOk="0">
                  <a:moveTo>
                    <a:pt x="4892" y="0"/>
                  </a:moveTo>
                  <a:cubicBezTo>
                    <a:pt x="4728" y="0"/>
                    <a:pt x="4558" y="12"/>
                    <a:pt x="4459" y="22"/>
                  </a:cubicBezTo>
                  <a:cubicBezTo>
                    <a:pt x="4289" y="39"/>
                    <a:pt x="3678" y="245"/>
                    <a:pt x="3573" y="296"/>
                  </a:cubicBezTo>
                  <a:cubicBezTo>
                    <a:pt x="3467" y="351"/>
                    <a:pt x="2736" y="830"/>
                    <a:pt x="2676" y="887"/>
                  </a:cubicBezTo>
                  <a:cubicBezTo>
                    <a:pt x="2616" y="943"/>
                    <a:pt x="1896" y="1615"/>
                    <a:pt x="1804" y="1742"/>
                  </a:cubicBezTo>
                  <a:cubicBezTo>
                    <a:pt x="1712" y="1868"/>
                    <a:pt x="1159" y="2616"/>
                    <a:pt x="1063" y="2789"/>
                  </a:cubicBezTo>
                  <a:cubicBezTo>
                    <a:pt x="968" y="2963"/>
                    <a:pt x="558" y="3670"/>
                    <a:pt x="480" y="3920"/>
                  </a:cubicBezTo>
                  <a:cubicBezTo>
                    <a:pt x="403" y="4170"/>
                    <a:pt x="191" y="4770"/>
                    <a:pt x="141" y="5053"/>
                  </a:cubicBezTo>
                  <a:cubicBezTo>
                    <a:pt x="92" y="5335"/>
                    <a:pt x="1" y="5992"/>
                    <a:pt x="21" y="6197"/>
                  </a:cubicBezTo>
                  <a:cubicBezTo>
                    <a:pt x="42" y="6402"/>
                    <a:pt x="78" y="6863"/>
                    <a:pt x="145" y="7121"/>
                  </a:cubicBezTo>
                  <a:cubicBezTo>
                    <a:pt x="212" y="7380"/>
                    <a:pt x="396" y="7714"/>
                    <a:pt x="505" y="7877"/>
                  </a:cubicBezTo>
                  <a:cubicBezTo>
                    <a:pt x="595" y="8010"/>
                    <a:pt x="797" y="8185"/>
                    <a:pt x="948" y="8285"/>
                  </a:cubicBezTo>
                  <a:lnTo>
                    <a:pt x="1042" y="8340"/>
                  </a:lnTo>
                  <a:cubicBezTo>
                    <a:pt x="1187" y="8411"/>
                    <a:pt x="1631" y="8524"/>
                    <a:pt x="1716" y="8524"/>
                  </a:cubicBezTo>
                  <a:cubicBezTo>
                    <a:pt x="1722" y="8524"/>
                    <a:pt x="1752" y="8512"/>
                    <a:pt x="1800" y="8488"/>
                  </a:cubicBezTo>
                  <a:cubicBezTo>
                    <a:pt x="1640" y="8393"/>
                    <a:pt x="1436" y="8267"/>
                    <a:pt x="1383" y="8231"/>
                  </a:cubicBezTo>
                  <a:cubicBezTo>
                    <a:pt x="1293" y="8170"/>
                    <a:pt x="913" y="7864"/>
                    <a:pt x="846" y="7799"/>
                  </a:cubicBezTo>
                  <a:cubicBezTo>
                    <a:pt x="781" y="7732"/>
                    <a:pt x="578" y="7271"/>
                    <a:pt x="522" y="7116"/>
                  </a:cubicBezTo>
                  <a:cubicBezTo>
                    <a:pt x="465" y="6960"/>
                    <a:pt x="380" y="6348"/>
                    <a:pt x="370" y="6169"/>
                  </a:cubicBezTo>
                  <a:cubicBezTo>
                    <a:pt x="361" y="5991"/>
                    <a:pt x="456" y="5364"/>
                    <a:pt x="503" y="5134"/>
                  </a:cubicBezTo>
                  <a:cubicBezTo>
                    <a:pt x="550" y="4903"/>
                    <a:pt x="748" y="4264"/>
                    <a:pt x="832" y="4028"/>
                  </a:cubicBezTo>
                  <a:cubicBezTo>
                    <a:pt x="917" y="3792"/>
                    <a:pt x="1255" y="3176"/>
                    <a:pt x="1392" y="2950"/>
                  </a:cubicBezTo>
                  <a:cubicBezTo>
                    <a:pt x="1529" y="2723"/>
                    <a:pt x="2051" y="2008"/>
                    <a:pt x="2122" y="1909"/>
                  </a:cubicBezTo>
                  <a:cubicBezTo>
                    <a:pt x="2193" y="1811"/>
                    <a:pt x="2828" y="1217"/>
                    <a:pt x="2899" y="1148"/>
                  </a:cubicBezTo>
                  <a:cubicBezTo>
                    <a:pt x="2969" y="1077"/>
                    <a:pt x="3613" y="639"/>
                    <a:pt x="3774" y="577"/>
                  </a:cubicBezTo>
                  <a:cubicBezTo>
                    <a:pt x="3935" y="516"/>
                    <a:pt x="4315" y="403"/>
                    <a:pt x="4579" y="328"/>
                  </a:cubicBezTo>
                  <a:cubicBezTo>
                    <a:pt x="4667" y="303"/>
                    <a:pt x="4781" y="294"/>
                    <a:pt x="4893" y="294"/>
                  </a:cubicBezTo>
                  <a:cubicBezTo>
                    <a:pt x="5117" y="294"/>
                    <a:pt x="5337" y="328"/>
                    <a:pt x="5337" y="328"/>
                  </a:cubicBezTo>
                  <a:cubicBezTo>
                    <a:pt x="5337" y="328"/>
                    <a:pt x="5701" y="534"/>
                    <a:pt x="6247" y="845"/>
                  </a:cubicBezTo>
                  <a:cubicBezTo>
                    <a:pt x="6162" y="705"/>
                    <a:pt x="6002" y="457"/>
                    <a:pt x="5892" y="365"/>
                  </a:cubicBezTo>
                  <a:cubicBezTo>
                    <a:pt x="5856" y="335"/>
                    <a:pt x="5809" y="301"/>
                    <a:pt x="5756" y="268"/>
                  </a:cubicBezTo>
                  <a:lnTo>
                    <a:pt x="5756" y="267"/>
                  </a:lnTo>
                  <a:cubicBezTo>
                    <a:pt x="5684" y="223"/>
                    <a:pt x="5601" y="177"/>
                    <a:pt x="5518" y="138"/>
                  </a:cubicBezTo>
                  <a:cubicBezTo>
                    <a:pt x="5402" y="84"/>
                    <a:pt x="5286" y="39"/>
                    <a:pt x="5201" y="22"/>
                  </a:cubicBezTo>
                  <a:cubicBezTo>
                    <a:pt x="5120" y="6"/>
                    <a:pt x="5008" y="0"/>
                    <a:pt x="48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41" name="Google Shape;341;p32"/>
          <p:cNvGrpSpPr/>
          <p:nvPr/>
        </p:nvGrpSpPr>
        <p:grpSpPr>
          <a:xfrm>
            <a:off x="69732" y="437331"/>
            <a:ext cx="2267661" cy="1347403"/>
            <a:chOff x="2570875" y="2872825"/>
            <a:chExt cx="1053550" cy="626000"/>
          </a:xfrm>
        </p:grpSpPr>
        <p:sp>
          <p:nvSpPr>
            <p:cNvPr id="342" name="Google Shape;342;p32"/>
            <p:cNvSpPr/>
            <p:nvPr/>
          </p:nvSpPr>
          <p:spPr>
            <a:xfrm>
              <a:off x="3385200" y="3040975"/>
              <a:ext cx="14275" cy="850"/>
            </a:xfrm>
            <a:custGeom>
              <a:avLst/>
              <a:gdLst/>
              <a:ahLst/>
              <a:cxnLst/>
              <a:rect l="l" t="t" r="r" b="b"/>
              <a:pathLst>
                <a:path w="571" h="34" extrusionOk="0">
                  <a:moveTo>
                    <a:pt x="571" y="1"/>
                  </a:moveTo>
                  <a:lnTo>
                    <a:pt x="571" y="1"/>
                  </a:lnTo>
                  <a:cubicBezTo>
                    <a:pt x="393" y="20"/>
                    <a:pt x="214" y="30"/>
                    <a:pt x="33" y="33"/>
                  </a:cubicBezTo>
                  <a:lnTo>
                    <a:pt x="33" y="33"/>
                  </a:lnTo>
                  <a:cubicBezTo>
                    <a:pt x="47" y="33"/>
                    <a:pt x="62" y="33"/>
                    <a:pt x="77" y="33"/>
                  </a:cubicBezTo>
                  <a:cubicBezTo>
                    <a:pt x="102" y="33"/>
                    <a:pt x="128" y="33"/>
                    <a:pt x="153" y="32"/>
                  </a:cubicBezTo>
                  <a:cubicBezTo>
                    <a:pt x="278" y="27"/>
                    <a:pt x="403" y="19"/>
                    <a:pt x="528" y="7"/>
                  </a:cubicBezTo>
                  <a:lnTo>
                    <a:pt x="571" y="1"/>
                  </a:lnTo>
                  <a:close/>
                  <a:moveTo>
                    <a:pt x="33" y="33"/>
                  </a:moveTo>
                  <a:cubicBezTo>
                    <a:pt x="22" y="33"/>
                    <a:pt x="11" y="33"/>
                    <a:pt x="0" y="34"/>
                  </a:cubicBezTo>
                  <a:cubicBezTo>
                    <a:pt x="11" y="33"/>
                    <a:pt x="22" y="33"/>
                    <a:pt x="33" y="33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3" name="Google Shape;343;p32"/>
            <p:cNvSpPr/>
            <p:nvPr/>
          </p:nvSpPr>
          <p:spPr>
            <a:xfrm>
              <a:off x="3353225" y="3038425"/>
              <a:ext cx="13625" cy="2350"/>
            </a:xfrm>
            <a:custGeom>
              <a:avLst/>
              <a:gdLst/>
              <a:ahLst/>
              <a:cxnLst/>
              <a:rect l="l" t="t" r="r" b="b"/>
              <a:pathLst>
                <a:path w="545" h="94" extrusionOk="0">
                  <a:moveTo>
                    <a:pt x="0" y="1"/>
                  </a:moveTo>
                  <a:lnTo>
                    <a:pt x="88" y="23"/>
                  </a:lnTo>
                  <a:cubicBezTo>
                    <a:pt x="199" y="46"/>
                    <a:pt x="310" y="65"/>
                    <a:pt x="424" y="82"/>
                  </a:cubicBezTo>
                  <a:cubicBezTo>
                    <a:pt x="464" y="87"/>
                    <a:pt x="505" y="89"/>
                    <a:pt x="545" y="94"/>
                  </a:cubicBezTo>
                  <a:cubicBezTo>
                    <a:pt x="360" y="73"/>
                    <a:pt x="178" y="41"/>
                    <a:pt x="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4" name="Google Shape;344;p32"/>
            <p:cNvSpPr/>
            <p:nvPr/>
          </p:nvSpPr>
          <p:spPr>
            <a:xfrm>
              <a:off x="3368925" y="3041025"/>
              <a:ext cx="14025" cy="800"/>
            </a:xfrm>
            <a:custGeom>
              <a:avLst/>
              <a:gdLst/>
              <a:ahLst/>
              <a:cxnLst/>
              <a:rect l="l" t="t" r="r" b="b"/>
              <a:pathLst>
                <a:path w="561" h="32" extrusionOk="0">
                  <a:moveTo>
                    <a:pt x="0" y="0"/>
                  </a:moveTo>
                  <a:lnTo>
                    <a:pt x="0" y="0"/>
                  </a:lnTo>
                  <a:cubicBezTo>
                    <a:pt x="40" y="5"/>
                    <a:pt x="82" y="10"/>
                    <a:pt x="125" y="14"/>
                  </a:cubicBezTo>
                  <a:cubicBezTo>
                    <a:pt x="236" y="23"/>
                    <a:pt x="347" y="28"/>
                    <a:pt x="458" y="32"/>
                  </a:cubicBezTo>
                  <a:lnTo>
                    <a:pt x="560" y="32"/>
                  </a:lnTo>
                  <a:cubicBezTo>
                    <a:pt x="374" y="30"/>
                    <a:pt x="185" y="19"/>
                    <a:pt x="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5" name="Google Shape;345;p32"/>
            <p:cNvSpPr/>
            <p:nvPr/>
          </p:nvSpPr>
          <p:spPr>
            <a:xfrm>
              <a:off x="3401875" y="3038875"/>
              <a:ext cx="10400" cy="1800"/>
            </a:xfrm>
            <a:custGeom>
              <a:avLst/>
              <a:gdLst/>
              <a:ahLst/>
              <a:cxnLst/>
              <a:rect l="l" t="t" r="r" b="b"/>
              <a:pathLst>
                <a:path w="416" h="72" extrusionOk="0">
                  <a:moveTo>
                    <a:pt x="416" y="1"/>
                  </a:moveTo>
                  <a:lnTo>
                    <a:pt x="416" y="1"/>
                  </a:lnTo>
                  <a:cubicBezTo>
                    <a:pt x="279" y="29"/>
                    <a:pt x="142" y="55"/>
                    <a:pt x="0" y="71"/>
                  </a:cubicBezTo>
                  <a:cubicBezTo>
                    <a:pt x="98" y="60"/>
                    <a:pt x="197" y="49"/>
                    <a:pt x="292" y="31"/>
                  </a:cubicBezTo>
                  <a:cubicBezTo>
                    <a:pt x="334" y="23"/>
                    <a:pt x="373" y="10"/>
                    <a:pt x="41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6" name="Google Shape;346;p32"/>
            <p:cNvSpPr/>
            <p:nvPr/>
          </p:nvSpPr>
          <p:spPr>
            <a:xfrm>
              <a:off x="3420675" y="3034350"/>
              <a:ext cx="7975" cy="2450"/>
            </a:xfrm>
            <a:custGeom>
              <a:avLst/>
              <a:gdLst/>
              <a:ahLst/>
              <a:cxnLst/>
              <a:rect l="l" t="t" r="r" b="b"/>
              <a:pathLst>
                <a:path w="319" h="98" extrusionOk="0">
                  <a:moveTo>
                    <a:pt x="318" y="1"/>
                  </a:moveTo>
                  <a:cubicBezTo>
                    <a:pt x="310" y="4"/>
                    <a:pt x="301" y="7"/>
                    <a:pt x="292" y="10"/>
                  </a:cubicBezTo>
                  <a:lnTo>
                    <a:pt x="292" y="10"/>
                  </a:lnTo>
                  <a:cubicBezTo>
                    <a:pt x="301" y="7"/>
                    <a:pt x="310" y="4"/>
                    <a:pt x="318" y="1"/>
                  </a:cubicBezTo>
                  <a:close/>
                  <a:moveTo>
                    <a:pt x="292" y="10"/>
                  </a:moveTo>
                  <a:cubicBezTo>
                    <a:pt x="201" y="42"/>
                    <a:pt x="106" y="68"/>
                    <a:pt x="11" y="95"/>
                  </a:cubicBezTo>
                  <a:lnTo>
                    <a:pt x="11" y="95"/>
                  </a:lnTo>
                  <a:cubicBezTo>
                    <a:pt x="66" y="79"/>
                    <a:pt x="125" y="70"/>
                    <a:pt x="180" y="53"/>
                  </a:cubicBezTo>
                  <a:cubicBezTo>
                    <a:pt x="220" y="40"/>
                    <a:pt x="255" y="24"/>
                    <a:pt x="292" y="10"/>
                  </a:cubicBezTo>
                  <a:close/>
                  <a:moveTo>
                    <a:pt x="11" y="95"/>
                  </a:moveTo>
                  <a:cubicBezTo>
                    <a:pt x="7" y="96"/>
                    <a:pt x="4" y="97"/>
                    <a:pt x="1" y="97"/>
                  </a:cubicBezTo>
                  <a:cubicBezTo>
                    <a:pt x="4" y="97"/>
                    <a:pt x="7" y="96"/>
                    <a:pt x="11" y="95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7" name="Google Shape;347;p32"/>
            <p:cNvSpPr/>
            <p:nvPr/>
          </p:nvSpPr>
          <p:spPr>
            <a:xfrm>
              <a:off x="3215975" y="2931500"/>
              <a:ext cx="104225" cy="79400"/>
            </a:xfrm>
            <a:custGeom>
              <a:avLst/>
              <a:gdLst/>
              <a:ahLst/>
              <a:cxnLst/>
              <a:rect l="l" t="t" r="r" b="b"/>
              <a:pathLst>
                <a:path w="4169" h="3176" extrusionOk="0">
                  <a:moveTo>
                    <a:pt x="2143" y="1"/>
                  </a:moveTo>
                  <a:lnTo>
                    <a:pt x="0" y="1245"/>
                  </a:lnTo>
                  <a:lnTo>
                    <a:pt x="3343" y="3175"/>
                  </a:lnTo>
                  <a:lnTo>
                    <a:pt x="3325" y="3064"/>
                  </a:lnTo>
                  <a:lnTo>
                    <a:pt x="3328" y="2456"/>
                  </a:lnTo>
                  <a:lnTo>
                    <a:pt x="3328" y="2453"/>
                  </a:lnTo>
                  <a:lnTo>
                    <a:pt x="3328" y="2449"/>
                  </a:lnTo>
                  <a:cubicBezTo>
                    <a:pt x="3328" y="1990"/>
                    <a:pt x="3616" y="1537"/>
                    <a:pt x="4169" y="1170"/>
                  </a:cubicBezTo>
                  <a:lnTo>
                    <a:pt x="214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8" name="Google Shape;348;p32"/>
            <p:cNvSpPr/>
            <p:nvPr/>
          </p:nvSpPr>
          <p:spPr>
            <a:xfrm>
              <a:off x="3341250" y="3034950"/>
              <a:ext cx="9600" cy="2950"/>
            </a:xfrm>
            <a:custGeom>
              <a:avLst/>
              <a:gdLst/>
              <a:ahLst/>
              <a:cxnLst/>
              <a:rect l="l" t="t" r="r" b="b"/>
              <a:pathLst>
                <a:path w="384" h="118" extrusionOk="0">
                  <a:moveTo>
                    <a:pt x="1" y="1"/>
                  </a:moveTo>
                  <a:lnTo>
                    <a:pt x="12" y="7"/>
                  </a:lnTo>
                  <a:cubicBezTo>
                    <a:pt x="78" y="31"/>
                    <a:pt x="145" y="56"/>
                    <a:pt x="214" y="76"/>
                  </a:cubicBezTo>
                  <a:cubicBezTo>
                    <a:pt x="262" y="88"/>
                    <a:pt x="312" y="99"/>
                    <a:pt x="361" y="112"/>
                  </a:cubicBezTo>
                  <a:lnTo>
                    <a:pt x="361" y="112"/>
                  </a:lnTo>
                  <a:cubicBezTo>
                    <a:pt x="237" y="80"/>
                    <a:pt x="119" y="41"/>
                    <a:pt x="1" y="1"/>
                  </a:cubicBezTo>
                  <a:close/>
                  <a:moveTo>
                    <a:pt x="361" y="112"/>
                  </a:moveTo>
                  <a:cubicBezTo>
                    <a:pt x="369" y="114"/>
                    <a:pt x="376" y="115"/>
                    <a:pt x="384" y="117"/>
                  </a:cubicBezTo>
                  <a:cubicBezTo>
                    <a:pt x="376" y="115"/>
                    <a:pt x="369" y="114"/>
                    <a:pt x="361" y="112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9" name="Google Shape;349;p32"/>
            <p:cNvSpPr/>
            <p:nvPr/>
          </p:nvSpPr>
          <p:spPr>
            <a:xfrm>
              <a:off x="3379575" y="3037000"/>
              <a:ext cx="143350" cy="87475"/>
            </a:xfrm>
            <a:custGeom>
              <a:avLst/>
              <a:gdLst/>
              <a:ahLst/>
              <a:cxnLst/>
              <a:rect l="l" t="t" r="r" b="b"/>
              <a:pathLst>
                <a:path w="5734" h="3499" extrusionOk="0">
                  <a:moveTo>
                    <a:pt x="2909" y="0"/>
                  </a:moveTo>
                  <a:lnTo>
                    <a:pt x="2814" y="76"/>
                  </a:lnTo>
                  <a:cubicBezTo>
                    <a:pt x="2775" y="104"/>
                    <a:pt x="2732" y="131"/>
                    <a:pt x="2690" y="159"/>
                  </a:cubicBezTo>
                  <a:lnTo>
                    <a:pt x="2606" y="213"/>
                  </a:lnTo>
                  <a:lnTo>
                    <a:pt x="2564" y="239"/>
                  </a:lnTo>
                  <a:cubicBezTo>
                    <a:pt x="2418" y="324"/>
                    <a:pt x="2258" y="396"/>
                    <a:pt x="2093" y="462"/>
                  </a:cubicBezTo>
                  <a:cubicBezTo>
                    <a:pt x="2049" y="480"/>
                    <a:pt x="2004" y="497"/>
                    <a:pt x="1960" y="513"/>
                  </a:cubicBezTo>
                  <a:cubicBezTo>
                    <a:pt x="1915" y="529"/>
                    <a:pt x="1868" y="539"/>
                    <a:pt x="1822" y="555"/>
                  </a:cubicBezTo>
                  <a:cubicBezTo>
                    <a:pt x="1764" y="574"/>
                    <a:pt x="1703" y="593"/>
                    <a:pt x="1642" y="610"/>
                  </a:cubicBezTo>
                  <a:cubicBezTo>
                    <a:pt x="1531" y="641"/>
                    <a:pt x="1420" y="671"/>
                    <a:pt x="1306" y="693"/>
                  </a:cubicBezTo>
                  <a:cubicBezTo>
                    <a:pt x="1265" y="702"/>
                    <a:pt x="1224" y="707"/>
                    <a:pt x="1182" y="715"/>
                  </a:cubicBezTo>
                  <a:cubicBezTo>
                    <a:pt x="1086" y="733"/>
                    <a:pt x="990" y="752"/>
                    <a:pt x="890" y="765"/>
                  </a:cubicBezTo>
                  <a:lnTo>
                    <a:pt x="794" y="779"/>
                  </a:lnTo>
                  <a:lnTo>
                    <a:pt x="752" y="781"/>
                  </a:lnTo>
                  <a:cubicBezTo>
                    <a:pt x="627" y="793"/>
                    <a:pt x="503" y="798"/>
                    <a:pt x="376" y="801"/>
                  </a:cubicBezTo>
                  <a:cubicBezTo>
                    <a:pt x="325" y="803"/>
                    <a:pt x="275" y="809"/>
                    <a:pt x="224" y="810"/>
                  </a:cubicBezTo>
                  <a:lnTo>
                    <a:pt x="133" y="810"/>
                  </a:lnTo>
                  <a:lnTo>
                    <a:pt x="30" y="804"/>
                  </a:lnTo>
                  <a:lnTo>
                    <a:pt x="1" y="803"/>
                  </a:lnTo>
                  <a:lnTo>
                    <a:pt x="1" y="803"/>
                  </a:lnTo>
                  <a:lnTo>
                    <a:pt x="2523" y="2260"/>
                  </a:lnTo>
                  <a:lnTo>
                    <a:pt x="2518" y="3498"/>
                  </a:lnTo>
                  <a:lnTo>
                    <a:pt x="5733" y="1631"/>
                  </a:lnTo>
                  <a:lnTo>
                    <a:pt x="290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0" name="Google Shape;350;p32"/>
            <p:cNvSpPr/>
            <p:nvPr/>
          </p:nvSpPr>
          <p:spPr>
            <a:xfrm>
              <a:off x="2570875" y="3219800"/>
              <a:ext cx="456525" cy="279025"/>
            </a:xfrm>
            <a:custGeom>
              <a:avLst/>
              <a:gdLst/>
              <a:ahLst/>
              <a:cxnLst/>
              <a:rect l="l" t="t" r="r" b="b"/>
              <a:pathLst>
                <a:path w="18261" h="11161" extrusionOk="0">
                  <a:moveTo>
                    <a:pt x="2" y="1"/>
                  </a:moveTo>
                  <a:lnTo>
                    <a:pt x="1" y="619"/>
                  </a:lnTo>
                  <a:lnTo>
                    <a:pt x="18261" y="11160"/>
                  </a:lnTo>
                  <a:lnTo>
                    <a:pt x="18261" y="10543"/>
                  </a:lnTo>
                  <a:lnTo>
                    <a:pt x="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1" name="Google Shape;351;p32"/>
            <p:cNvSpPr/>
            <p:nvPr/>
          </p:nvSpPr>
          <p:spPr>
            <a:xfrm>
              <a:off x="3027375" y="3136375"/>
              <a:ext cx="597050" cy="362450"/>
            </a:xfrm>
            <a:custGeom>
              <a:avLst/>
              <a:gdLst/>
              <a:ahLst/>
              <a:cxnLst/>
              <a:rect l="l" t="t" r="r" b="b"/>
              <a:pathLst>
                <a:path w="23882" h="14498" extrusionOk="0">
                  <a:moveTo>
                    <a:pt x="23882" y="1"/>
                  </a:moveTo>
                  <a:lnTo>
                    <a:pt x="1" y="13880"/>
                  </a:lnTo>
                  <a:lnTo>
                    <a:pt x="1" y="14497"/>
                  </a:lnTo>
                  <a:lnTo>
                    <a:pt x="23881" y="619"/>
                  </a:lnTo>
                  <a:lnTo>
                    <a:pt x="2388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2" name="Google Shape;352;p32"/>
            <p:cNvSpPr/>
            <p:nvPr/>
          </p:nvSpPr>
          <p:spPr>
            <a:xfrm>
              <a:off x="2570925" y="2872825"/>
              <a:ext cx="1053500" cy="610550"/>
            </a:xfrm>
            <a:custGeom>
              <a:avLst/>
              <a:gdLst/>
              <a:ahLst/>
              <a:cxnLst/>
              <a:rect l="l" t="t" r="r" b="b"/>
              <a:pathLst>
                <a:path w="42140" h="24422" extrusionOk="0">
                  <a:moveTo>
                    <a:pt x="23881" y="1"/>
                  </a:moveTo>
                  <a:lnTo>
                    <a:pt x="0" y="13880"/>
                  </a:lnTo>
                  <a:lnTo>
                    <a:pt x="18259" y="24422"/>
                  </a:lnTo>
                  <a:lnTo>
                    <a:pt x="42140" y="10543"/>
                  </a:lnTo>
                  <a:lnTo>
                    <a:pt x="38079" y="8198"/>
                  </a:lnTo>
                  <a:lnTo>
                    <a:pt x="34864" y="10065"/>
                  </a:lnTo>
                  <a:lnTo>
                    <a:pt x="34862" y="11171"/>
                  </a:lnTo>
                  <a:lnTo>
                    <a:pt x="17202" y="21456"/>
                  </a:lnTo>
                  <a:lnTo>
                    <a:pt x="4738" y="14261"/>
                  </a:lnTo>
                  <a:lnTo>
                    <a:pt x="4744" y="11916"/>
                  </a:lnTo>
                  <a:lnTo>
                    <a:pt x="22406" y="1630"/>
                  </a:lnTo>
                  <a:lnTo>
                    <a:pt x="25802" y="3592"/>
                  </a:lnTo>
                  <a:lnTo>
                    <a:pt x="27945" y="2348"/>
                  </a:lnTo>
                  <a:lnTo>
                    <a:pt x="2388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3" name="Google Shape;353;p32"/>
            <p:cNvSpPr/>
            <p:nvPr/>
          </p:nvSpPr>
          <p:spPr>
            <a:xfrm>
              <a:off x="3341550" y="2993150"/>
              <a:ext cx="126750" cy="64125"/>
            </a:xfrm>
            <a:custGeom>
              <a:avLst/>
              <a:gdLst/>
              <a:ahLst/>
              <a:cxnLst/>
              <a:rect l="l" t="t" r="r" b="b"/>
              <a:pathLst>
                <a:path w="5070" h="2565" extrusionOk="0">
                  <a:moveTo>
                    <a:pt x="5069" y="0"/>
                  </a:moveTo>
                  <a:lnTo>
                    <a:pt x="5068" y="31"/>
                  </a:lnTo>
                  <a:lnTo>
                    <a:pt x="5061" y="94"/>
                  </a:lnTo>
                  <a:lnTo>
                    <a:pt x="5059" y="111"/>
                  </a:lnTo>
                  <a:lnTo>
                    <a:pt x="5053" y="181"/>
                  </a:lnTo>
                  <a:lnTo>
                    <a:pt x="5048" y="205"/>
                  </a:lnTo>
                  <a:lnTo>
                    <a:pt x="5047" y="225"/>
                  </a:lnTo>
                  <a:lnTo>
                    <a:pt x="5026" y="291"/>
                  </a:lnTo>
                  <a:lnTo>
                    <a:pt x="5025" y="297"/>
                  </a:lnTo>
                  <a:lnTo>
                    <a:pt x="5008" y="368"/>
                  </a:lnTo>
                  <a:lnTo>
                    <a:pt x="4997" y="395"/>
                  </a:lnTo>
                  <a:lnTo>
                    <a:pt x="4992" y="414"/>
                  </a:lnTo>
                  <a:lnTo>
                    <a:pt x="4965" y="472"/>
                  </a:lnTo>
                  <a:lnTo>
                    <a:pt x="4961" y="480"/>
                  </a:lnTo>
                  <a:lnTo>
                    <a:pt x="4931" y="550"/>
                  </a:lnTo>
                  <a:lnTo>
                    <a:pt x="4913" y="582"/>
                  </a:lnTo>
                  <a:lnTo>
                    <a:pt x="4901" y="607"/>
                  </a:lnTo>
                  <a:lnTo>
                    <a:pt x="4870" y="653"/>
                  </a:lnTo>
                  <a:lnTo>
                    <a:pt x="4865" y="662"/>
                  </a:lnTo>
                  <a:lnTo>
                    <a:pt x="4824" y="729"/>
                  </a:lnTo>
                  <a:lnTo>
                    <a:pt x="4787" y="776"/>
                  </a:lnTo>
                  <a:lnTo>
                    <a:pt x="4765" y="808"/>
                  </a:lnTo>
                  <a:lnTo>
                    <a:pt x="4737" y="839"/>
                  </a:lnTo>
                  <a:lnTo>
                    <a:pt x="4734" y="842"/>
                  </a:lnTo>
                  <a:lnTo>
                    <a:pt x="4686" y="902"/>
                  </a:lnTo>
                  <a:lnTo>
                    <a:pt x="4588" y="999"/>
                  </a:lnTo>
                  <a:lnTo>
                    <a:pt x="4556" y="1032"/>
                  </a:lnTo>
                  <a:lnTo>
                    <a:pt x="4537" y="1048"/>
                  </a:lnTo>
                  <a:lnTo>
                    <a:pt x="4518" y="1068"/>
                  </a:lnTo>
                  <a:cubicBezTo>
                    <a:pt x="4462" y="1117"/>
                    <a:pt x="4402" y="1164"/>
                    <a:pt x="4338" y="1210"/>
                  </a:cubicBezTo>
                  <a:lnTo>
                    <a:pt x="4318" y="1227"/>
                  </a:lnTo>
                  <a:cubicBezTo>
                    <a:pt x="4280" y="1253"/>
                    <a:pt x="4238" y="1278"/>
                    <a:pt x="4198" y="1304"/>
                  </a:cubicBezTo>
                  <a:lnTo>
                    <a:pt x="4129" y="1350"/>
                  </a:lnTo>
                  <a:lnTo>
                    <a:pt x="4088" y="1375"/>
                  </a:lnTo>
                  <a:cubicBezTo>
                    <a:pt x="3939" y="1459"/>
                    <a:pt x="3780" y="1532"/>
                    <a:pt x="3615" y="1598"/>
                  </a:cubicBezTo>
                  <a:cubicBezTo>
                    <a:pt x="3571" y="1616"/>
                    <a:pt x="3527" y="1632"/>
                    <a:pt x="3484" y="1649"/>
                  </a:cubicBezTo>
                  <a:cubicBezTo>
                    <a:pt x="3436" y="1665"/>
                    <a:pt x="3394" y="1685"/>
                    <a:pt x="3345" y="1701"/>
                  </a:cubicBezTo>
                  <a:cubicBezTo>
                    <a:pt x="3287" y="1719"/>
                    <a:pt x="3224" y="1729"/>
                    <a:pt x="3166" y="1745"/>
                  </a:cubicBezTo>
                  <a:cubicBezTo>
                    <a:pt x="3053" y="1777"/>
                    <a:pt x="2943" y="1806"/>
                    <a:pt x="2829" y="1830"/>
                  </a:cubicBezTo>
                  <a:cubicBezTo>
                    <a:pt x="2786" y="1839"/>
                    <a:pt x="2747" y="1852"/>
                    <a:pt x="2705" y="1860"/>
                  </a:cubicBezTo>
                  <a:cubicBezTo>
                    <a:pt x="2610" y="1878"/>
                    <a:pt x="2511" y="1889"/>
                    <a:pt x="2413" y="1900"/>
                  </a:cubicBezTo>
                  <a:lnTo>
                    <a:pt x="2317" y="1914"/>
                  </a:lnTo>
                  <a:lnTo>
                    <a:pt x="2274" y="1920"/>
                  </a:lnTo>
                  <a:cubicBezTo>
                    <a:pt x="2149" y="1932"/>
                    <a:pt x="2024" y="1940"/>
                    <a:pt x="1899" y="1945"/>
                  </a:cubicBezTo>
                  <a:cubicBezTo>
                    <a:pt x="1874" y="1946"/>
                    <a:pt x="1848" y="1946"/>
                    <a:pt x="1823" y="1946"/>
                  </a:cubicBezTo>
                  <a:cubicBezTo>
                    <a:pt x="1797" y="1946"/>
                    <a:pt x="1772" y="1946"/>
                    <a:pt x="1746" y="1947"/>
                  </a:cubicBezTo>
                  <a:lnTo>
                    <a:pt x="1553" y="1947"/>
                  </a:lnTo>
                  <a:cubicBezTo>
                    <a:pt x="1442" y="1943"/>
                    <a:pt x="1331" y="1938"/>
                    <a:pt x="1220" y="1929"/>
                  </a:cubicBezTo>
                  <a:cubicBezTo>
                    <a:pt x="1177" y="1925"/>
                    <a:pt x="1135" y="1920"/>
                    <a:pt x="1095" y="1915"/>
                  </a:cubicBezTo>
                  <a:lnTo>
                    <a:pt x="1011" y="1905"/>
                  </a:lnTo>
                  <a:cubicBezTo>
                    <a:pt x="972" y="1900"/>
                    <a:pt x="931" y="1898"/>
                    <a:pt x="891" y="1893"/>
                  </a:cubicBezTo>
                  <a:cubicBezTo>
                    <a:pt x="777" y="1876"/>
                    <a:pt x="666" y="1857"/>
                    <a:pt x="555" y="1834"/>
                  </a:cubicBezTo>
                  <a:lnTo>
                    <a:pt x="467" y="1812"/>
                  </a:lnTo>
                  <a:lnTo>
                    <a:pt x="372" y="1789"/>
                  </a:lnTo>
                  <a:cubicBezTo>
                    <a:pt x="315" y="1775"/>
                    <a:pt x="257" y="1762"/>
                    <a:pt x="202" y="1748"/>
                  </a:cubicBezTo>
                  <a:cubicBezTo>
                    <a:pt x="133" y="1728"/>
                    <a:pt x="66" y="1703"/>
                    <a:pt x="0" y="1679"/>
                  </a:cubicBezTo>
                  <a:lnTo>
                    <a:pt x="0" y="1679"/>
                  </a:lnTo>
                  <a:lnTo>
                    <a:pt x="1522" y="2557"/>
                  </a:lnTo>
                  <a:lnTo>
                    <a:pt x="1551" y="2558"/>
                  </a:lnTo>
                  <a:lnTo>
                    <a:pt x="1654" y="2564"/>
                  </a:lnTo>
                  <a:lnTo>
                    <a:pt x="1745" y="2564"/>
                  </a:lnTo>
                  <a:cubicBezTo>
                    <a:pt x="1796" y="2563"/>
                    <a:pt x="1846" y="2557"/>
                    <a:pt x="1897" y="2555"/>
                  </a:cubicBezTo>
                  <a:cubicBezTo>
                    <a:pt x="2024" y="2552"/>
                    <a:pt x="2148" y="2547"/>
                    <a:pt x="2272" y="2535"/>
                  </a:cubicBezTo>
                  <a:lnTo>
                    <a:pt x="2315" y="2533"/>
                  </a:lnTo>
                  <a:lnTo>
                    <a:pt x="2411" y="2519"/>
                  </a:lnTo>
                  <a:cubicBezTo>
                    <a:pt x="2511" y="2506"/>
                    <a:pt x="2607" y="2487"/>
                    <a:pt x="2703" y="2469"/>
                  </a:cubicBezTo>
                  <a:cubicBezTo>
                    <a:pt x="2745" y="2461"/>
                    <a:pt x="2786" y="2456"/>
                    <a:pt x="2827" y="2447"/>
                  </a:cubicBezTo>
                  <a:cubicBezTo>
                    <a:pt x="2941" y="2425"/>
                    <a:pt x="3052" y="2395"/>
                    <a:pt x="3163" y="2364"/>
                  </a:cubicBezTo>
                  <a:cubicBezTo>
                    <a:pt x="3224" y="2347"/>
                    <a:pt x="3285" y="2328"/>
                    <a:pt x="3343" y="2309"/>
                  </a:cubicBezTo>
                  <a:cubicBezTo>
                    <a:pt x="3389" y="2293"/>
                    <a:pt x="3436" y="2283"/>
                    <a:pt x="3481" y="2267"/>
                  </a:cubicBezTo>
                  <a:cubicBezTo>
                    <a:pt x="3525" y="2251"/>
                    <a:pt x="3570" y="2234"/>
                    <a:pt x="3614" y="2216"/>
                  </a:cubicBezTo>
                  <a:cubicBezTo>
                    <a:pt x="3779" y="2150"/>
                    <a:pt x="3939" y="2078"/>
                    <a:pt x="4085" y="1993"/>
                  </a:cubicBezTo>
                  <a:lnTo>
                    <a:pt x="4127" y="1967"/>
                  </a:lnTo>
                  <a:lnTo>
                    <a:pt x="4211" y="1913"/>
                  </a:lnTo>
                  <a:cubicBezTo>
                    <a:pt x="4253" y="1885"/>
                    <a:pt x="4296" y="1858"/>
                    <a:pt x="4335" y="1830"/>
                  </a:cubicBezTo>
                  <a:lnTo>
                    <a:pt x="4430" y="1754"/>
                  </a:lnTo>
                  <a:lnTo>
                    <a:pt x="4533" y="1668"/>
                  </a:lnTo>
                  <a:lnTo>
                    <a:pt x="4554" y="1649"/>
                  </a:lnTo>
                  <a:lnTo>
                    <a:pt x="4588" y="1615"/>
                  </a:lnTo>
                  <a:cubicBezTo>
                    <a:pt x="4640" y="1565"/>
                    <a:pt x="4688" y="1513"/>
                    <a:pt x="4731" y="1461"/>
                  </a:cubicBezTo>
                  <a:lnTo>
                    <a:pt x="4764" y="1420"/>
                  </a:lnTo>
                  <a:lnTo>
                    <a:pt x="4788" y="1390"/>
                  </a:lnTo>
                  <a:lnTo>
                    <a:pt x="4865" y="1277"/>
                  </a:lnTo>
                  <a:lnTo>
                    <a:pt x="4901" y="1219"/>
                  </a:lnTo>
                  <a:lnTo>
                    <a:pt x="4913" y="1198"/>
                  </a:lnTo>
                  <a:lnTo>
                    <a:pt x="4961" y="1094"/>
                  </a:lnTo>
                  <a:lnTo>
                    <a:pt x="4989" y="1027"/>
                  </a:lnTo>
                  <a:lnTo>
                    <a:pt x="4996" y="1012"/>
                  </a:lnTo>
                  <a:lnTo>
                    <a:pt x="5024" y="911"/>
                  </a:lnTo>
                  <a:lnTo>
                    <a:pt x="5044" y="833"/>
                  </a:lnTo>
                  <a:lnTo>
                    <a:pt x="5047" y="824"/>
                  </a:lnTo>
                  <a:lnTo>
                    <a:pt x="5058" y="721"/>
                  </a:lnTo>
                  <a:lnTo>
                    <a:pt x="5067" y="623"/>
                  </a:lnTo>
                  <a:lnTo>
                    <a:pt x="5067" y="619"/>
                  </a:lnTo>
                  <a:lnTo>
                    <a:pt x="506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4" name="Google Shape;354;p32"/>
            <p:cNvSpPr/>
            <p:nvPr/>
          </p:nvSpPr>
          <p:spPr>
            <a:xfrm>
              <a:off x="3299100" y="2992900"/>
              <a:ext cx="11525" cy="24350"/>
            </a:xfrm>
            <a:custGeom>
              <a:avLst/>
              <a:gdLst/>
              <a:ahLst/>
              <a:cxnLst/>
              <a:rect l="l" t="t" r="r" b="b"/>
              <a:pathLst>
                <a:path w="461" h="974" extrusionOk="0">
                  <a:moveTo>
                    <a:pt x="3" y="0"/>
                  </a:moveTo>
                  <a:lnTo>
                    <a:pt x="0" y="608"/>
                  </a:lnTo>
                  <a:lnTo>
                    <a:pt x="18" y="719"/>
                  </a:lnTo>
                  <a:lnTo>
                    <a:pt x="461" y="974"/>
                  </a:lnTo>
                  <a:lnTo>
                    <a:pt x="393" y="909"/>
                  </a:lnTo>
                  <a:lnTo>
                    <a:pt x="341" y="841"/>
                  </a:lnTo>
                  <a:lnTo>
                    <a:pt x="253" y="733"/>
                  </a:lnTo>
                  <a:lnTo>
                    <a:pt x="210" y="664"/>
                  </a:lnTo>
                  <a:lnTo>
                    <a:pt x="143" y="553"/>
                  </a:lnTo>
                  <a:lnTo>
                    <a:pt x="114" y="483"/>
                  </a:lnTo>
                  <a:lnTo>
                    <a:pt x="65" y="369"/>
                  </a:lnTo>
                  <a:lnTo>
                    <a:pt x="48" y="301"/>
                  </a:lnTo>
                  <a:cubicBezTo>
                    <a:pt x="36" y="261"/>
                    <a:pt x="25" y="222"/>
                    <a:pt x="18" y="181"/>
                  </a:cubicBezTo>
                  <a:lnTo>
                    <a:pt x="13" y="116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4B515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5" name="Google Shape;355;p32"/>
            <p:cNvSpPr/>
            <p:nvPr/>
          </p:nvSpPr>
          <p:spPr>
            <a:xfrm>
              <a:off x="3299150" y="2943900"/>
              <a:ext cx="170225" cy="97925"/>
            </a:xfrm>
            <a:custGeom>
              <a:avLst/>
              <a:gdLst/>
              <a:ahLst/>
              <a:cxnLst/>
              <a:rect l="l" t="t" r="r" b="b"/>
              <a:pathLst>
                <a:path w="6809" h="3917" extrusionOk="0">
                  <a:moveTo>
                    <a:pt x="3380" y="1404"/>
                  </a:moveTo>
                  <a:cubicBezTo>
                    <a:pt x="3626" y="1404"/>
                    <a:pt x="3872" y="1458"/>
                    <a:pt x="4060" y="1566"/>
                  </a:cubicBezTo>
                  <a:cubicBezTo>
                    <a:pt x="4437" y="1784"/>
                    <a:pt x="4437" y="2134"/>
                    <a:pt x="4064" y="2352"/>
                  </a:cubicBezTo>
                  <a:cubicBezTo>
                    <a:pt x="3876" y="2461"/>
                    <a:pt x="3630" y="2516"/>
                    <a:pt x="3384" y="2516"/>
                  </a:cubicBezTo>
                  <a:cubicBezTo>
                    <a:pt x="3139" y="2516"/>
                    <a:pt x="2894" y="2462"/>
                    <a:pt x="2706" y="2353"/>
                  </a:cubicBezTo>
                  <a:cubicBezTo>
                    <a:pt x="2331" y="2137"/>
                    <a:pt x="2328" y="1785"/>
                    <a:pt x="2703" y="1566"/>
                  </a:cubicBezTo>
                  <a:cubicBezTo>
                    <a:pt x="2890" y="1458"/>
                    <a:pt x="3135" y="1404"/>
                    <a:pt x="3380" y="1404"/>
                  </a:cubicBezTo>
                  <a:close/>
                  <a:moveTo>
                    <a:pt x="3368" y="0"/>
                  </a:moveTo>
                  <a:cubicBezTo>
                    <a:pt x="2504" y="0"/>
                    <a:pt x="1641" y="191"/>
                    <a:pt x="984" y="572"/>
                  </a:cubicBezTo>
                  <a:cubicBezTo>
                    <a:pt x="929" y="604"/>
                    <a:pt x="891" y="642"/>
                    <a:pt x="842" y="674"/>
                  </a:cubicBezTo>
                  <a:cubicBezTo>
                    <a:pt x="289" y="1041"/>
                    <a:pt x="1" y="1494"/>
                    <a:pt x="1" y="1953"/>
                  </a:cubicBezTo>
                  <a:lnTo>
                    <a:pt x="1" y="1957"/>
                  </a:lnTo>
                  <a:lnTo>
                    <a:pt x="1" y="1960"/>
                  </a:lnTo>
                  <a:lnTo>
                    <a:pt x="11" y="2076"/>
                  </a:lnTo>
                  <a:lnTo>
                    <a:pt x="16" y="2141"/>
                  </a:lnTo>
                  <a:cubicBezTo>
                    <a:pt x="23" y="2182"/>
                    <a:pt x="35" y="2221"/>
                    <a:pt x="46" y="2261"/>
                  </a:cubicBezTo>
                  <a:lnTo>
                    <a:pt x="63" y="2329"/>
                  </a:lnTo>
                  <a:lnTo>
                    <a:pt x="112" y="2443"/>
                  </a:lnTo>
                  <a:lnTo>
                    <a:pt x="142" y="2513"/>
                  </a:lnTo>
                  <a:lnTo>
                    <a:pt x="208" y="2624"/>
                  </a:lnTo>
                  <a:lnTo>
                    <a:pt x="251" y="2693"/>
                  </a:lnTo>
                  <a:lnTo>
                    <a:pt x="339" y="2801"/>
                  </a:lnTo>
                  <a:lnTo>
                    <a:pt x="391" y="2869"/>
                  </a:lnTo>
                  <a:lnTo>
                    <a:pt x="459" y="2934"/>
                  </a:lnTo>
                  <a:lnTo>
                    <a:pt x="1685" y="3643"/>
                  </a:lnTo>
                  <a:cubicBezTo>
                    <a:pt x="1810" y="3685"/>
                    <a:pt x="1935" y="3727"/>
                    <a:pt x="2068" y="3759"/>
                  </a:cubicBezTo>
                  <a:lnTo>
                    <a:pt x="2163" y="3782"/>
                  </a:lnTo>
                  <a:cubicBezTo>
                    <a:pt x="2341" y="3822"/>
                    <a:pt x="2523" y="3854"/>
                    <a:pt x="2708" y="3875"/>
                  </a:cubicBezTo>
                  <a:lnTo>
                    <a:pt x="2791" y="3885"/>
                  </a:lnTo>
                  <a:cubicBezTo>
                    <a:pt x="2976" y="3904"/>
                    <a:pt x="3165" y="3915"/>
                    <a:pt x="3351" y="3917"/>
                  </a:cubicBezTo>
                  <a:lnTo>
                    <a:pt x="3442" y="3917"/>
                  </a:lnTo>
                  <a:cubicBezTo>
                    <a:pt x="3634" y="3914"/>
                    <a:pt x="3824" y="3904"/>
                    <a:pt x="4013" y="3884"/>
                  </a:cubicBezTo>
                  <a:lnTo>
                    <a:pt x="4109" y="3870"/>
                  </a:lnTo>
                  <a:cubicBezTo>
                    <a:pt x="4251" y="3854"/>
                    <a:pt x="4388" y="3828"/>
                    <a:pt x="4525" y="3800"/>
                  </a:cubicBezTo>
                  <a:cubicBezTo>
                    <a:pt x="4639" y="3776"/>
                    <a:pt x="4749" y="3747"/>
                    <a:pt x="4862" y="3715"/>
                  </a:cubicBezTo>
                  <a:cubicBezTo>
                    <a:pt x="4970" y="3685"/>
                    <a:pt x="5077" y="3656"/>
                    <a:pt x="5180" y="3619"/>
                  </a:cubicBezTo>
                  <a:cubicBezTo>
                    <a:pt x="5223" y="3602"/>
                    <a:pt x="5267" y="3586"/>
                    <a:pt x="5311" y="3568"/>
                  </a:cubicBezTo>
                  <a:cubicBezTo>
                    <a:pt x="5476" y="3502"/>
                    <a:pt x="5635" y="3429"/>
                    <a:pt x="5784" y="3345"/>
                  </a:cubicBezTo>
                  <a:lnTo>
                    <a:pt x="5894" y="3274"/>
                  </a:lnTo>
                  <a:cubicBezTo>
                    <a:pt x="5934" y="3248"/>
                    <a:pt x="5976" y="3223"/>
                    <a:pt x="6014" y="3197"/>
                  </a:cubicBezTo>
                  <a:lnTo>
                    <a:pt x="6034" y="3180"/>
                  </a:lnTo>
                  <a:cubicBezTo>
                    <a:pt x="6098" y="3134"/>
                    <a:pt x="6158" y="3087"/>
                    <a:pt x="6214" y="3038"/>
                  </a:cubicBezTo>
                  <a:lnTo>
                    <a:pt x="6233" y="3018"/>
                  </a:lnTo>
                  <a:cubicBezTo>
                    <a:pt x="6287" y="2970"/>
                    <a:pt x="6337" y="2922"/>
                    <a:pt x="6382" y="2872"/>
                  </a:cubicBezTo>
                  <a:lnTo>
                    <a:pt x="6430" y="2812"/>
                  </a:lnTo>
                  <a:lnTo>
                    <a:pt x="6433" y="2809"/>
                  </a:lnTo>
                  <a:lnTo>
                    <a:pt x="6520" y="2699"/>
                  </a:lnTo>
                  <a:lnTo>
                    <a:pt x="6561" y="2632"/>
                  </a:lnTo>
                  <a:lnTo>
                    <a:pt x="6627" y="2520"/>
                  </a:lnTo>
                  <a:lnTo>
                    <a:pt x="6657" y="2450"/>
                  </a:lnTo>
                  <a:lnTo>
                    <a:pt x="6704" y="2338"/>
                  </a:lnTo>
                  <a:lnTo>
                    <a:pt x="6721" y="2267"/>
                  </a:lnTo>
                  <a:lnTo>
                    <a:pt x="6750" y="2151"/>
                  </a:lnTo>
                  <a:lnTo>
                    <a:pt x="6755" y="2081"/>
                  </a:lnTo>
                  <a:cubicBezTo>
                    <a:pt x="6809" y="1540"/>
                    <a:pt x="6481" y="989"/>
                    <a:pt x="5766" y="575"/>
                  </a:cubicBezTo>
                  <a:cubicBezTo>
                    <a:pt x="5102" y="192"/>
                    <a:pt x="4235" y="0"/>
                    <a:pt x="33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6" name="Google Shape;356;p32"/>
            <p:cNvSpPr/>
            <p:nvPr/>
          </p:nvSpPr>
          <p:spPr>
            <a:xfrm>
              <a:off x="3357350" y="2978975"/>
              <a:ext cx="52750" cy="27850"/>
            </a:xfrm>
            <a:custGeom>
              <a:avLst/>
              <a:gdLst/>
              <a:ahLst/>
              <a:cxnLst/>
              <a:rect l="l" t="t" r="r" b="b"/>
              <a:pathLst>
                <a:path w="2110" h="1114" extrusionOk="0">
                  <a:moveTo>
                    <a:pt x="1052" y="1"/>
                  </a:moveTo>
                  <a:cubicBezTo>
                    <a:pt x="807" y="1"/>
                    <a:pt x="562" y="55"/>
                    <a:pt x="375" y="163"/>
                  </a:cubicBezTo>
                  <a:cubicBezTo>
                    <a:pt x="0" y="382"/>
                    <a:pt x="3" y="734"/>
                    <a:pt x="378" y="950"/>
                  </a:cubicBezTo>
                  <a:cubicBezTo>
                    <a:pt x="566" y="1059"/>
                    <a:pt x="811" y="1113"/>
                    <a:pt x="1056" y="1113"/>
                  </a:cubicBezTo>
                  <a:cubicBezTo>
                    <a:pt x="1302" y="1113"/>
                    <a:pt x="1548" y="1058"/>
                    <a:pt x="1736" y="949"/>
                  </a:cubicBezTo>
                  <a:cubicBezTo>
                    <a:pt x="2109" y="731"/>
                    <a:pt x="2109" y="381"/>
                    <a:pt x="1732" y="163"/>
                  </a:cubicBezTo>
                  <a:cubicBezTo>
                    <a:pt x="1544" y="55"/>
                    <a:pt x="1298" y="1"/>
                    <a:pt x="10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7" name="Google Shape;357;p32"/>
            <p:cNvSpPr/>
            <p:nvPr/>
          </p:nvSpPr>
          <p:spPr>
            <a:xfrm>
              <a:off x="3000975" y="3093475"/>
              <a:ext cx="441675" cy="315775"/>
            </a:xfrm>
            <a:custGeom>
              <a:avLst/>
              <a:gdLst/>
              <a:ahLst/>
              <a:cxnLst/>
              <a:rect l="l" t="t" r="r" b="b"/>
              <a:pathLst>
                <a:path w="17667" h="12631" extrusionOk="0">
                  <a:moveTo>
                    <a:pt x="17667" y="1"/>
                  </a:moveTo>
                  <a:lnTo>
                    <a:pt x="7" y="10286"/>
                  </a:lnTo>
                  <a:lnTo>
                    <a:pt x="0" y="12630"/>
                  </a:lnTo>
                  <a:lnTo>
                    <a:pt x="17660" y="2345"/>
                  </a:lnTo>
                  <a:lnTo>
                    <a:pt x="17662" y="1239"/>
                  </a:lnTo>
                  <a:lnTo>
                    <a:pt x="1766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8" name="Google Shape;358;p32"/>
            <p:cNvSpPr/>
            <p:nvPr/>
          </p:nvSpPr>
          <p:spPr>
            <a:xfrm>
              <a:off x="2689350" y="3170700"/>
              <a:ext cx="311800" cy="238550"/>
            </a:xfrm>
            <a:custGeom>
              <a:avLst/>
              <a:gdLst/>
              <a:ahLst/>
              <a:cxnLst/>
              <a:rect l="l" t="t" r="r" b="b"/>
              <a:pathLst>
                <a:path w="12472" h="9542" extrusionOk="0">
                  <a:moveTo>
                    <a:pt x="7" y="1"/>
                  </a:moveTo>
                  <a:lnTo>
                    <a:pt x="1" y="2346"/>
                  </a:lnTo>
                  <a:lnTo>
                    <a:pt x="12465" y="9541"/>
                  </a:lnTo>
                  <a:lnTo>
                    <a:pt x="12472" y="7197"/>
                  </a:lnTo>
                  <a:lnTo>
                    <a:pt x="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9" name="Google Shape;359;p32"/>
            <p:cNvSpPr/>
            <p:nvPr/>
          </p:nvSpPr>
          <p:spPr>
            <a:xfrm>
              <a:off x="2689525" y="2913575"/>
              <a:ext cx="753125" cy="257150"/>
            </a:xfrm>
            <a:custGeom>
              <a:avLst/>
              <a:gdLst/>
              <a:ahLst/>
              <a:cxnLst/>
              <a:rect l="l" t="t" r="r" b="b"/>
              <a:pathLst>
                <a:path w="30125" h="10286" extrusionOk="0">
                  <a:moveTo>
                    <a:pt x="17662" y="0"/>
                  </a:moveTo>
                  <a:lnTo>
                    <a:pt x="0" y="10286"/>
                  </a:lnTo>
                  <a:lnTo>
                    <a:pt x="0" y="10286"/>
                  </a:lnTo>
                  <a:lnTo>
                    <a:pt x="17660" y="1"/>
                  </a:lnTo>
                  <a:lnTo>
                    <a:pt x="30125" y="7197"/>
                  </a:lnTo>
                  <a:lnTo>
                    <a:pt x="27603" y="5740"/>
                  </a:lnTo>
                  <a:lnTo>
                    <a:pt x="26081" y="4862"/>
                  </a:lnTo>
                  <a:lnTo>
                    <a:pt x="26070" y="4856"/>
                  </a:lnTo>
                  <a:lnTo>
                    <a:pt x="24844" y="4147"/>
                  </a:lnTo>
                  <a:lnTo>
                    <a:pt x="24401" y="3892"/>
                  </a:lnTo>
                  <a:lnTo>
                    <a:pt x="21058" y="1962"/>
                  </a:lnTo>
                  <a:lnTo>
                    <a:pt x="17662" y="0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0" name="Google Shape;360;p32"/>
            <p:cNvSpPr/>
            <p:nvPr/>
          </p:nvSpPr>
          <p:spPr>
            <a:xfrm>
              <a:off x="2689525" y="2913600"/>
              <a:ext cx="753125" cy="437025"/>
            </a:xfrm>
            <a:custGeom>
              <a:avLst/>
              <a:gdLst/>
              <a:ahLst/>
              <a:cxnLst/>
              <a:rect l="l" t="t" r="r" b="b"/>
              <a:pathLst>
                <a:path w="30125" h="17481" extrusionOk="0">
                  <a:moveTo>
                    <a:pt x="17063" y="2437"/>
                  </a:moveTo>
                  <a:lnTo>
                    <a:pt x="17068" y="3041"/>
                  </a:lnTo>
                  <a:lnTo>
                    <a:pt x="18922" y="3043"/>
                  </a:lnTo>
                  <a:lnTo>
                    <a:pt x="18923" y="3445"/>
                  </a:lnTo>
                  <a:lnTo>
                    <a:pt x="16375" y="3447"/>
                  </a:lnTo>
                  <a:lnTo>
                    <a:pt x="16372" y="3445"/>
                  </a:lnTo>
                  <a:lnTo>
                    <a:pt x="16367" y="2437"/>
                  </a:lnTo>
                  <a:close/>
                  <a:moveTo>
                    <a:pt x="14240" y="4077"/>
                  </a:moveTo>
                  <a:lnTo>
                    <a:pt x="14243" y="4683"/>
                  </a:lnTo>
                  <a:lnTo>
                    <a:pt x="16099" y="4683"/>
                  </a:lnTo>
                  <a:lnTo>
                    <a:pt x="16099" y="5087"/>
                  </a:lnTo>
                  <a:lnTo>
                    <a:pt x="13551" y="5087"/>
                  </a:lnTo>
                  <a:lnTo>
                    <a:pt x="13551" y="5086"/>
                  </a:lnTo>
                  <a:lnTo>
                    <a:pt x="13548" y="5087"/>
                  </a:lnTo>
                  <a:lnTo>
                    <a:pt x="13543" y="4079"/>
                  </a:lnTo>
                  <a:lnTo>
                    <a:pt x="14240" y="4077"/>
                  </a:lnTo>
                  <a:close/>
                  <a:moveTo>
                    <a:pt x="20133" y="3305"/>
                  </a:moveTo>
                  <a:lnTo>
                    <a:pt x="26325" y="6881"/>
                  </a:lnTo>
                  <a:lnTo>
                    <a:pt x="25571" y="7319"/>
                  </a:lnTo>
                  <a:lnTo>
                    <a:pt x="19379" y="3744"/>
                  </a:lnTo>
                  <a:lnTo>
                    <a:pt x="20133" y="3305"/>
                  </a:lnTo>
                  <a:close/>
                  <a:moveTo>
                    <a:pt x="18626" y="4181"/>
                  </a:moveTo>
                  <a:lnTo>
                    <a:pt x="24819" y="7756"/>
                  </a:lnTo>
                  <a:lnTo>
                    <a:pt x="24066" y="8194"/>
                  </a:lnTo>
                  <a:lnTo>
                    <a:pt x="17872" y="4619"/>
                  </a:lnTo>
                  <a:lnTo>
                    <a:pt x="18626" y="4181"/>
                  </a:lnTo>
                  <a:close/>
                  <a:moveTo>
                    <a:pt x="13479" y="6183"/>
                  </a:moveTo>
                  <a:cubicBezTo>
                    <a:pt x="13565" y="6183"/>
                    <a:pt x="13652" y="6185"/>
                    <a:pt x="13738" y="6187"/>
                  </a:cubicBezTo>
                  <a:lnTo>
                    <a:pt x="13500" y="8803"/>
                  </a:lnTo>
                  <a:lnTo>
                    <a:pt x="10291" y="6950"/>
                  </a:lnTo>
                  <a:cubicBezTo>
                    <a:pt x="10493" y="6831"/>
                    <a:pt x="10712" y="6728"/>
                    <a:pt x="10940" y="6638"/>
                  </a:cubicBezTo>
                  <a:cubicBezTo>
                    <a:pt x="11702" y="6336"/>
                    <a:pt x="12590" y="6183"/>
                    <a:pt x="13479" y="6183"/>
                  </a:cubicBezTo>
                  <a:close/>
                  <a:moveTo>
                    <a:pt x="17118" y="5058"/>
                  </a:moveTo>
                  <a:lnTo>
                    <a:pt x="23313" y="8634"/>
                  </a:lnTo>
                  <a:lnTo>
                    <a:pt x="22559" y="9072"/>
                  </a:lnTo>
                  <a:lnTo>
                    <a:pt x="16364" y="5496"/>
                  </a:lnTo>
                  <a:lnTo>
                    <a:pt x="17118" y="5058"/>
                  </a:lnTo>
                  <a:close/>
                  <a:moveTo>
                    <a:pt x="19736" y="9791"/>
                  </a:moveTo>
                  <a:cubicBezTo>
                    <a:pt x="19740" y="10463"/>
                    <a:pt x="19302" y="11133"/>
                    <a:pt x="18422" y="11645"/>
                  </a:cubicBezTo>
                  <a:lnTo>
                    <a:pt x="15213" y="9791"/>
                  </a:lnTo>
                  <a:close/>
                  <a:moveTo>
                    <a:pt x="14183" y="6804"/>
                  </a:moveTo>
                  <a:cubicBezTo>
                    <a:pt x="15255" y="6838"/>
                    <a:pt x="16310" y="7092"/>
                    <a:pt x="17132" y="7566"/>
                  </a:cubicBezTo>
                  <a:cubicBezTo>
                    <a:pt x="18018" y="8078"/>
                    <a:pt x="18463" y="8749"/>
                    <a:pt x="18468" y="9419"/>
                  </a:cubicBezTo>
                  <a:lnTo>
                    <a:pt x="13945" y="9419"/>
                  </a:lnTo>
                  <a:lnTo>
                    <a:pt x="15698" y="11837"/>
                  </a:lnTo>
                  <a:cubicBezTo>
                    <a:pt x="15142" y="11972"/>
                    <a:pt x="14549" y="12039"/>
                    <a:pt x="13956" y="12039"/>
                  </a:cubicBezTo>
                  <a:cubicBezTo>
                    <a:pt x="12799" y="12039"/>
                    <a:pt x="11641" y="11783"/>
                    <a:pt x="10756" y="11272"/>
                  </a:cubicBezTo>
                  <a:cubicBezTo>
                    <a:pt x="8983" y="10248"/>
                    <a:pt x="8976" y="8590"/>
                    <a:pt x="10738" y="7566"/>
                  </a:cubicBezTo>
                  <a:lnTo>
                    <a:pt x="10738" y="7566"/>
                  </a:lnTo>
                  <a:lnTo>
                    <a:pt x="13945" y="9419"/>
                  </a:lnTo>
                  <a:lnTo>
                    <a:pt x="14183" y="6804"/>
                  </a:lnTo>
                  <a:close/>
                  <a:moveTo>
                    <a:pt x="14861" y="9995"/>
                  </a:moveTo>
                  <a:lnTo>
                    <a:pt x="18071" y="11848"/>
                  </a:lnTo>
                  <a:cubicBezTo>
                    <a:pt x="17643" y="12098"/>
                    <a:pt x="17144" y="12286"/>
                    <a:pt x="16615" y="12414"/>
                  </a:cubicBezTo>
                  <a:lnTo>
                    <a:pt x="14861" y="9995"/>
                  </a:lnTo>
                  <a:close/>
                  <a:moveTo>
                    <a:pt x="10918" y="12579"/>
                  </a:moveTo>
                  <a:cubicBezTo>
                    <a:pt x="11230" y="12579"/>
                    <a:pt x="11542" y="12648"/>
                    <a:pt x="11780" y="12785"/>
                  </a:cubicBezTo>
                  <a:cubicBezTo>
                    <a:pt x="12117" y="12980"/>
                    <a:pt x="12215" y="13263"/>
                    <a:pt x="12074" y="13508"/>
                  </a:cubicBezTo>
                  <a:cubicBezTo>
                    <a:pt x="12121" y="13504"/>
                    <a:pt x="12167" y="13502"/>
                    <a:pt x="12214" y="13502"/>
                  </a:cubicBezTo>
                  <a:cubicBezTo>
                    <a:pt x="12449" y="13502"/>
                    <a:pt x="12682" y="13553"/>
                    <a:pt x="12861" y="13657"/>
                  </a:cubicBezTo>
                  <a:cubicBezTo>
                    <a:pt x="13132" y="13813"/>
                    <a:pt x="13198" y="14044"/>
                    <a:pt x="13061" y="14238"/>
                  </a:cubicBezTo>
                  <a:cubicBezTo>
                    <a:pt x="13106" y="14231"/>
                    <a:pt x="13152" y="14228"/>
                    <a:pt x="13197" y="14228"/>
                  </a:cubicBezTo>
                  <a:cubicBezTo>
                    <a:pt x="13317" y="14228"/>
                    <a:pt x="13433" y="14251"/>
                    <a:pt x="13517" y="14300"/>
                  </a:cubicBezTo>
                  <a:cubicBezTo>
                    <a:pt x="13711" y="14413"/>
                    <a:pt x="13681" y="14612"/>
                    <a:pt x="13454" y="14744"/>
                  </a:cubicBezTo>
                  <a:lnTo>
                    <a:pt x="13341" y="14678"/>
                  </a:lnTo>
                  <a:cubicBezTo>
                    <a:pt x="13494" y="14589"/>
                    <a:pt x="13514" y="14453"/>
                    <a:pt x="13383" y="14379"/>
                  </a:cubicBezTo>
                  <a:cubicBezTo>
                    <a:pt x="13326" y="14345"/>
                    <a:pt x="13248" y="14329"/>
                    <a:pt x="13166" y="14329"/>
                  </a:cubicBezTo>
                  <a:cubicBezTo>
                    <a:pt x="13063" y="14329"/>
                    <a:pt x="12952" y="14355"/>
                    <a:pt x="12867" y="14405"/>
                  </a:cubicBezTo>
                  <a:lnTo>
                    <a:pt x="12753" y="14339"/>
                  </a:lnTo>
                  <a:lnTo>
                    <a:pt x="12657" y="14284"/>
                  </a:lnTo>
                  <a:cubicBezTo>
                    <a:pt x="12896" y="14143"/>
                    <a:pt x="12895" y="13919"/>
                    <a:pt x="12652" y="13778"/>
                  </a:cubicBezTo>
                  <a:cubicBezTo>
                    <a:pt x="12532" y="13709"/>
                    <a:pt x="12374" y="13674"/>
                    <a:pt x="12217" y="13674"/>
                  </a:cubicBezTo>
                  <a:cubicBezTo>
                    <a:pt x="12078" y="13674"/>
                    <a:pt x="11939" y="13701"/>
                    <a:pt x="11826" y="13755"/>
                  </a:cubicBezTo>
                  <a:lnTo>
                    <a:pt x="11785" y="13779"/>
                  </a:lnTo>
                  <a:lnTo>
                    <a:pt x="11781" y="13778"/>
                  </a:lnTo>
                  <a:lnTo>
                    <a:pt x="11571" y="13657"/>
                  </a:lnTo>
                  <a:lnTo>
                    <a:pt x="11506" y="13619"/>
                  </a:lnTo>
                  <a:cubicBezTo>
                    <a:pt x="11825" y="13434"/>
                    <a:pt x="11822" y="13132"/>
                    <a:pt x="11502" y="12947"/>
                  </a:cubicBezTo>
                  <a:cubicBezTo>
                    <a:pt x="11340" y="12854"/>
                    <a:pt x="11129" y="12807"/>
                    <a:pt x="10918" y="12807"/>
                  </a:cubicBezTo>
                  <a:cubicBezTo>
                    <a:pt x="10708" y="12807"/>
                    <a:pt x="10499" y="12854"/>
                    <a:pt x="10340" y="12946"/>
                  </a:cubicBezTo>
                  <a:lnTo>
                    <a:pt x="10061" y="12785"/>
                  </a:lnTo>
                  <a:cubicBezTo>
                    <a:pt x="10297" y="12648"/>
                    <a:pt x="10607" y="12579"/>
                    <a:pt x="10918" y="12579"/>
                  </a:cubicBezTo>
                  <a:close/>
                  <a:moveTo>
                    <a:pt x="17660" y="0"/>
                  </a:moveTo>
                  <a:lnTo>
                    <a:pt x="0" y="10285"/>
                  </a:lnTo>
                  <a:lnTo>
                    <a:pt x="12465" y="17481"/>
                  </a:lnTo>
                  <a:lnTo>
                    <a:pt x="30125" y="7196"/>
                  </a:lnTo>
                  <a:lnTo>
                    <a:pt x="176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1" name="Google Shape;361;p32"/>
            <p:cNvSpPr/>
            <p:nvPr/>
          </p:nvSpPr>
          <p:spPr>
            <a:xfrm>
              <a:off x="3038125" y="3083675"/>
              <a:ext cx="79700" cy="65425"/>
            </a:xfrm>
            <a:custGeom>
              <a:avLst/>
              <a:gdLst/>
              <a:ahLst/>
              <a:cxnLst/>
              <a:rect l="l" t="t" r="r" b="b"/>
              <a:pathLst>
                <a:path w="3188" h="2617" extrusionOk="0">
                  <a:moveTo>
                    <a:pt x="239" y="1"/>
                  </a:moveTo>
                  <a:lnTo>
                    <a:pt x="1" y="2616"/>
                  </a:lnTo>
                  <a:lnTo>
                    <a:pt x="1" y="2616"/>
                  </a:lnTo>
                  <a:lnTo>
                    <a:pt x="3188" y="763"/>
                  </a:lnTo>
                  <a:cubicBezTo>
                    <a:pt x="2366" y="289"/>
                    <a:pt x="1311" y="35"/>
                    <a:pt x="2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2" name="Google Shape;362;p32"/>
            <p:cNvSpPr/>
            <p:nvPr/>
          </p:nvSpPr>
          <p:spPr>
            <a:xfrm>
              <a:off x="2946775" y="3068175"/>
              <a:ext cx="86225" cy="65500"/>
            </a:xfrm>
            <a:custGeom>
              <a:avLst/>
              <a:gdLst/>
              <a:ahLst/>
              <a:cxnLst/>
              <a:rect l="l" t="t" r="r" b="b"/>
              <a:pathLst>
                <a:path w="3449" h="2620" extrusionOk="0">
                  <a:moveTo>
                    <a:pt x="3189" y="0"/>
                  </a:moveTo>
                  <a:cubicBezTo>
                    <a:pt x="2300" y="0"/>
                    <a:pt x="1412" y="153"/>
                    <a:pt x="650" y="455"/>
                  </a:cubicBezTo>
                  <a:cubicBezTo>
                    <a:pt x="422" y="545"/>
                    <a:pt x="203" y="648"/>
                    <a:pt x="1" y="767"/>
                  </a:cubicBezTo>
                  <a:lnTo>
                    <a:pt x="3210" y="2620"/>
                  </a:lnTo>
                  <a:lnTo>
                    <a:pt x="3448" y="4"/>
                  </a:lnTo>
                  <a:cubicBezTo>
                    <a:pt x="3362" y="2"/>
                    <a:pt x="3275" y="0"/>
                    <a:pt x="31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3" name="Google Shape;363;p32"/>
            <p:cNvSpPr/>
            <p:nvPr/>
          </p:nvSpPr>
          <p:spPr>
            <a:xfrm>
              <a:off x="2913900" y="3102750"/>
              <a:ext cx="124250" cy="92650"/>
            </a:xfrm>
            <a:custGeom>
              <a:avLst/>
              <a:gdLst/>
              <a:ahLst/>
              <a:cxnLst/>
              <a:rect l="l" t="t" r="r" b="b"/>
              <a:pathLst>
                <a:path w="4970" h="3706" extrusionOk="0">
                  <a:moveTo>
                    <a:pt x="1763" y="0"/>
                  </a:moveTo>
                  <a:cubicBezTo>
                    <a:pt x="1" y="1024"/>
                    <a:pt x="8" y="2682"/>
                    <a:pt x="1781" y="3706"/>
                  </a:cubicBezTo>
                  <a:lnTo>
                    <a:pt x="4970" y="1853"/>
                  </a:lnTo>
                  <a:lnTo>
                    <a:pt x="176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4" name="Google Shape;364;p32"/>
            <p:cNvSpPr/>
            <p:nvPr/>
          </p:nvSpPr>
          <p:spPr>
            <a:xfrm>
              <a:off x="2958400" y="3149075"/>
              <a:ext cx="123575" cy="65500"/>
            </a:xfrm>
            <a:custGeom>
              <a:avLst/>
              <a:gdLst/>
              <a:ahLst/>
              <a:cxnLst/>
              <a:rect l="l" t="t" r="r" b="b"/>
              <a:pathLst>
                <a:path w="4943" h="2620" extrusionOk="0">
                  <a:moveTo>
                    <a:pt x="3190" y="0"/>
                  </a:moveTo>
                  <a:lnTo>
                    <a:pt x="1" y="1853"/>
                  </a:lnTo>
                  <a:cubicBezTo>
                    <a:pt x="886" y="2364"/>
                    <a:pt x="2044" y="2620"/>
                    <a:pt x="3201" y="2620"/>
                  </a:cubicBezTo>
                  <a:cubicBezTo>
                    <a:pt x="3794" y="2620"/>
                    <a:pt x="4387" y="2553"/>
                    <a:pt x="4943" y="2418"/>
                  </a:cubicBezTo>
                  <a:lnTo>
                    <a:pt x="319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5" name="Google Shape;365;p32"/>
            <p:cNvSpPr/>
            <p:nvPr/>
          </p:nvSpPr>
          <p:spPr>
            <a:xfrm>
              <a:off x="3061050" y="3163475"/>
              <a:ext cx="80275" cy="60475"/>
            </a:xfrm>
            <a:custGeom>
              <a:avLst/>
              <a:gdLst/>
              <a:ahLst/>
              <a:cxnLst/>
              <a:rect l="l" t="t" r="r" b="b"/>
              <a:pathLst>
                <a:path w="3211" h="2419" extrusionOk="0">
                  <a:moveTo>
                    <a:pt x="0" y="0"/>
                  </a:moveTo>
                  <a:lnTo>
                    <a:pt x="1754" y="2419"/>
                  </a:lnTo>
                  <a:cubicBezTo>
                    <a:pt x="2283" y="2291"/>
                    <a:pt x="2782" y="2103"/>
                    <a:pt x="3210" y="185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6" name="Google Shape;366;p32"/>
            <p:cNvSpPr/>
            <p:nvPr/>
          </p:nvSpPr>
          <p:spPr>
            <a:xfrm>
              <a:off x="3069825" y="3158350"/>
              <a:ext cx="113225" cy="46375"/>
            </a:xfrm>
            <a:custGeom>
              <a:avLst/>
              <a:gdLst/>
              <a:ahLst/>
              <a:cxnLst/>
              <a:rect l="l" t="t" r="r" b="b"/>
              <a:pathLst>
                <a:path w="4529" h="1855" extrusionOk="0">
                  <a:moveTo>
                    <a:pt x="1" y="1"/>
                  </a:moveTo>
                  <a:lnTo>
                    <a:pt x="3210" y="1855"/>
                  </a:lnTo>
                  <a:cubicBezTo>
                    <a:pt x="4090" y="1343"/>
                    <a:pt x="4528" y="673"/>
                    <a:pt x="45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7" name="Google Shape;367;p32"/>
            <p:cNvSpPr/>
            <p:nvPr/>
          </p:nvSpPr>
          <p:spPr>
            <a:xfrm>
              <a:off x="3038125" y="3102750"/>
              <a:ext cx="113100" cy="46350"/>
            </a:xfrm>
            <a:custGeom>
              <a:avLst/>
              <a:gdLst/>
              <a:ahLst/>
              <a:cxnLst/>
              <a:rect l="l" t="t" r="r" b="b"/>
              <a:pathLst>
                <a:path w="4524" h="1854" extrusionOk="0">
                  <a:moveTo>
                    <a:pt x="3188" y="0"/>
                  </a:moveTo>
                  <a:lnTo>
                    <a:pt x="1" y="1853"/>
                  </a:lnTo>
                  <a:lnTo>
                    <a:pt x="4524" y="1853"/>
                  </a:lnTo>
                  <a:cubicBezTo>
                    <a:pt x="4519" y="1183"/>
                    <a:pt x="4074" y="512"/>
                    <a:pt x="318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8" name="Google Shape;368;p32"/>
            <p:cNvSpPr/>
            <p:nvPr/>
          </p:nvSpPr>
          <p:spPr>
            <a:xfrm>
              <a:off x="3136300" y="3018100"/>
              <a:ext cx="173725" cy="100375"/>
            </a:xfrm>
            <a:custGeom>
              <a:avLst/>
              <a:gdLst/>
              <a:ahLst/>
              <a:cxnLst/>
              <a:rect l="l" t="t" r="r" b="b"/>
              <a:pathLst>
                <a:path w="6949" h="4015" extrusionOk="0">
                  <a:moveTo>
                    <a:pt x="755" y="1"/>
                  </a:moveTo>
                  <a:lnTo>
                    <a:pt x="1" y="439"/>
                  </a:lnTo>
                  <a:lnTo>
                    <a:pt x="6195" y="4014"/>
                  </a:lnTo>
                  <a:lnTo>
                    <a:pt x="6948" y="3576"/>
                  </a:lnTo>
                  <a:lnTo>
                    <a:pt x="7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9" name="Google Shape;369;p32"/>
            <p:cNvSpPr/>
            <p:nvPr/>
          </p:nvSpPr>
          <p:spPr>
            <a:xfrm>
              <a:off x="3098600" y="3040025"/>
              <a:ext cx="173775" cy="100400"/>
            </a:xfrm>
            <a:custGeom>
              <a:avLst/>
              <a:gdLst/>
              <a:ahLst/>
              <a:cxnLst/>
              <a:rect l="l" t="t" r="r" b="b"/>
              <a:pathLst>
                <a:path w="6951" h="4016" extrusionOk="0">
                  <a:moveTo>
                    <a:pt x="755" y="1"/>
                  </a:moveTo>
                  <a:lnTo>
                    <a:pt x="1" y="439"/>
                  </a:lnTo>
                  <a:lnTo>
                    <a:pt x="6196" y="4015"/>
                  </a:lnTo>
                  <a:lnTo>
                    <a:pt x="6950" y="3577"/>
                  </a:lnTo>
                  <a:lnTo>
                    <a:pt x="7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0" name="Google Shape;370;p32"/>
            <p:cNvSpPr/>
            <p:nvPr/>
          </p:nvSpPr>
          <p:spPr>
            <a:xfrm>
              <a:off x="3173975" y="2996200"/>
              <a:ext cx="173675" cy="100400"/>
            </a:xfrm>
            <a:custGeom>
              <a:avLst/>
              <a:gdLst/>
              <a:ahLst/>
              <a:cxnLst/>
              <a:rect l="l" t="t" r="r" b="b"/>
              <a:pathLst>
                <a:path w="6947" h="4016" extrusionOk="0">
                  <a:moveTo>
                    <a:pt x="755" y="1"/>
                  </a:moveTo>
                  <a:lnTo>
                    <a:pt x="1" y="440"/>
                  </a:lnTo>
                  <a:lnTo>
                    <a:pt x="6193" y="4015"/>
                  </a:lnTo>
                  <a:lnTo>
                    <a:pt x="6947" y="3577"/>
                  </a:lnTo>
                  <a:lnTo>
                    <a:pt x="7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1" name="Google Shape;371;p32"/>
            <p:cNvSpPr/>
            <p:nvPr/>
          </p:nvSpPr>
          <p:spPr>
            <a:xfrm>
              <a:off x="3098675" y="2974500"/>
              <a:ext cx="63925" cy="25275"/>
            </a:xfrm>
            <a:custGeom>
              <a:avLst/>
              <a:gdLst/>
              <a:ahLst/>
              <a:cxnLst/>
              <a:rect l="l" t="t" r="r" b="b"/>
              <a:pathLst>
                <a:path w="2557" h="1011" extrusionOk="0">
                  <a:moveTo>
                    <a:pt x="1" y="1"/>
                  </a:moveTo>
                  <a:lnTo>
                    <a:pt x="6" y="1009"/>
                  </a:lnTo>
                  <a:lnTo>
                    <a:pt x="9" y="1010"/>
                  </a:lnTo>
                  <a:lnTo>
                    <a:pt x="2557" y="1009"/>
                  </a:lnTo>
                  <a:lnTo>
                    <a:pt x="2556" y="607"/>
                  </a:lnTo>
                  <a:lnTo>
                    <a:pt x="702" y="605"/>
                  </a:lnTo>
                  <a:lnTo>
                    <a:pt x="69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2" name="Google Shape;372;p32"/>
            <p:cNvSpPr/>
            <p:nvPr/>
          </p:nvSpPr>
          <p:spPr>
            <a:xfrm>
              <a:off x="3028075" y="3015525"/>
              <a:ext cx="63925" cy="25250"/>
            </a:xfrm>
            <a:custGeom>
              <a:avLst/>
              <a:gdLst/>
              <a:ahLst/>
              <a:cxnLst/>
              <a:rect l="l" t="t" r="r" b="b"/>
              <a:pathLst>
                <a:path w="2557" h="1010" extrusionOk="0">
                  <a:moveTo>
                    <a:pt x="698" y="0"/>
                  </a:moveTo>
                  <a:lnTo>
                    <a:pt x="1" y="2"/>
                  </a:lnTo>
                  <a:lnTo>
                    <a:pt x="6" y="1010"/>
                  </a:lnTo>
                  <a:lnTo>
                    <a:pt x="9" y="1009"/>
                  </a:lnTo>
                  <a:lnTo>
                    <a:pt x="9" y="1010"/>
                  </a:lnTo>
                  <a:lnTo>
                    <a:pt x="2557" y="1010"/>
                  </a:lnTo>
                  <a:lnTo>
                    <a:pt x="2557" y="606"/>
                  </a:lnTo>
                  <a:lnTo>
                    <a:pt x="701" y="606"/>
                  </a:lnTo>
                  <a:lnTo>
                    <a:pt x="69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3" name="Google Shape;373;p32"/>
            <p:cNvSpPr/>
            <p:nvPr/>
          </p:nvSpPr>
          <p:spPr>
            <a:xfrm>
              <a:off x="2941025" y="3228075"/>
              <a:ext cx="91300" cy="54150"/>
            </a:xfrm>
            <a:custGeom>
              <a:avLst/>
              <a:gdLst/>
              <a:ahLst/>
              <a:cxnLst/>
              <a:rect l="l" t="t" r="r" b="b"/>
              <a:pathLst>
                <a:path w="3652" h="2166" extrusionOk="0">
                  <a:moveTo>
                    <a:pt x="858" y="0"/>
                  </a:moveTo>
                  <a:cubicBezTo>
                    <a:pt x="547" y="0"/>
                    <a:pt x="237" y="69"/>
                    <a:pt x="1" y="206"/>
                  </a:cubicBezTo>
                  <a:lnTo>
                    <a:pt x="280" y="367"/>
                  </a:lnTo>
                  <a:cubicBezTo>
                    <a:pt x="439" y="275"/>
                    <a:pt x="648" y="228"/>
                    <a:pt x="858" y="228"/>
                  </a:cubicBezTo>
                  <a:cubicBezTo>
                    <a:pt x="1069" y="228"/>
                    <a:pt x="1280" y="275"/>
                    <a:pt x="1442" y="368"/>
                  </a:cubicBezTo>
                  <a:cubicBezTo>
                    <a:pt x="1762" y="553"/>
                    <a:pt x="1765" y="855"/>
                    <a:pt x="1446" y="1040"/>
                  </a:cubicBezTo>
                  <a:lnTo>
                    <a:pt x="1511" y="1078"/>
                  </a:lnTo>
                  <a:lnTo>
                    <a:pt x="1721" y="1199"/>
                  </a:lnTo>
                  <a:lnTo>
                    <a:pt x="1725" y="1200"/>
                  </a:lnTo>
                  <a:lnTo>
                    <a:pt x="1766" y="1176"/>
                  </a:lnTo>
                  <a:cubicBezTo>
                    <a:pt x="1879" y="1122"/>
                    <a:pt x="2018" y="1095"/>
                    <a:pt x="2157" y="1095"/>
                  </a:cubicBezTo>
                  <a:cubicBezTo>
                    <a:pt x="2314" y="1095"/>
                    <a:pt x="2472" y="1130"/>
                    <a:pt x="2592" y="1199"/>
                  </a:cubicBezTo>
                  <a:cubicBezTo>
                    <a:pt x="2835" y="1340"/>
                    <a:pt x="2836" y="1564"/>
                    <a:pt x="2597" y="1705"/>
                  </a:cubicBezTo>
                  <a:lnTo>
                    <a:pt x="2693" y="1760"/>
                  </a:lnTo>
                  <a:lnTo>
                    <a:pt x="2807" y="1826"/>
                  </a:lnTo>
                  <a:cubicBezTo>
                    <a:pt x="2892" y="1776"/>
                    <a:pt x="3003" y="1750"/>
                    <a:pt x="3106" y="1750"/>
                  </a:cubicBezTo>
                  <a:cubicBezTo>
                    <a:pt x="3188" y="1750"/>
                    <a:pt x="3266" y="1766"/>
                    <a:pt x="3323" y="1800"/>
                  </a:cubicBezTo>
                  <a:cubicBezTo>
                    <a:pt x="3454" y="1874"/>
                    <a:pt x="3434" y="2010"/>
                    <a:pt x="3281" y="2099"/>
                  </a:cubicBezTo>
                  <a:lnTo>
                    <a:pt x="3394" y="2165"/>
                  </a:lnTo>
                  <a:cubicBezTo>
                    <a:pt x="3621" y="2033"/>
                    <a:pt x="3651" y="1834"/>
                    <a:pt x="3457" y="1721"/>
                  </a:cubicBezTo>
                  <a:cubicBezTo>
                    <a:pt x="3373" y="1672"/>
                    <a:pt x="3257" y="1649"/>
                    <a:pt x="3137" y="1649"/>
                  </a:cubicBezTo>
                  <a:cubicBezTo>
                    <a:pt x="3092" y="1649"/>
                    <a:pt x="3046" y="1652"/>
                    <a:pt x="3001" y="1659"/>
                  </a:cubicBezTo>
                  <a:cubicBezTo>
                    <a:pt x="3138" y="1465"/>
                    <a:pt x="3072" y="1234"/>
                    <a:pt x="2801" y="1078"/>
                  </a:cubicBezTo>
                  <a:cubicBezTo>
                    <a:pt x="2622" y="974"/>
                    <a:pt x="2389" y="923"/>
                    <a:pt x="2154" y="923"/>
                  </a:cubicBezTo>
                  <a:cubicBezTo>
                    <a:pt x="2107" y="923"/>
                    <a:pt x="2061" y="925"/>
                    <a:pt x="2014" y="929"/>
                  </a:cubicBezTo>
                  <a:cubicBezTo>
                    <a:pt x="2155" y="684"/>
                    <a:pt x="2057" y="401"/>
                    <a:pt x="1720" y="206"/>
                  </a:cubicBezTo>
                  <a:cubicBezTo>
                    <a:pt x="1482" y="69"/>
                    <a:pt x="1170" y="0"/>
                    <a:pt x="8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4" name="Google Shape;374;p32"/>
            <p:cNvSpPr/>
            <p:nvPr/>
          </p:nvSpPr>
          <p:spPr>
            <a:xfrm>
              <a:off x="2570925" y="3129000"/>
              <a:ext cx="1053500" cy="354375"/>
            </a:xfrm>
            <a:custGeom>
              <a:avLst/>
              <a:gdLst/>
              <a:ahLst/>
              <a:cxnLst/>
              <a:rect l="l" t="t" r="r" b="b"/>
              <a:pathLst>
                <a:path w="42140" h="14175" extrusionOk="0">
                  <a:moveTo>
                    <a:pt x="41629" y="0"/>
                  </a:moveTo>
                  <a:lnTo>
                    <a:pt x="18287" y="13472"/>
                  </a:lnTo>
                  <a:lnTo>
                    <a:pt x="490" y="3348"/>
                  </a:lnTo>
                  <a:lnTo>
                    <a:pt x="0" y="3633"/>
                  </a:lnTo>
                  <a:lnTo>
                    <a:pt x="18259" y="14175"/>
                  </a:lnTo>
                  <a:lnTo>
                    <a:pt x="42140" y="296"/>
                  </a:lnTo>
                  <a:lnTo>
                    <a:pt x="4162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5" name="Google Shape;375;p32"/>
            <p:cNvSpPr/>
            <p:nvPr/>
          </p:nvSpPr>
          <p:spPr>
            <a:xfrm>
              <a:off x="3000975" y="3093475"/>
              <a:ext cx="441675" cy="315775"/>
            </a:xfrm>
            <a:custGeom>
              <a:avLst/>
              <a:gdLst/>
              <a:ahLst/>
              <a:cxnLst/>
              <a:rect l="l" t="t" r="r" b="b"/>
              <a:pathLst>
                <a:path w="17667" h="12631" extrusionOk="0">
                  <a:moveTo>
                    <a:pt x="17667" y="1"/>
                  </a:moveTo>
                  <a:lnTo>
                    <a:pt x="7" y="10286"/>
                  </a:lnTo>
                  <a:lnTo>
                    <a:pt x="0" y="12630"/>
                  </a:lnTo>
                  <a:lnTo>
                    <a:pt x="17660" y="2345"/>
                  </a:lnTo>
                  <a:lnTo>
                    <a:pt x="17662" y="1239"/>
                  </a:lnTo>
                  <a:lnTo>
                    <a:pt x="17667" y="1"/>
                  </a:lnTo>
                  <a:close/>
                </a:path>
              </a:pathLst>
            </a:custGeom>
            <a:solidFill>
              <a:srgbClr val="ECECEC">
                <a:alpha val="1899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5" name="Sous-titre 2">
            <a:extLst>
              <a:ext uri="{FF2B5EF4-FFF2-40B4-BE49-F238E27FC236}">
                <a16:creationId xmlns:a16="http://schemas.microsoft.com/office/drawing/2014/main" id="{81C5A43F-6120-F884-4E35-0C66D4EE0400}"/>
              </a:ext>
            </a:extLst>
          </p:cNvPr>
          <p:cNvSpPr txBox="1">
            <a:spLocks/>
          </p:cNvSpPr>
          <p:nvPr/>
        </p:nvSpPr>
        <p:spPr>
          <a:xfrm>
            <a:off x="2621371" y="3146796"/>
            <a:ext cx="6964075" cy="165576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0000"/>
              <a:buFont typeface="Arial" pitchFamily="34"/>
              <a:buNone/>
              <a:tabLst/>
              <a:defRPr lang="fr-FR" sz="2400" b="0" i="0" u="none" strike="noStrike" kern="1200" cap="none" spc="0" baseline="0">
                <a:solidFill>
                  <a:srgbClr val="FFFFFF"/>
                </a:solidFill>
                <a:uFillTx/>
                <a:latin typeface="Century Gothic" pitchFamily="34"/>
              </a:defRPr>
            </a:lvl1pPr>
            <a:lvl2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0000"/>
              <a:buFont typeface="Police système"/>
              <a:buNone/>
              <a:tabLst/>
              <a:defRPr lang="fr-FR" sz="2400" b="0" i="0" u="none" strike="noStrike" kern="1200" cap="none" spc="0" baseline="0">
                <a:solidFill>
                  <a:srgbClr val="FFFFFF"/>
                </a:solidFill>
                <a:uFillTx/>
                <a:latin typeface="Century Gothic" pitchFamily="34"/>
              </a:defRPr>
            </a:lvl2pPr>
            <a:lvl3pPr marL="575998" marR="0" lvl="2" indent="-179999" algn="l" defTabSz="914400" rtl="0" fontAlgn="auto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SzPct val="90000"/>
              <a:buFont typeface="Arial" pitchFamily="34"/>
              <a:buChar char="•"/>
              <a:tabLst/>
              <a:defRPr lang="fr-FR" sz="1600" b="0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3pPr>
            <a:lvl4pPr marL="719998" marR="0" lvl="3" indent="-143999" algn="l" defTabSz="914400" rtl="0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SzPct val="120000"/>
              <a:buFont typeface="Police système"/>
              <a:buChar char="-"/>
              <a:tabLst/>
              <a:defRPr lang="fr-FR" sz="1400" b="0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4pPr>
            <a:lvl5pPr marL="719998" marR="0" lvl="4" indent="0" algn="l" defTabSz="914400" rtl="0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800" dirty="0"/>
              <a:t>Bastien CHASSAGNOL</a:t>
            </a:r>
          </a:p>
          <a:p>
            <a:pPr algn="ctr"/>
            <a:r>
              <a:rPr lang="en-US" sz="1800" dirty="0"/>
              <a:t>Etienne BECHT (Former Servier, now INSERM)?</a:t>
            </a:r>
            <a:endParaRPr lang="en-GB" dirty="0"/>
          </a:p>
        </p:txBody>
      </p:sp>
      <p:pic>
        <p:nvPicPr>
          <p:cNvPr id="13" name="Image 12" descr="Une image contenant Graphique, symbole, logo, conception&#10;&#10;Description générée automatiquement">
            <a:extLst>
              <a:ext uri="{FF2B5EF4-FFF2-40B4-BE49-F238E27FC236}">
                <a16:creationId xmlns:a16="http://schemas.microsoft.com/office/drawing/2014/main" id="{59FFF4DA-BABA-D48C-20E7-1805F9B114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504" y="-116873"/>
            <a:ext cx="2151313" cy="2861793"/>
          </a:xfrm>
          <a:prstGeom prst="rect">
            <a:avLst/>
          </a:prstGeom>
        </p:spPr>
      </p:pic>
      <p:pic>
        <p:nvPicPr>
          <p:cNvPr id="17" name="Image 16" descr="Une image contenant capture d’écran, symbole, Graphique, Police&#10;&#10;Description générée automatiquement">
            <a:extLst>
              <a:ext uri="{FF2B5EF4-FFF2-40B4-BE49-F238E27FC236}">
                <a16:creationId xmlns:a16="http://schemas.microsoft.com/office/drawing/2014/main" id="{65647595-439A-03F2-1526-3664C20BB9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696" y="5373322"/>
            <a:ext cx="1906376" cy="1074503"/>
          </a:xfrm>
          <a:prstGeom prst="rect">
            <a:avLst/>
          </a:prstGeom>
        </p:spPr>
      </p:pic>
      <p:pic>
        <p:nvPicPr>
          <p:cNvPr id="21" name="Image 20" descr="Une image contenant Graphique, Police, graphisme, conception&#10;&#10;Description générée automatiquement">
            <a:extLst>
              <a:ext uri="{FF2B5EF4-FFF2-40B4-BE49-F238E27FC236}">
                <a16:creationId xmlns:a16="http://schemas.microsoft.com/office/drawing/2014/main" id="{0C807109-B622-A715-4B0D-09B8D4B46C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5584" y="4730885"/>
            <a:ext cx="2657394" cy="1802292"/>
          </a:xfrm>
          <a:prstGeom prst="rect">
            <a:avLst/>
          </a:prstGeom>
        </p:spPr>
      </p:pic>
      <p:pic>
        <p:nvPicPr>
          <p:cNvPr id="25" name="Image 24" descr="Une image contenant cercle, Graphique, art, dessin humoristique&#10;&#10;Description générée automatiquement">
            <a:extLst>
              <a:ext uri="{FF2B5EF4-FFF2-40B4-BE49-F238E27FC236}">
                <a16:creationId xmlns:a16="http://schemas.microsoft.com/office/drawing/2014/main" id="{0D683B42-4BE5-6E68-DA92-7E4A2BFE51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054" y="3328310"/>
            <a:ext cx="2171700" cy="2171700"/>
          </a:xfrm>
          <a:prstGeom prst="rect">
            <a:avLst/>
          </a:prstGeom>
        </p:spPr>
      </p:pic>
      <p:sp>
        <p:nvSpPr>
          <p:cNvPr id="2" name="Sous-titre 2">
            <a:extLst>
              <a:ext uri="{FF2B5EF4-FFF2-40B4-BE49-F238E27FC236}">
                <a16:creationId xmlns:a16="http://schemas.microsoft.com/office/drawing/2014/main" id="{0DF4696C-81C7-3F8D-AD2F-A8FEE2535B26}"/>
              </a:ext>
            </a:extLst>
          </p:cNvPr>
          <p:cNvSpPr txBox="1">
            <a:spLocks/>
          </p:cNvSpPr>
          <p:nvPr/>
        </p:nvSpPr>
        <p:spPr>
          <a:xfrm>
            <a:off x="-2235051" y="6415231"/>
            <a:ext cx="6964075" cy="43502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0000"/>
              <a:buFont typeface="Arial" pitchFamily="34"/>
              <a:buNone/>
              <a:tabLst/>
              <a:defRPr lang="fr-FR" sz="2400" b="0" i="0" u="none" strike="noStrike" kern="1200" cap="none" spc="0" baseline="0">
                <a:solidFill>
                  <a:srgbClr val="FFFFFF"/>
                </a:solidFill>
                <a:uFillTx/>
                <a:latin typeface="Century Gothic" pitchFamily="34"/>
              </a:defRPr>
            </a:lvl1pPr>
            <a:lvl2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0000"/>
              <a:buFont typeface="Police système"/>
              <a:buNone/>
              <a:tabLst/>
              <a:defRPr lang="fr-FR" sz="2400" b="0" i="0" u="none" strike="noStrike" kern="1200" cap="none" spc="0" baseline="0">
                <a:solidFill>
                  <a:srgbClr val="FFFFFF"/>
                </a:solidFill>
                <a:uFillTx/>
                <a:latin typeface="Century Gothic" pitchFamily="34"/>
              </a:defRPr>
            </a:lvl2pPr>
            <a:lvl3pPr marL="575998" marR="0" lvl="2" indent="-179999" algn="l" defTabSz="914400" rtl="0" fontAlgn="auto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SzPct val="90000"/>
              <a:buFont typeface="Arial" pitchFamily="34"/>
              <a:buChar char="•"/>
              <a:tabLst/>
              <a:defRPr lang="fr-FR" sz="1600" b="0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3pPr>
            <a:lvl4pPr marL="719998" marR="0" lvl="3" indent="-143999" algn="l" defTabSz="914400" rtl="0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SzPct val="120000"/>
              <a:buFont typeface="Police système"/>
              <a:buChar char="-"/>
              <a:tabLst/>
              <a:defRPr lang="fr-FR" sz="1400" b="0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4pPr>
            <a:lvl5pPr marL="719998" marR="0" lvl="4" indent="0" algn="l" defTabSz="914400" rtl="0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000" dirty="0"/>
              <a:t>Computer sciences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2E1FB2F-F1CB-6559-FC93-C0FE412D1F6D}"/>
              </a:ext>
            </a:extLst>
          </p:cNvPr>
          <p:cNvSpPr txBox="1">
            <a:spLocks/>
          </p:cNvSpPr>
          <p:nvPr/>
        </p:nvSpPr>
        <p:spPr>
          <a:xfrm>
            <a:off x="2613962" y="6354508"/>
            <a:ext cx="6964075" cy="43502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0000"/>
              <a:buFont typeface="Arial" pitchFamily="34"/>
              <a:buNone/>
              <a:tabLst/>
              <a:defRPr lang="fr-FR" sz="2400" b="0" i="0" u="none" strike="noStrike" kern="1200" cap="none" spc="0" baseline="0">
                <a:solidFill>
                  <a:srgbClr val="FFFFFF"/>
                </a:solidFill>
                <a:uFillTx/>
                <a:latin typeface="Century Gothic" pitchFamily="34"/>
              </a:defRPr>
            </a:lvl1pPr>
            <a:lvl2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0000"/>
              <a:buFont typeface="Police système"/>
              <a:buNone/>
              <a:tabLst/>
              <a:defRPr lang="fr-FR" sz="2400" b="0" i="0" u="none" strike="noStrike" kern="1200" cap="none" spc="0" baseline="0">
                <a:solidFill>
                  <a:srgbClr val="FFFFFF"/>
                </a:solidFill>
                <a:uFillTx/>
                <a:latin typeface="Century Gothic" pitchFamily="34"/>
              </a:defRPr>
            </a:lvl2pPr>
            <a:lvl3pPr marL="575998" marR="0" lvl="2" indent="-179999" algn="l" defTabSz="914400" rtl="0" fontAlgn="auto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SzPct val="90000"/>
              <a:buFont typeface="Arial" pitchFamily="34"/>
              <a:buChar char="•"/>
              <a:tabLst/>
              <a:defRPr lang="fr-FR" sz="1600" b="0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3pPr>
            <a:lvl4pPr marL="719998" marR="0" lvl="3" indent="-143999" algn="l" defTabSz="914400" rtl="0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SzPct val="120000"/>
              <a:buFont typeface="Police système"/>
              <a:buChar char="-"/>
              <a:tabLst/>
              <a:defRPr lang="fr-FR" sz="1400" b="0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4pPr>
            <a:lvl5pPr marL="719998" marR="0" lvl="4" indent="0" algn="l" defTabSz="914400" rtl="0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000" dirty="0"/>
              <a:t>Statistics and </a:t>
            </a:r>
          </a:p>
          <a:p>
            <a:pPr algn="ctr"/>
            <a:r>
              <a:rPr lang="en-GB" sz="2000" dirty="0"/>
              <a:t>Probability</a:t>
            </a: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5D83F33C-083F-C016-0A55-B9E9C88AF7E9}"/>
              </a:ext>
            </a:extLst>
          </p:cNvPr>
          <p:cNvSpPr txBox="1">
            <a:spLocks/>
          </p:cNvSpPr>
          <p:nvPr/>
        </p:nvSpPr>
        <p:spPr>
          <a:xfrm>
            <a:off x="7003839" y="6375736"/>
            <a:ext cx="6964075" cy="43502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0000"/>
              <a:buFont typeface="Arial" pitchFamily="34"/>
              <a:buNone/>
              <a:tabLst/>
              <a:defRPr lang="fr-FR" sz="2400" b="0" i="0" u="none" strike="noStrike" kern="1200" cap="none" spc="0" baseline="0">
                <a:solidFill>
                  <a:srgbClr val="FFFFFF"/>
                </a:solidFill>
                <a:uFillTx/>
                <a:latin typeface="Century Gothic" pitchFamily="34"/>
              </a:defRPr>
            </a:lvl1pPr>
            <a:lvl2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0000"/>
              <a:buFont typeface="Police système"/>
              <a:buNone/>
              <a:tabLst/>
              <a:defRPr lang="fr-FR" sz="2400" b="0" i="0" u="none" strike="noStrike" kern="1200" cap="none" spc="0" baseline="0">
                <a:solidFill>
                  <a:srgbClr val="FFFFFF"/>
                </a:solidFill>
                <a:uFillTx/>
                <a:latin typeface="Century Gothic" pitchFamily="34"/>
              </a:defRPr>
            </a:lvl2pPr>
            <a:lvl3pPr marL="575998" marR="0" lvl="2" indent="-179999" algn="l" defTabSz="914400" rtl="0" fontAlgn="auto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SzPct val="90000"/>
              <a:buFont typeface="Arial" pitchFamily="34"/>
              <a:buChar char="•"/>
              <a:tabLst/>
              <a:defRPr lang="fr-FR" sz="1600" b="0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3pPr>
            <a:lvl4pPr marL="719998" marR="0" lvl="3" indent="-143999" algn="l" defTabSz="914400" rtl="0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SzPct val="120000"/>
              <a:buFont typeface="Police système"/>
              <a:buChar char="-"/>
              <a:tabLst/>
              <a:defRPr lang="fr-FR" sz="1400" b="0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4pPr>
            <a:lvl5pPr marL="719998" marR="0" lvl="4" indent="0" algn="l" defTabSz="914400" rtl="0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000" dirty="0"/>
              <a:t>Pharmaceutical company</a:t>
            </a:r>
          </a:p>
        </p:txBody>
      </p:sp>
    </p:spTree>
    <p:extLst>
      <p:ext uri="{BB962C8B-B14F-4D97-AF65-F5344CB8AC3E}">
        <p14:creationId xmlns:p14="http://schemas.microsoft.com/office/powerpoint/2010/main" val="983688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B1A63-7A05-4352-FB69-66333508B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2713C1F-62E7-5F5C-618E-3ED6C8DED0E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623885" y="6292013"/>
            <a:ext cx="411955" cy="365129"/>
          </a:xfrm>
        </p:spPr>
        <p:txBody>
          <a:bodyPr/>
          <a:lstStyle/>
          <a:p>
            <a:pPr lvl="0"/>
            <a:fld id="{947890D0-58DA-4F53-B9C8-1F7EB626E16D}" type="slidenum">
              <a:rPr lang="fr-FR" noProof="0" smtClean="0"/>
              <a:pPr lvl="0"/>
              <a:t>2</a:t>
            </a:fld>
            <a:endParaRPr lang="fr-FR" noProof="0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0030DCAF-FE7F-F91E-CD43-DA14680DBE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8365" y="284877"/>
            <a:ext cx="10333038" cy="777875"/>
          </a:xfrm>
        </p:spPr>
        <p:txBody>
          <a:bodyPr/>
          <a:lstStyle/>
          <a:p>
            <a:pPr lvl="0"/>
            <a:r>
              <a:rPr lang="en-GB" dirty="0"/>
              <a:t>Talk layout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6F325EC-C517-2474-D979-E98EF5B229B9}"/>
              </a:ext>
            </a:extLst>
          </p:cNvPr>
          <p:cNvGrpSpPr/>
          <p:nvPr/>
        </p:nvGrpSpPr>
        <p:grpSpPr>
          <a:xfrm>
            <a:off x="2529179" y="3454487"/>
            <a:ext cx="5256289" cy="1792807"/>
            <a:chOff x="2529179" y="3454487"/>
            <a:chExt cx="5256289" cy="1792807"/>
          </a:xfrm>
        </p:grpSpPr>
        <p:sp>
          <p:nvSpPr>
            <p:cNvPr id="111" name="Google Shape;419;p34">
              <a:extLst>
                <a:ext uri="{FF2B5EF4-FFF2-40B4-BE49-F238E27FC236}">
                  <a16:creationId xmlns:a16="http://schemas.microsoft.com/office/drawing/2014/main" id="{1ADD2796-D2F9-B6C6-E793-F69A3E3AA246}"/>
                </a:ext>
              </a:extLst>
            </p:cNvPr>
            <p:cNvSpPr txBox="1">
              <a:spLocks/>
            </p:cNvSpPr>
            <p:nvPr/>
          </p:nvSpPr>
          <p:spPr>
            <a:xfrm>
              <a:off x="3605756" y="4483694"/>
              <a:ext cx="3918764" cy="76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121900" tIns="121900" rIns="121900" bIns="121900" anchor="t" anchorCtr="0" compatLnSpc="1">
              <a:noAutofit/>
            </a:bodyPr>
            <a:lstStyle>
              <a:lvl1pPr marL="215999" marR="0" lvl="0" indent="-215999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itchFamily="34"/>
                <a:buNone/>
                <a:tabLst/>
                <a:defRPr lang="fr-FR" sz="1867" b="0" i="0" u="none" strike="noStrike" kern="1200" cap="none" spc="0" baseline="0">
                  <a:solidFill>
                    <a:srgbClr val="242269"/>
                  </a:solidFill>
                  <a:uFillTx/>
                  <a:latin typeface="Century Gothic" pitchFamily="34"/>
                </a:defRPr>
              </a:lvl1pPr>
              <a:lvl2pPr marL="395999" marR="0" lvl="1" indent="-179999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Police système"/>
                <a:buNone/>
                <a:tabLst/>
                <a:defRPr lang="fr-FR" sz="1800" b="0" i="0" u="none" strike="noStrike" kern="1200" cap="none" spc="0" baseline="0">
                  <a:solidFill>
                    <a:srgbClr val="242269"/>
                  </a:solidFill>
                  <a:uFillTx/>
                  <a:latin typeface="Century Gothic" pitchFamily="34"/>
                </a:defRPr>
              </a:lvl2pPr>
              <a:lvl3pPr marL="575998" marR="0" lvl="2" indent="-179999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itchFamily="34"/>
                <a:buNone/>
                <a:tabLst/>
                <a:defRPr lang="fr-FR" sz="1600" b="0" i="0" u="none" strike="noStrike" kern="1200" cap="none" spc="0" baseline="0">
                  <a:solidFill>
                    <a:srgbClr val="242269"/>
                  </a:solidFill>
                  <a:uFillTx/>
                  <a:latin typeface="Century Gothic" pitchFamily="34"/>
                </a:defRPr>
              </a:lvl3pPr>
              <a:lvl4pPr marL="719998" marR="0" lvl="3" indent="-143999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Police système"/>
                <a:buNone/>
                <a:tabLst/>
                <a:defRPr lang="fr-FR" sz="1400" b="0" i="0" u="none" strike="noStrike" kern="1200" cap="none" spc="0" baseline="0">
                  <a:solidFill>
                    <a:srgbClr val="242269"/>
                  </a:solidFill>
                  <a:uFillTx/>
                  <a:latin typeface="Century Gothic" pitchFamily="34"/>
                </a:defRPr>
              </a:lvl4pPr>
              <a:lvl5pPr marL="719998" marR="0" lvl="4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  <a:tabLst/>
                <a:defRPr lang="fr-FR" sz="1200" b="0" i="0" u="none" strike="noStrike" kern="1200" cap="none" spc="0" baseline="0">
                  <a:solidFill>
                    <a:srgbClr val="242269"/>
                  </a:solidFill>
                  <a:uFillTx/>
                  <a:latin typeface="Century Gothic" pitchFamily="34"/>
                </a:defRPr>
              </a:lvl5pPr>
              <a:lvl6pPr marL="2514600" lvl="5" indent="-228600" algn="ctr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lvl="6" indent="-228600" algn="ctr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lvl="7" indent="-228600" algn="ctr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lvl="8" indent="-228600" algn="ctr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400"/>
                <a:buFont typeface="Arial" pitchFamily="34"/>
                <a:buNone/>
                <a:tabLst/>
                <a:defRPr/>
              </a:pPr>
              <a:r>
                <a:rPr kumimoji="0" lang="en-GB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42269"/>
                  </a:solidFill>
                  <a:effectLst/>
                  <a:uLnTx/>
                  <a:uFillTx/>
                  <a:latin typeface="+mn-lt"/>
                </a:rPr>
                <a:t>Article projects.</a:t>
              </a:r>
            </a:p>
          </p:txBody>
        </p:sp>
        <p:sp>
          <p:nvSpPr>
            <p:cNvPr id="114" name="Google Shape;422;p34">
              <a:extLst>
                <a:ext uri="{FF2B5EF4-FFF2-40B4-BE49-F238E27FC236}">
                  <a16:creationId xmlns:a16="http://schemas.microsoft.com/office/drawing/2014/main" id="{7AAD3A39-7471-AA3B-748E-13A6549D4424}"/>
                </a:ext>
              </a:extLst>
            </p:cNvPr>
            <p:cNvSpPr txBox="1">
              <a:spLocks/>
            </p:cNvSpPr>
            <p:nvPr/>
          </p:nvSpPr>
          <p:spPr>
            <a:xfrm>
              <a:off x="3605756" y="3454487"/>
              <a:ext cx="4179712" cy="131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121900" tIns="121900" rIns="121900" bIns="121900" anchor="b" anchorCtr="0" compatLnSpc="1">
              <a:noAutofit/>
            </a:bodyPr>
            <a:lstStyle>
              <a:lvl1pPr marL="215999" marR="0" lvl="0" indent="-215999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2400"/>
                <a:buFont typeface="Bebas Neue"/>
                <a:buNone/>
                <a:tabLst/>
                <a:defRPr lang="fr-FR" sz="2933" b="1" i="0" u="none" strike="noStrike" kern="1200" cap="none" spc="0" baseline="0">
                  <a:solidFill>
                    <a:schemeClr val="dk1"/>
                  </a:solidFill>
                  <a:uFillTx/>
                  <a:latin typeface="Poppins"/>
                  <a:ea typeface="Poppins"/>
                  <a:cs typeface="Poppins"/>
                  <a:sym typeface="Poppins"/>
                </a:defRPr>
              </a:lvl1pPr>
              <a:lvl2pPr marL="395999" marR="0" lvl="1" indent="-179999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2400"/>
                <a:buFont typeface="Bebas Neue"/>
                <a:buNone/>
                <a:tabLst/>
                <a:defRPr lang="fr-FR" sz="3200" b="0" i="0" u="none" strike="noStrike" kern="1200" cap="none" spc="0" baseline="0">
                  <a:solidFill>
                    <a:srgbClr val="242269"/>
                  </a:solidFill>
                  <a:uFillTx/>
                  <a:latin typeface="Bebas Neue"/>
                  <a:ea typeface="Bebas Neue"/>
                  <a:cs typeface="Bebas Neue"/>
                  <a:sym typeface="Bebas Neue"/>
                </a:defRPr>
              </a:lvl2pPr>
              <a:lvl3pPr marL="575998" marR="0" lvl="2" indent="-179999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2400"/>
                <a:buFont typeface="Bebas Neue"/>
                <a:buNone/>
                <a:tabLst/>
                <a:defRPr lang="fr-FR" sz="3200" b="0" i="0" u="none" strike="noStrike" kern="1200" cap="none" spc="0" baseline="0">
                  <a:solidFill>
                    <a:srgbClr val="242269"/>
                  </a:solidFill>
                  <a:uFillTx/>
                  <a:latin typeface="Bebas Neue"/>
                  <a:ea typeface="Bebas Neue"/>
                  <a:cs typeface="Bebas Neue"/>
                  <a:sym typeface="Bebas Neue"/>
                </a:defRPr>
              </a:lvl3pPr>
              <a:lvl4pPr marL="719998" marR="0" lvl="3" indent="-143999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2400"/>
                <a:buFont typeface="Bebas Neue"/>
                <a:buNone/>
                <a:tabLst/>
                <a:defRPr lang="fr-FR" sz="3200" b="0" i="0" u="none" strike="noStrike" kern="1200" cap="none" spc="0" baseline="0">
                  <a:solidFill>
                    <a:srgbClr val="242269"/>
                  </a:solidFill>
                  <a:uFillTx/>
                  <a:latin typeface="Bebas Neue"/>
                  <a:ea typeface="Bebas Neue"/>
                  <a:cs typeface="Bebas Neue"/>
                  <a:sym typeface="Bebas Neue"/>
                </a:defRPr>
              </a:lvl4pPr>
              <a:lvl5pPr marL="719998" marR="0" lvl="4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2400"/>
                <a:buFont typeface="Bebas Neue"/>
                <a:buNone/>
                <a:tabLst/>
                <a:defRPr lang="fr-FR" sz="3200" b="0" i="0" u="none" strike="noStrike" kern="1200" cap="none" spc="0" baseline="0">
                  <a:solidFill>
                    <a:srgbClr val="242269"/>
                  </a:solidFill>
                  <a:uFillTx/>
                  <a:latin typeface="Bebas Neue"/>
                  <a:ea typeface="Bebas Neue"/>
                  <a:cs typeface="Bebas Neue"/>
                  <a:sym typeface="Bebas Neue"/>
                </a:defRPr>
              </a:lvl5pPr>
              <a:lvl6pPr marL="2514600" lvl="5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2400"/>
                <a:buFont typeface="Bebas Neue"/>
                <a:buNone/>
                <a:defRPr sz="3200" kern="1200">
                  <a:solidFill>
                    <a:schemeClr val="tx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6pPr>
              <a:lvl7pPr marL="2971800" lvl="6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2400"/>
                <a:buFont typeface="Bebas Neue"/>
                <a:buNone/>
                <a:defRPr sz="3200" kern="1200">
                  <a:solidFill>
                    <a:schemeClr val="tx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7pPr>
              <a:lvl8pPr marL="3429000" lvl="7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2400"/>
                <a:buFont typeface="Bebas Neue"/>
                <a:buNone/>
                <a:defRPr sz="3200" kern="1200">
                  <a:solidFill>
                    <a:schemeClr val="tx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8pPr>
              <a:lvl9pPr marL="3886200" lvl="8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2400"/>
                <a:buFont typeface="Bebas Neue"/>
                <a:buNone/>
                <a:defRPr sz="3200" kern="1200">
                  <a:solidFill>
                    <a:schemeClr val="tx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400"/>
                <a:buFont typeface="Bebas Neue"/>
                <a:buNone/>
                <a:tabLst/>
                <a:defRPr/>
              </a:pPr>
              <a:r>
                <a:rPr kumimoji="0" lang="en-GB" sz="26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lt"/>
                  <a:cs typeface="Poppins"/>
                  <a:sym typeface="Poppins"/>
                </a:rPr>
                <a:t>Miscellaneous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C1A87BA-B62E-E9B7-0AF2-4982C5B9EB2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29179" y="4143043"/>
              <a:ext cx="1080000" cy="1080000"/>
              <a:chOff x="3019667" y="4440483"/>
              <a:chExt cx="979600" cy="871600"/>
            </a:xfrm>
          </p:grpSpPr>
          <p:sp>
            <p:nvSpPr>
              <p:cNvPr id="117" name="Google Shape;425;p34">
                <a:extLst>
                  <a:ext uri="{FF2B5EF4-FFF2-40B4-BE49-F238E27FC236}">
                    <a16:creationId xmlns:a16="http://schemas.microsoft.com/office/drawing/2014/main" id="{D0CF32CE-796F-3503-DB9E-D0F51456D22A}"/>
                  </a:ext>
                </a:extLst>
              </p:cNvPr>
              <p:cNvSpPr/>
              <p:nvPr/>
            </p:nvSpPr>
            <p:spPr>
              <a:xfrm>
                <a:off x="3073657" y="4440483"/>
                <a:ext cx="871600" cy="871600"/>
              </a:xfrm>
              <a:prstGeom prst="roundRect">
                <a:avLst>
                  <a:gd name="adj" fmla="val 16667"/>
                </a:avLst>
              </a:prstGeom>
              <a:solidFill>
                <a:srgbClr val="E7E6E6"/>
              </a:solidFill>
              <a:ln w="28575" cap="flat" cmpd="sng">
                <a:solidFill>
                  <a:srgbClr val="44546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9" name="Google Shape;427;p34">
                <a:extLst>
                  <a:ext uri="{FF2B5EF4-FFF2-40B4-BE49-F238E27FC236}">
                    <a16:creationId xmlns:a16="http://schemas.microsoft.com/office/drawing/2014/main" id="{D4566A17-2AEB-7DB1-767E-EA717FDE12C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19667" y="4577877"/>
                <a:ext cx="979600" cy="596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vert="horz" wrap="square" lIns="121900" tIns="121900" rIns="121900" bIns="121900" anchor="ctr" anchorCtr="0" compatLnSpc="1">
                <a:noAutofit/>
              </a:bodyPr>
              <a:lstStyle>
                <a:lvl1pPr marL="0" marR="0" lvl="0" indent="0" algn="ctr" defTabSz="914400" rtl="0" fontAlgn="auto" hangingPunct="1">
                  <a:lnSpc>
                    <a:spcPts val="3200"/>
                  </a:lnSpc>
                  <a:spcBef>
                    <a:spcPts val="0"/>
                  </a:spcBef>
                  <a:spcAft>
                    <a:spcPts val="0"/>
                  </a:spcAft>
                  <a:buSzPts val="3000"/>
                  <a:buNone/>
                  <a:tabLst/>
                  <a:defRPr lang="fr-FR" sz="4000" b="1" i="0" u="none" strike="noStrike" kern="1200" cap="none" spc="0" baseline="0">
                    <a:solidFill>
                      <a:srgbClr val="242269"/>
                    </a:solidFill>
                    <a:uFillTx/>
                    <a:latin typeface="Century Gothic" pitchFamily="34"/>
                  </a:defRPr>
                </a:lvl1pPr>
                <a:lvl2pPr lvl="1" rtl="0">
                  <a:spcBef>
                    <a:spcPts val="0"/>
                  </a:spcBef>
                  <a:spcAft>
                    <a:spcPts val="0"/>
                  </a:spcAft>
                  <a:buSzPts val="3000"/>
                  <a:buNone/>
                  <a:defRPr sz="4000"/>
                </a:lvl2pPr>
                <a:lvl3pPr lvl="2" rtl="0">
                  <a:spcBef>
                    <a:spcPts val="0"/>
                  </a:spcBef>
                  <a:spcAft>
                    <a:spcPts val="0"/>
                  </a:spcAft>
                  <a:buSzPts val="3000"/>
                  <a:buNone/>
                  <a:defRPr sz="4000"/>
                </a:lvl3pPr>
                <a:lvl4pPr lvl="3" rtl="0">
                  <a:spcBef>
                    <a:spcPts val="0"/>
                  </a:spcBef>
                  <a:spcAft>
                    <a:spcPts val="0"/>
                  </a:spcAft>
                  <a:buSzPts val="3000"/>
                  <a:buNone/>
                  <a:defRPr sz="4000"/>
                </a:lvl4pPr>
                <a:lvl5pPr lvl="4" rtl="0">
                  <a:spcBef>
                    <a:spcPts val="0"/>
                  </a:spcBef>
                  <a:spcAft>
                    <a:spcPts val="0"/>
                  </a:spcAft>
                  <a:buSzPts val="3000"/>
                  <a:buNone/>
                  <a:defRPr sz="4000"/>
                </a:lvl5pPr>
                <a:lvl6pPr lvl="5" rtl="0">
                  <a:spcBef>
                    <a:spcPts val="0"/>
                  </a:spcBef>
                  <a:spcAft>
                    <a:spcPts val="0"/>
                  </a:spcAft>
                  <a:buSzPts val="3000"/>
                  <a:buNone/>
                  <a:defRPr sz="4000"/>
                </a:lvl6pPr>
                <a:lvl7pPr lvl="6" rtl="0">
                  <a:spcBef>
                    <a:spcPts val="0"/>
                  </a:spcBef>
                  <a:spcAft>
                    <a:spcPts val="0"/>
                  </a:spcAft>
                  <a:buSzPts val="3000"/>
                  <a:buNone/>
                  <a:defRPr sz="4000"/>
                </a:lvl7pPr>
                <a:lvl8pPr lvl="7" rtl="0">
                  <a:spcBef>
                    <a:spcPts val="0"/>
                  </a:spcBef>
                  <a:spcAft>
                    <a:spcPts val="0"/>
                  </a:spcAft>
                  <a:buSzPts val="3000"/>
                  <a:buNone/>
                  <a:defRPr sz="4000"/>
                </a:lvl8pPr>
                <a:lvl9pPr lvl="8" rtl="0">
                  <a:spcBef>
                    <a:spcPts val="0"/>
                  </a:spcBef>
                  <a:spcAft>
                    <a:spcPts val="0"/>
                  </a:spcAft>
                  <a:buSzPts val="3000"/>
                  <a:buNone/>
                  <a:defRPr sz="4000"/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32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ts val="3000"/>
                  <a:buFontTx/>
                  <a:buNone/>
                  <a:tabLst/>
                  <a:defRPr/>
                </a:pPr>
                <a:r>
                  <a:rPr kumimoji="0" lang="en-GB" sz="4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42269"/>
                    </a:solidFill>
                    <a:effectLst/>
                    <a:uLnTx/>
                    <a:uFillTx/>
                    <a:latin typeface="+mn-lt"/>
                  </a:rPr>
                  <a:t>03</a:t>
                </a:r>
              </a:p>
            </p:txBody>
          </p: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77D8DDE-1068-A58B-2419-8A57EB2E5287}"/>
              </a:ext>
            </a:extLst>
          </p:cNvPr>
          <p:cNvGrpSpPr/>
          <p:nvPr/>
        </p:nvGrpSpPr>
        <p:grpSpPr>
          <a:xfrm>
            <a:off x="2529179" y="1766371"/>
            <a:ext cx="6720196" cy="1934771"/>
            <a:chOff x="2529179" y="1766371"/>
            <a:chExt cx="6720196" cy="1934771"/>
          </a:xfrm>
        </p:grpSpPr>
        <p:sp>
          <p:nvSpPr>
            <p:cNvPr id="110" name="Google Shape;418;p34">
              <a:extLst>
                <a:ext uri="{FF2B5EF4-FFF2-40B4-BE49-F238E27FC236}">
                  <a16:creationId xmlns:a16="http://schemas.microsoft.com/office/drawing/2014/main" id="{1803B0A6-22A2-C367-575A-643FAEF90122}"/>
                </a:ext>
              </a:extLst>
            </p:cNvPr>
            <p:cNvSpPr txBox="1">
              <a:spLocks/>
            </p:cNvSpPr>
            <p:nvPr/>
          </p:nvSpPr>
          <p:spPr>
            <a:xfrm>
              <a:off x="3605756" y="2937542"/>
              <a:ext cx="5140202" cy="76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121900" tIns="121900" rIns="121900" bIns="121900" anchor="t" anchorCtr="0" compatLnSpc="1">
              <a:noAutofit/>
            </a:bodyPr>
            <a:lstStyle>
              <a:lvl1pPr marL="215999" marR="0" lvl="0" indent="-215999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itchFamily="34"/>
                <a:buNone/>
                <a:tabLst/>
                <a:defRPr lang="fr-FR" sz="1867" b="0" i="0" u="none" strike="noStrike" kern="1200" cap="none" spc="0" baseline="0">
                  <a:solidFill>
                    <a:srgbClr val="242269"/>
                  </a:solidFill>
                  <a:uFillTx/>
                  <a:latin typeface="Century Gothic" pitchFamily="34"/>
                </a:defRPr>
              </a:lvl1pPr>
              <a:lvl2pPr marL="395999" marR="0" lvl="1" indent="-179999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Police système"/>
                <a:buNone/>
                <a:tabLst/>
                <a:defRPr lang="fr-FR" sz="1800" b="0" i="0" u="none" strike="noStrike" kern="1200" cap="none" spc="0" baseline="0">
                  <a:solidFill>
                    <a:srgbClr val="242269"/>
                  </a:solidFill>
                  <a:uFillTx/>
                  <a:latin typeface="Century Gothic" pitchFamily="34"/>
                </a:defRPr>
              </a:lvl2pPr>
              <a:lvl3pPr marL="575998" marR="0" lvl="2" indent="-179999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itchFamily="34"/>
                <a:buNone/>
                <a:tabLst/>
                <a:defRPr lang="fr-FR" sz="1600" b="0" i="0" u="none" strike="noStrike" kern="1200" cap="none" spc="0" baseline="0">
                  <a:solidFill>
                    <a:srgbClr val="242269"/>
                  </a:solidFill>
                  <a:uFillTx/>
                  <a:latin typeface="Century Gothic" pitchFamily="34"/>
                </a:defRPr>
              </a:lvl3pPr>
              <a:lvl4pPr marL="719998" marR="0" lvl="3" indent="-143999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Police système"/>
                <a:buNone/>
                <a:tabLst/>
                <a:defRPr lang="fr-FR" sz="1400" b="0" i="0" u="none" strike="noStrike" kern="1200" cap="none" spc="0" baseline="0">
                  <a:solidFill>
                    <a:srgbClr val="242269"/>
                  </a:solidFill>
                  <a:uFillTx/>
                  <a:latin typeface="Century Gothic" pitchFamily="34"/>
                </a:defRPr>
              </a:lvl4pPr>
              <a:lvl5pPr marL="719998" marR="0" lvl="4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  <a:tabLst/>
                <a:defRPr lang="fr-FR" sz="1200" b="0" i="0" u="none" strike="noStrike" kern="1200" cap="none" spc="0" baseline="0">
                  <a:solidFill>
                    <a:srgbClr val="242269"/>
                  </a:solidFill>
                  <a:uFillTx/>
                  <a:latin typeface="Century Gothic" pitchFamily="34"/>
                </a:defRPr>
              </a:lvl5pPr>
              <a:lvl6pPr marL="2514600" lvl="5" indent="-228600" algn="ctr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lvl="6" indent="-228600" algn="ctr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lvl="7" indent="-228600" algn="ctr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lvl="8" indent="-228600" algn="ctr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400"/>
                <a:buFont typeface="Arial" pitchFamily="34"/>
                <a:buNone/>
                <a:tabLst/>
                <a:defRPr/>
              </a:pPr>
              <a:r>
                <a:rPr kumimoji="0" lang="en-GB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42269"/>
                  </a:solidFill>
                  <a:effectLst/>
                  <a:uLnTx/>
                  <a:uFillTx/>
                  <a:latin typeface="+mn-lt"/>
                </a:rPr>
                <a:t>Canada, Hackathon, Workshop, …</a:t>
              </a:r>
            </a:p>
          </p:txBody>
        </p:sp>
        <p:sp>
          <p:nvSpPr>
            <p:cNvPr id="113" name="Google Shape;421;p34">
              <a:extLst>
                <a:ext uri="{FF2B5EF4-FFF2-40B4-BE49-F238E27FC236}">
                  <a16:creationId xmlns:a16="http://schemas.microsoft.com/office/drawing/2014/main" id="{07FC65D4-D624-1968-D1F0-BD8B01BBBFE1}"/>
                </a:ext>
              </a:extLst>
            </p:cNvPr>
            <p:cNvSpPr txBox="1">
              <a:spLocks/>
            </p:cNvSpPr>
            <p:nvPr/>
          </p:nvSpPr>
          <p:spPr>
            <a:xfrm>
              <a:off x="3549424" y="1766371"/>
              <a:ext cx="5699951" cy="131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121900" tIns="121900" rIns="121900" bIns="121900" anchor="b" anchorCtr="0" compatLnSpc="1">
              <a:noAutofit/>
            </a:bodyPr>
            <a:lstStyle>
              <a:lvl1pPr marL="215999" marR="0" lvl="0" indent="-215999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2400"/>
                <a:buFont typeface="Bebas Neue"/>
                <a:buNone/>
                <a:tabLst/>
                <a:defRPr lang="fr-FR" sz="2933" b="1" i="0" u="none" strike="noStrike" kern="1200" cap="none" spc="0" baseline="0">
                  <a:solidFill>
                    <a:schemeClr val="dk1"/>
                  </a:solidFill>
                  <a:uFillTx/>
                  <a:latin typeface="Poppins"/>
                  <a:ea typeface="Poppins"/>
                  <a:cs typeface="Poppins"/>
                  <a:sym typeface="Poppins"/>
                </a:defRPr>
              </a:lvl1pPr>
              <a:lvl2pPr marL="395999" marR="0" lvl="1" indent="-179999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2400"/>
                <a:buFont typeface="Bebas Neue"/>
                <a:buNone/>
                <a:tabLst/>
                <a:defRPr lang="fr-FR" sz="3200" b="0" i="0" u="none" strike="noStrike" kern="1200" cap="none" spc="0" baseline="0">
                  <a:solidFill>
                    <a:srgbClr val="242269"/>
                  </a:solidFill>
                  <a:uFillTx/>
                  <a:latin typeface="Bebas Neue"/>
                  <a:ea typeface="Bebas Neue"/>
                  <a:cs typeface="Bebas Neue"/>
                  <a:sym typeface="Bebas Neue"/>
                </a:defRPr>
              </a:lvl2pPr>
              <a:lvl3pPr marL="575998" marR="0" lvl="2" indent="-179999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2400"/>
                <a:buFont typeface="Bebas Neue"/>
                <a:buNone/>
                <a:tabLst/>
                <a:defRPr lang="fr-FR" sz="3200" b="0" i="0" u="none" strike="noStrike" kern="1200" cap="none" spc="0" baseline="0">
                  <a:solidFill>
                    <a:srgbClr val="242269"/>
                  </a:solidFill>
                  <a:uFillTx/>
                  <a:latin typeface="Bebas Neue"/>
                  <a:ea typeface="Bebas Neue"/>
                  <a:cs typeface="Bebas Neue"/>
                  <a:sym typeface="Bebas Neue"/>
                </a:defRPr>
              </a:lvl3pPr>
              <a:lvl4pPr marL="719998" marR="0" lvl="3" indent="-143999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2400"/>
                <a:buFont typeface="Bebas Neue"/>
                <a:buNone/>
                <a:tabLst/>
                <a:defRPr lang="fr-FR" sz="3200" b="0" i="0" u="none" strike="noStrike" kern="1200" cap="none" spc="0" baseline="0">
                  <a:solidFill>
                    <a:srgbClr val="242269"/>
                  </a:solidFill>
                  <a:uFillTx/>
                  <a:latin typeface="Bebas Neue"/>
                  <a:ea typeface="Bebas Neue"/>
                  <a:cs typeface="Bebas Neue"/>
                  <a:sym typeface="Bebas Neue"/>
                </a:defRPr>
              </a:lvl4pPr>
              <a:lvl5pPr marL="719998" marR="0" lvl="4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2400"/>
                <a:buFont typeface="Bebas Neue"/>
                <a:buNone/>
                <a:tabLst/>
                <a:defRPr lang="fr-FR" sz="3200" b="0" i="0" u="none" strike="noStrike" kern="1200" cap="none" spc="0" baseline="0">
                  <a:solidFill>
                    <a:srgbClr val="242269"/>
                  </a:solidFill>
                  <a:uFillTx/>
                  <a:latin typeface="Bebas Neue"/>
                  <a:ea typeface="Bebas Neue"/>
                  <a:cs typeface="Bebas Neue"/>
                  <a:sym typeface="Bebas Neue"/>
                </a:defRPr>
              </a:lvl5pPr>
              <a:lvl6pPr marL="2514600" lvl="5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2400"/>
                <a:buFont typeface="Bebas Neue"/>
                <a:buNone/>
                <a:defRPr sz="3200" kern="1200">
                  <a:solidFill>
                    <a:schemeClr val="tx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6pPr>
              <a:lvl7pPr marL="2971800" lvl="6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2400"/>
                <a:buFont typeface="Bebas Neue"/>
                <a:buNone/>
                <a:defRPr sz="3200" kern="1200">
                  <a:solidFill>
                    <a:schemeClr val="tx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7pPr>
              <a:lvl8pPr marL="3429000" lvl="7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2400"/>
                <a:buFont typeface="Bebas Neue"/>
                <a:buNone/>
                <a:defRPr sz="3200" kern="1200">
                  <a:solidFill>
                    <a:schemeClr val="tx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8pPr>
              <a:lvl9pPr marL="3886200" lvl="8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2400"/>
                <a:buFont typeface="Bebas Neue"/>
                <a:buNone/>
                <a:defRPr sz="3200" kern="1200">
                  <a:solidFill>
                    <a:schemeClr val="tx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400"/>
                <a:buFont typeface="Bebas Neue"/>
                <a:buNone/>
                <a:tabLst/>
                <a:defRPr/>
              </a:pPr>
              <a:r>
                <a:rPr kumimoji="0" lang="en-GB" sz="26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lt"/>
                  <a:cs typeface="Poppins"/>
                  <a:sym typeface="Poppins"/>
                </a:rPr>
                <a:t>Collaboration perspectives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703E598-05E1-EFF3-D93F-A96782B7946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29179" y="2584104"/>
              <a:ext cx="1080000" cy="1080000"/>
              <a:chOff x="3019667" y="3197875"/>
              <a:chExt cx="1116214" cy="871600"/>
            </a:xfrm>
          </p:grpSpPr>
          <p:sp>
            <p:nvSpPr>
              <p:cNvPr id="120" name="Google Shape;428;p34">
                <a:extLst>
                  <a:ext uri="{FF2B5EF4-FFF2-40B4-BE49-F238E27FC236}">
                    <a16:creationId xmlns:a16="http://schemas.microsoft.com/office/drawing/2014/main" id="{010F456B-C7F9-0CB7-9696-B2D153679CC5}"/>
                  </a:ext>
                </a:extLst>
              </p:cNvPr>
              <p:cNvSpPr/>
              <p:nvPr/>
            </p:nvSpPr>
            <p:spPr>
              <a:xfrm>
                <a:off x="3081181" y="3197875"/>
                <a:ext cx="993152" cy="871600"/>
              </a:xfrm>
              <a:prstGeom prst="roundRect">
                <a:avLst>
                  <a:gd name="adj" fmla="val 16667"/>
                </a:avLst>
              </a:prstGeom>
              <a:solidFill>
                <a:srgbClr val="E7E6E6"/>
              </a:solidFill>
              <a:ln w="28575" cap="flat" cmpd="sng">
                <a:solidFill>
                  <a:srgbClr val="44546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2" name="Google Shape;430;p34">
                <a:extLst>
                  <a:ext uri="{FF2B5EF4-FFF2-40B4-BE49-F238E27FC236}">
                    <a16:creationId xmlns:a16="http://schemas.microsoft.com/office/drawing/2014/main" id="{52493920-0991-07C6-5D9B-9ADC42EDC3C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19667" y="3335286"/>
                <a:ext cx="1116214" cy="596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vert="horz" wrap="square" lIns="121900" tIns="121900" rIns="121900" bIns="121900" anchor="ctr" anchorCtr="0" compatLnSpc="1">
                <a:noAutofit/>
              </a:bodyPr>
              <a:lstStyle>
                <a:lvl1pPr marL="0" marR="0" lvl="0" indent="0" algn="ctr" defTabSz="914400" rtl="0" fontAlgn="auto" hangingPunct="1">
                  <a:lnSpc>
                    <a:spcPts val="3200"/>
                  </a:lnSpc>
                  <a:spcBef>
                    <a:spcPts val="0"/>
                  </a:spcBef>
                  <a:spcAft>
                    <a:spcPts val="0"/>
                  </a:spcAft>
                  <a:buSzPts val="3000"/>
                  <a:buNone/>
                  <a:tabLst/>
                  <a:defRPr lang="fr-FR" sz="4000" b="1" i="0" u="none" strike="noStrike" kern="1200" cap="none" spc="0" baseline="0">
                    <a:solidFill>
                      <a:srgbClr val="242269"/>
                    </a:solidFill>
                    <a:uFillTx/>
                    <a:latin typeface="Century Gothic" pitchFamily="34"/>
                  </a:defRPr>
                </a:lvl1pPr>
                <a:lvl2pPr lvl="1" rtl="0">
                  <a:spcBef>
                    <a:spcPts val="0"/>
                  </a:spcBef>
                  <a:spcAft>
                    <a:spcPts val="0"/>
                  </a:spcAft>
                  <a:buSzPts val="3000"/>
                  <a:buNone/>
                  <a:defRPr sz="4000"/>
                </a:lvl2pPr>
                <a:lvl3pPr lvl="2" rtl="0">
                  <a:spcBef>
                    <a:spcPts val="0"/>
                  </a:spcBef>
                  <a:spcAft>
                    <a:spcPts val="0"/>
                  </a:spcAft>
                  <a:buSzPts val="3000"/>
                  <a:buNone/>
                  <a:defRPr sz="4000"/>
                </a:lvl3pPr>
                <a:lvl4pPr lvl="3" rtl="0">
                  <a:spcBef>
                    <a:spcPts val="0"/>
                  </a:spcBef>
                  <a:spcAft>
                    <a:spcPts val="0"/>
                  </a:spcAft>
                  <a:buSzPts val="3000"/>
                  <a:buNone/>
                  <a:defRPr sz="4000"/>
                </a:lvl4pPr>
                <a:lvl5pPr lvl="4" rtl="0">
                  <a:spcBef>
                    <a:spcPts val="0"/>
                  </a:spcBef>
                  <a:spcAft>
                    <a:spcPts val="0"/>
                  </a:spcAft>
                  <a:buSzPts val="3000"/>
                  <a:buNone/>
                  <a:defRPr sz="4000"/>
                </a:lvl5pPr>
                <a:lvl6pPr lvl="5" rtl="0">
                  <a:spcBef>
                    <a:spcPts val="0"/>
                  </a:spcBef>
                  <a:spcAft>
                    <a:spcPts val="0"/>
                  </a:spcAft>
                  <a:buSzPts val="3000"/>
                  <a:buNone/>
                  <a:defRPr sz="4000"/>
                </a:lvl6pPr>
                <a:lvl7pPr lvl="6" rtl="0">
                  <a:spcBef>
                    <a:spcPts val="0"/>
                  </a:spcBef>
                  <a:spcAft>
                    <a:spcPts val="0"/>
                  </a:spcAft>
                  <a:buSzPts val="3000"/>
                  <a:buNone/>
                  <a:defRPr sz="4000"/>
                </a:lvl7pPr>
                <a:lvl8pPr lvl="7" rtl="0">
                  <a:spcBef>
                    <a:spcPts val="0"/>
                  </a:spcBef>
                  <a:spcAft>
                    <a:spcPts val="0"/>
                  </a:spcAft>
                  <a:buSzPts val="3000"/>
                  <a:buNone/>
                  <a:defRPr sz="4000"/>
                </a:lvl8pPr>
                <a:lvl9pPr lvl="8" rtl="0">
                  <a:spcBef>
                    <a:spcPts val="0"/>
                  </a:spcBef>
                  <a:spcAft>
                    <a:spcPts val="0"/>
                  </a:spcAft>
                  <a:buSzPts val="3000"/>
                  <a:buNone/>
                  <a:defRPr sz="4000"/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32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ts val="3000"/>
                  <a:buFontTx/>
                  <a:buNone/>
                  <a:tabLst/>
                  <a:defRPr/>
                </a:pPr>
                <a:r>
                  <a:rPr kumimoji="0" lang="en-GB" sz="4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42269"/>
                    </a:solidFill>
                    <a:effectLst/>
                    <a:uLnTx/>
                    <a:uFillTx/>
                    <a:latin typeface="+mn-lt"/>
                  </a:rPr>
                  <a:t>02</a:t>
                </a:r>
              </a:p>
            </p:txBody>
          </p:sp>
        </p:grpSp>
      </p:grpSp>
      <p:grpSp>
        <p:nvGrpSpPr>
          <p:cNvPr id="124" name="Google Shape;341;p32">
            <a:extLst>
              <a:ext uri="{FF2B5EF4-FFF2-40B4-BE49-F238E27FC236}">
                <a16:creationId xmlns:a16="http://schemas.microsoft.com/office/drawing/2014/main" id="{414E4427-3D49-4309-EED8-8B850681F031}"/>
              </a:ext>
            </a:extLst>
          </p:cNvPr>
          <p:cNvGrpSpPr/>
          <p:nvPr/>
        </p:nvGrpSpPr>
        <p:grpSpPr>
          <a:xfrm>
            <a:off x="9707425" y="127293"/>
            <a:ext cx="2267661" cy="1347403"/>
            <a:chOff x="2570875" y="2872825"/>
            <a:chExt cx="1053550" cy="626000"/>
          </a:xfrm>
        </p:grpSpPr>
        <p:sp>
          <p:nvSpPr>
            <p:cNvPr id="125" name="Google Shape;342;p32">
              <a:extLst>
                <a:ext uri="{FF2B5EF4-FFF2-40B4-BE49-F238E27FC236}">
                  <a16:creationId xmlns:a16="http://schemas.microsoft.com/office/drawing/2014/main" id="{FBA9F7BC-3304-4C26-CF0C-D9FE99C3A793}"/>
                </a:ext>
              </a:extLst>
            </p:cNvPr>
            <p:cNvSpPr/>
            <p:nvPr/>
          </p:nvSpPr>
          <p:spPr>
            <a:xfrm>
              <a:off x="3385200" y="3040975"/>
              <a:ext cx="14275" cy="850"/>
            </a:xfrm>
            <a:custGeom>
              <a:avLst/>
              <a:gdLst/>
              <a:ahLst/>
              <a:cxnLst/>
              <a:rect l="l" t="t" r="r" b="b"/>
              <a:pathLst>
                <a:path w="571" h="34" extrusionOk="0">
                  <a:moveTo>
                    <a:pt x="571" y="1"/>
                  </a:moveTo>
                  <a:lnTo>
                    <a:pt x="571" y="1"/>
                  </a:lnTo>
                  <a:cubicBezTo>
                    <a:pt x="393" y="20"/>
                    <a:pt x="214" y="30"/>
                    <a:pt x="33" y="33"/>
                  </a:cubicBezTo>
                  <a:lnTo>
                    <a:pt x="33" y="33"/>
                  </a:lnTo>
                  <a:cubicBezTo>
                    <a:pt x="47" y="33"/>
                    <a:pt x="62" y="33"/>
                    <a:pt x="77" y="33"/>
                  </a:cubicBezTo>
                  <a:cubicBezTo>
                    <a:pt x="102" y="33"/>
                    <a:pt x="128" y="33"/>
                    <a:pt x="153" y="32"/>
                  </a:cubicBezTo>
                  <a:cubicBezTo>
                    <a:pt x="278" y="27"/>
                    <a:pt x="403" y="19"/>
                    <a:pt x="528" y="7"/>
                  </a:cubicBezTo>
                  <a:lnTo>
                    <a:pt x="571" y="1"/>
                  </a:lnTo>
                  <a:close/>
                  <a:moveTo>
                    <a:pt x="33" y="33"/>
                  </a:moveTo>
                  <a:cubicBezTo>
                    <a:pt x="22" y="33"/>
                    <a:pt x="11" y="33"/>
                    <a:pt x="0" y="34"/>
                  </a:cubicBezTo>
                  <a:cubicBezTo>
                    <a:pt x="11" y="33"/>
                    <a:pt x="22" y="33"/>
                    <a:pt x="33" y="33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26" name="Google Shape;343;p32">
              <a:extLst>
                <a:ext uri="{FF2B5EF4-FFF2-40B4-BE49-F238E27FC236}">
                  <a16:creationId xmlns:a16="http://schemas.microsoft.com/office/drawing/2014/main" id="{69E94BE4-0E2B-D2A4-9D2C-B32DAE46A797}"/>
                </a:ext>
              </a:extLst>
            </p:cNvPr>
            <p:cNvSpPr/>
            <p:nvPr/>
          </p:nvSpPr>
          <p:spPr>
            <a:xfrm>
              <a:off x="3353225" y="3038425"/>
              <a:ext cx="13625" cy="2350"/>
            </a:xfrm>
            <a:custGeom>
              <a:avLst/>
              <a:gdLst/>
              <a:ahLst/>
              <a:cxnLst/>
              <a:rect l="l" t="t" r="r" b="b"/>
              <a:pathLst>
                <a:path w="545" h="94" extrusionOk="0">
                  <a:moveTo>
                    <a:pt x="0" y="1"/>
                  </a:moveTo>
                  <a:lnTo>
                    <a:pt x="88" y="23"/>
                  </a:lnTo>
                  <a:cubicBezTo>
                    <a:pt x="199" y="46"/>
                    <a:pt x="310" y="65"/>
                    <a:pt x="424" y="82"/>
                  </a:cubicBezTo>
                  <a:cubicBezTo>
                    <a:pt x="464" y="87"/>
                    <a:pt x="505" y="89"/>
                    <a:pt x="545" y="94"/>
                  </a:cubicBezTo>
                  <a:cubicBezTo>
                    <a:pt x="360" y="73"/>
                    <a:pt x="178" y="41"/>
                    <a:pt x="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27" name="Google Shape;344;p32">
              <a:extLst>
                <a:ext uri="{FF2B5EF4-FFF2-40B4-BE49-F238E27FC236}">
                  <a16:creationId xmlns:a16="http://schemas.microsoft.com/office/drawing/2014/main" id="{2744E2EE-9A96-A352-B148-B508E0C19AD9}"/>
                </a:ext>
              </a:extLst>
            </p:cNvPr>
            <p:cNvSpPr/>
            <p:nvPr/>
          </p:nvSpPr>
          <p:spPr>
            <a:xfrm>
              <a:off x="3368925" y="3041025"/>
              <a:ext cx="14025" cy="800"/>
            </a:xfrm>
            <a:custGeom>
              <a:avLst/>
              <a:gdLst/>
              <a:ahLst/>
              <a:cxnLst/>
              <a:rect l="l" t="t" r="r" b="b"/>
              <a:pathLst>
                <a:path w="561" h="32" extrusionOk="0">
                  <a:moveTo>
                    <a:pt x="0" y="0"/>
                  </a:moveTo>
                  <a:lnTo>
                    <a:pt x="0" y="0"/>
                  </a:lnTo>
                  <a:cubicBezTo>
                    <a:pt x="40" y="5"/>
                    <a:pt x="82" y="10"/>
                    <a:pt x="125" y="14"/>
                  </a:cubicBezTo>
                  <a:cubicBezTo>
                    <a:pt x="236" y="23"/>
                    <a:pt x="347" y="28"/>
                    <a:pt x="458" y="32"/>
                  </a:cubicBezTo>
                  <a:lnTo>
                    <a:pt x="560" y="32"/>
                  </a:lnTo>
                  <a:cubicBezTo>
                    <a:pt x="374" y="30"/>
                    <a:pt x="185" y="19"/>
                    <a:pt x="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28" name="Google Shape;345;p32">
              <a:extLst>
                <a:ext uri="{FF2B5EF4-FFF2-40B4-BE49-F238E27FC236}">
                  <a16:creationId xmlns:a16="http://schemas.microsoft.com/office/drawing/2014/main" id="{1B7AEEC7-23CE-DD6B-8998-9B6721B98BAF}"/>
                </a:ext>
              </a:extLst>
            </p:cNvPr>
            <p:cNvSpPr/>
            <p:nvPr/>
          </p:nvSpPr>
          <p:spPr>
            <a:xfrm>
              <a:off x="3401875" y="3038875"/>
              <a:ext cx="10400" cy="1800"/>
            </a:xfrm>
            <a:custGeom>
              <a:avLst/>
              <a:gdLst/>
              <a:ahLst/>
              <a:cxnLst/>
              <a:rect l="l" t="t" r="r" b="b"/>
              <a:pathLst>
                <a:path w="416" h="72" extrusionOk="0">
                  <a:moveTo>
                    <a:pt x="416" y="1"/>
                  </a:moveTo>
                  <a:lnTo>
                    <a:pt x="416" y="1"/>
                  </a:lnTo>
                  <a:cubicBezTo>
                    <a:pt x="279" y="29"/>
                    <a:pt x="142" y="55"/>
                    <a:pt x="0" y="71"/>
                  </a:cubicBezTo>
                  <a:cubicBezTo>
                    <a:pt x="98" y="60"/>
                    <a:pt x="197" y="49"/>
                    <a:pt x="292" y="31"/>
                  </a:cubicBezTo>
                  <a:cubicBezTo>
                    <a:pt x="334" y="23"/>
                    <a:pt x="373" y="10"/>
                    <a:pt x="41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29" name="Google Shape;346;p32">
              <a:extLst>
                <a:ext uri="{FF2B5EF4-FFF2-40B4-BE49-F238E27FC236}">
                  <a16:creationId xmlns:a16="http://schemas.microsoft.com/office/drawing/2014/main" id="{34FC13C5-0F75-1015-8DE7-3E260294EC66}"/>
                </a:ext>
              </a:extLst>
            </p:cNvPr>
            <p:cNvSpPr/>
            <p:nvPr/>
          </p:nvSpPr>
          <p:spPr>
            <a:xfrm>
              <a:off x="3420675" y="3034350"/>
              <a:ext cx="7975" cy="2450"/>
            </a:xfrm>
            <a:custGeom>
              <a:avLst/>
              <a:gdLst/>
              <a:ahLst/>
              <a:cxnLst/>
              <a:rect l="l" t="t" r="r" b="b"/>
              <a:pathLst>
                <a:path w="319" h="98" extrusionOk="0">
                  <a:moveTo>
                    <a:pt x="318" y="1"/>
                  </a:moveTo>
                  <a:cubicBezTo>
                    <a:pt x="310" y="4"/>
                    <a:pt x="301" y="7"/>
                    <a:pt x="292" y="10"/>
                  </a:cubicBezTo>
                  <a:lnTo>
                    <a:pt x="292" y="10"/>
                  </a:lnTo>
                  <a:cubicBezTo>
                    <a:pt x="301" y="7"/>
                    <a:pt x="310" y="4"/>
                    <a:pt x="318" y="1"/>
                  </a:cubicBezTo>
                  <a:close/>
                  <a:moveTo>
                    <a:pt x="292" y="10"/>
                  </a:moveTo>
                  <a:cubicBezTo>
                    <a:pt x="201" y="42"/>
                    <a:pt x="106" y="68"/>
                    <a:pt x="11" y="95"/>
                  </a:cubicBezTo>
                  <a:lnTo>
                    <a:pt x="11" y="95"/>
                  </a:lnTo>
                  <a:cubicBezTo>
                    <a:pt x="66" y="79"/>
                    <a:pt x="125" y="70"/>
                    <a:pt x="180" y="53"/>
                  </a:cubicBezTo>
                  <a:cubicBezTo>
                    <a:pt x="220" y="40"/>
                    <a:pt x="255" y="24"/>
                    <a:pt x="292" y="10"/>
                  </a:cubicBezTo>
                  <a:close/>
                  <a:moveTo>
                    <a:pt x="11" y="95"/>
                  </a:moveTo>
                  <a:cubicBezTo>
                    <a:pt x="7" y="96"/>
                    <a:pt x="4" y="97"/>
                    <a:pt x="1" y="97"/>
                  </a:cubicBezTo>
                  <a:cubicBezTo>
                    <a:pt x="4" y="97"/>
                    <a:pt x="7" y="96"/>
                    <a:pt x="11" y="95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30" name="Google Shape;347;p32">
              <a:extLst>
                <a:ext uri="{FF2B5EF4-FFF2-40B4-BE49-F238E27FC236}">
                  <a16:creationId xmlns:a16="http://schemas.microsoft.com/office/drawing/2014/main" id="{17693CDC-A108-2A8A-085E-FE81055B32A2}"/>
                </a:ext>
              </a:extLst>
            </p:cNvPr>
            <p:cNvSpPr/>
            <p:nvPr/>
          </p:nvSpPr>
          <p:spPr>
            <a:xfrm>
              <a:off x="3215975" y="2931500"/>
              <a:ext cx="104225" cy="79400"/>
            </a:xfrm>
            <a:custGeom>
              <a:avLst/>
              <a:gdLst/>
              <a:ahLst/>
              <a:cxnLst/>
              <a:rect l="l" t="t" r="r" b="b"/>
              <a:pathLst>
                <a:path w="4169" h="3176" extrusionOk="0">
                  <a:moveTo>
                    <a:pt x="2143" y="1"/>
                  </a:moveTo>
                  <a:lnTo>
                    <a:pt x="0" y="1245"/>
                  </a:lnTo>
                  <a:lnTo>
                    <a:pt x="3343" y="3175"/>
                  </a:lnTo>
                  <a:lnTo>
                    <a:pt x="3325" y="3064"/>
                  </a:lnTo>
                  <a:lnTo>
                    <a:pt x="3328" y="2456"/>
                  </a:lnTo>
                  <a:lnTo>
                    <a:pt x="3328" y="2453"/>
                  </a:lnTo>
                  <a:lnTo>
                    <a:pt x="3328" y="2449"/>
                  </a:lnTo>
                  <a:cubicBezTo>
                    <a:pt x="3328" y="1990"/>
                    <a:pt x="3616" y="1537"/>
                    <a:pt x="4169" y="1170"/>
                  </a:cubicBezTo>
                  <a:lnTo>
                    <a:pt x="2143" y="1"/>
                  </a:lnTo>
                  <a:close/>
                </a:path>
              </a:pathLst>
            </a:custGeom>
            <a:solidFill>
              <a:srgbClr val="70AD4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31" name="Google Shape;348;p32">
              <a:extLst>
                <a:ext uri="{FF2B5EF4-FFF2-40B4-BE49-F238E27FC236}">
                  <a16:creationId xmlns:a16="http://schemas.microsoft.com/office/drawing/2014/main" id="{209C23E2-B4F5-1CC8-D0BE-FC05BF5C725C}"/>
                </a:ext>
              </a:extLst>
            </p:cNvPr>
            <p:cNvSpPr/>
            <p:nvPr/>
          </p:nvSpPr>
          <p:spPr>
            <a:xfrm>
              <a:off x="3341250" y="3034950"/>
              <a:ext cx="9600" cy="2950"/>
            </a:xfrm>
            <a:custGeom>
              <a:avLst/>
              <a:gdLst/>
              <a:ahLst/>
              <a:cxnLst/>
              <a:rect l="l" t="t" r="r" b="b"/>
              <a:pathLst>
                <a:path w="384" h="118" extrusionOk="0">
                  <a:moveTo>
                    <a:pt x="1" y="1"/>
                  </a:moveTo>
                  <a:lnTo>
                    <a:pt x="12" y="7"/>
                  </a:lnTo>
                  <a:cubicBezTo>
                    <a:pt x="78" y="31"/>
                    <a:pt x="145" y="56"/>
                    <a:pt x="214" y="76"/>
                  </a:cubicBezTo>
                  <a:cubicBezTo>
                    <a:pt x="262" y="88"/>
                    <a:pt x="312" y="99"/>
                    <a:pt x="361" y="112"/>
                  </a:cubicBezTo>
                  <a:lnTo>
                    <a:pt x="361" y="112"/>
                  </a:lnTo>
                  <a:cubicBezTo>
                    <a:pt x="237" y="80"/>
                    <a:pt x="119" y="41"/>
                    <a:pt x="1" y="1"/>
                  </a:cubicBezTo>
                  <a:close/>
                  <a:moveTo>
                    <a:pt x="361" y="112"/>
                  </a:moveTo>
                  <a:cubicBezTo>
                    <a:pt x="369" y="114"/>
                    <a:pt x="376" y="115"/>
                    <a:pt x="384" y="117"/>
                  </a:cubicBezTo>
                  <a:cubicBezTo>
                    <a:pt x="376" y="115"/>
                    <a:pt x="369" y="114"/>
                    <a:pt x="361" y="112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32" name="Google Shape;349;p32">
              <a:extLst>
                <a:ext uri="{FF2B5EF4-FFF2-40B4-BE49-F238E27FC236}">
                  <a16:creationId xmlns:a16="http://schemas.microsoft.com/office/drawing/2014/main" id="{0421FCEB-DC61-B87B-724E-094283568817}"/>
                </a:ext>
              </a:extLst>
            </p:cNvPr>
            <p:cNvSpPr/>
            <p:nvPr/>
          </p:nvSpPr>
          <p:spPr>
            <a:xfrm>
              <a:off x="3379575" y="3037000"/>
              <a:ext cx="143350" cy="87475"/>
            </a:xfrm>
            <a:custGeom>
              <a:avLst/>
              <a:gdLst/>
              <a:ahLst/>
              <a:cxnLst/>
              <a:rect l="l" t="t" r="r" b="b"/>
              <a:pathLst>
                <a:path w="5734" h="3499" extrusionOk="0">
                  <a:moveTo>
                    <a:pt x="2909" y="0"/>
                  </a:moveTo>
                  <a:lnTo>
                    <a:pt x="2814" y="76"/>
                  </a:lnTo>
                  <a:cubicBezTo>
                    <a:pt x="2775" y="104"/>
                    <a:pt x="2732" y="131"/>
                    <a:pt x="2690" y="159"/>
                  </a:cubicBezTo>
                  <a:lnTo>
                    <a:pt x="2606" y="213"/>
                  </a:lnTo>
                  <a:lnTo>
                    <a:pt x="2564" y="239"/>
                  </a:lnTo>
                  <a:cubicBezTo>
                    <a:pt x="2418" y="324"/>
                    <a:pt x="2258" y="396"/>
                    <a:pt x="2093" y="462"/>
                  </a:cubicBezTo>
                  <a:cubicBezTo>
                    <a:pt x="2049" y="480"/>
                    <a:pt x="2004" y="497"/>
                    <a:pt x="1960" y="513"/>
                  </a:cubicBezTo>
                  <a:cubicBezTo>
                    <a:pt x="1915" y="529"/>
                    <a:pt x="1868" y="539"/>
                    <a:pt x="1822" y="555"/>
                  </a:cubicBezTo>
                  <a:cubicBezTo>
                    <a:pt x="1764" y="574"/>
                    <a:pt x="1703" y="593"/>
                    <a:pt x="1642" y="610"/>
                  </a:cubicBezTo>
                  <a:cubicBezTo>
                    <a:pt x="1531" y="641"/>
                    <a:pt x="1420" y="671"/>
                    <a:pt x="1306" y="693"/>
                  </a:cubicBezTo>
                  <a:cubicBezTo>
                    <a:pt x="1265" y="702"/>
                    <a:pt x="1224" y="707"/>
                    <a:pt x="1182" y="715"/>
                  </a:cubicBezTo>
                  <a:cubicBezTo>
                    <a:pt x="1086" y="733"/>
                    <a:pt x="990" y="752"/>
                    <a:pt x="890" y="765"/>
                  </a:cubicBezTo>
                  <a:lnTo>
                    <a:pt x="794" y="779"/>
                  </a:lnTo>
                  <a:lnTo>
                    <a:pt x="752" y="781"/>
                  </a:lnTo>
                  <a:cubicBezTo>
                    <a:pt x="627" y="793"/>
                    <a:pt x="503" y="798"/>
                    <a:pt x="376" y="801"/>
                  </a:cubicBezTo>
                  <a:cubicBezTo>
                    <a:pt x="325" y="803"/>
                    <a:pt x="275" y="809"/>
                    <a:pt x="224" y="810"/>
                  </a:cubicBezTo>
                  <a:lnTo>
                    <a:pt x="133" y="810"/>
                  </a:lnTo>
                  <a:lnTo>
                    <a:pt x="30" y="804"/>
                  </a:lnTo>
                  <a:lnTo>
                    <a:pt x="1" y="803"/>
                  </a:lnTo>
                  <a:lnTo>
                    <a:pt x="1" y="803"/>
                  </a:lnTo>
                  <a:lnTo>
                    <a:pt x="2523" y="2260"/>
                  </a:lnTo>
                  <a:lnTo>
                    <a:pt x="2518" y="3498"/>
                  </a:lnTo>
                  <a:lnTo>
                    <a:pt x="5733" y="1631"/>
                  </a:lnTo>
                  <a:lnTo>
                    <a:pt x="2909" y="0"/>
                  </a:lnTo>
                  <a:close/>
                </a:path>
              </a:pathLst>
            </a:custGeom>
            <a:solidFill>
              <a:srgbClr val="70AD4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33" name="Google Shape;350;p32">
              <a:extLst>
                <a:ext uri="{FF2B5EF4-FFF2-40B4-BE49-F238E27FC236}">
                  <a16:creationId xmlns:a16="http://schemas.microsoft.com/office/drawing/2014/main" id="{001CEBFD-32D6-CD43-6A41-E2877625701B}"/>
                </a:ext>
              </a:extLst>
            </p:cNvPr>
            <p:cNvSpPr/>
            <p:nvPr/>
          </p:nvSpPr>
          <p:spPr>
            <a:xfrm>
              <a:off x="2570875" y="3219800"/>
              <a:ext cx="456525" cy="279025"/>
            </a:xfrm>
            <a:custGeom>
              <a:avLst/>
              <a:gdLst/>
              <a:ahLst/>
              <a:cxnLst/>
              <a:rect l="l" t="t" r="r" b="b"/>
              <a:pathLst>
                <a:path w="18261" h="11161" extrusionOk="0">
                  <a:moveTo>
                    <a:pt x="2" y="1"/>
                  </a:moveTo>
                  <a:lnTo>
                    <a:pt x="1" y="619"/>
                  </a:lnTo>
                  <a:lnTo>
                    <a:pt x="18261" y="11160"/>
                  </a:lnTo>
                  <a:lnTo>
                    <a:pt x="18261" y="10543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5B9BD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34" name="Google Shape;351;p32">
              <a:extLst>
                <a:ext uri="{FF2B5EF4-FFF2-40B4-BE49-F238E27FC236}">
                  <a16:creationId xmlns:a16="http://schemas.microsoft.com/office/drawing/2014/main" id="{F169345F-9462-20EA-2BD5-38125EC30C1B}"/>
                </a:ext>
              </a:extLst>
            </p:cNvPr>
            <p:cNvSpPr/>
            <p:nvPr/>
          </p:nvSpPr>
          <p:spPr>
            <a:xfrm>
              <a:off x="3027375" y="3136375"/>
              <a:ext cx="597050" cy="362450"/>
            </a:xfrm>
            <a:custGeom>
              <a:avLst/>
              <a:gdLst/>
              <a:ahLst/>
              <a:cxnLst/>
              <a:rect l="l" t="t" r="r" b="b"/>
              <a:pathLst>
                <a:path w="23882" h="14498" extrusionOk="0">
                  <a:moveTo>
                    <a:pt x="23882" y="1"/>
                  </a:moveTo>
                  <a:lnTo>
                    <a:pt x="1" y="13880"/>
                  </a:lnTo>
                  <a:lnTo>
                    <a:pt x="1" y="14497"/>
                  </a:lnTo>
                  <a:lnTo>
                    <a:pt x="23881" y="619"/>
                  </a:lnTo>
                  <a:lnTo>
                    <a:pt x="23882" y="1"/>
                  </a:lnTo>
                  <a:close/>
                </a:path>
              </a:pathLst>
            </a:custGeom>
            <a:solidFill>
              <a:srgbClr val="5B9BD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35" name="Google Shape;352;p32">
              <a:extLst>
                <a:ext uri="{FF2B5EF4-FFF2-40B4-BE49-F238E27FC236}">
                  <a16:creationId xmlns:a16="http://schemas.microsoft.com/office/drawing/2014/main" id="{C5EF76AC-51BF-322E-4F55-DBEB5FB45BFF}"/>
                </a:ext>
              </a:extLst>
            </p:cNvPr>
            <p:cNvSpPr/>
            <p:nvPr/>
          </p:nvSpPr>
          <p:spPr>
            <a:xfrm>
              <a:off x="2570925" y="2872825"/>
              <a:ext cx="1053500" cy="610550"/>
            </a:xfrm>
            <a:custGeom>
              <a:avLst/>
              <a:gdLst/>
              <a:ahLst/>
              <a:cxnLst/>
              <a:rect l="l" t="t" r="r" b="b"/>
              <a:pathLst>
                <a:path w="42140" h="24422" extrusionOk="0">
                  <a:moveTo>
                    <a:pt x="23881" y="1"/>
                  </a:moveTo>
                  <a:lnTo>
                    <a:pt x="0" y="13880"/>
                  </a:lnTo>
                  <a:lnTo>
                    <a:pt x="18259" y="24422"/>
                  </a:lnTo>
                  <a:lnTo>
                    <a:pt x="42140" y="10543"/>
                  </a:lnTo>
                  <a:lnTo>
                    <a:pt x="38079" y="8198"/>
                  </a:lnTo>
                  <a:lnTo>
                    <a:pt x="34864" y="10065"/>
                  </a:lnTo>
                  <a:lnTo>
                    <a:pt x="34862" y="11171"/>
                  </a:lnTo>
                  <a:lnTo>
                    <a:pt x="17202" y="21456"/>
                  </a:lnTo>
                  <a:lnTo>
                    <a:pt x="4738" y="14261"/>
                  </a:lnTo>
                  <a:lnTo>
                    <a:pt x="4744" y="11916"/>
                  </a:lnTo>
                  <a:lnTo>
                    <a:pt x="22406" y="1630"/>
                  </a:lnTo>
                  <a:lnTo>
                    <a:pt x="25802" y="3592"/>
                  </a:lnTo>
                  <a:lnTo>
                    <a:pt x="27945" y="2348"/>
                  </a:lnTo>
                  <a:lnTo>
                    <a:pt x="23881" y="1"/>
                  </a:lnTo>
                  <a:close/>
                </a:path>
              </a:pathLst>
            </a:custGeom>
            <a:solidFill>
              <a:srgbClr val="5B9BD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36" name="Google Shape;353;p32">
              <a:extLst>
                <a:ext uri="{FF2B5EF4-FFF2-40B4-BE49-F238E27FC236}">
                  <a16:creationId xmlns:a16="http://schemas.microsoft.com/office/drawing/2014/main" id="{1CCFCD7D-DA3B-50B4-296B-23D9FD8500F7}"/>
                </a:ext>
              </a:extLst>
            </p:cNvPr>
            <p:cNvSpPr/>
            <p:nvPr/>
          </p:nvSpPr>
          <p:spPr>
            <a:xfrm>
              <a:off x="3341550" y="2993150"/>
              <a:ext cx="126750" cy="64125"/>
            </a:xfrm>
            <a:custGeom>
              <a:avLst/>
              <a:gdLst/>
              <a:ahLst/>
              <a:cxnLst/>
              <a:rect l="l" t="t" r="r" b="b"/>
              <a:pathLst>
                <a:path w="5070" h="2565" extrusionOk="0">
                  <a:moveTo>
                    <a:pt x="5069" y="0"/>
                  </a:moveTo>
                  <a:lnTo>
                    <a:pt x="5068" y="31"/>
                  </a:lnTo>
                  <a:lnTo>
                    <a:pt x="5061" y="94"/>
                  </a:lnTo>
                  <a:lnTo>
                    <a:pt x="5059" y="111"/>
                  </a:lnTo>
                  <a:lnTo>
                    <a:pt x="5053" y="181"/>
                  </a:lnTo>
                  <a:lnTo>
                    <a:pt x="5048" y="205"/>
                  </a:lnTo>
                  <a:lnTo>
                    <a:pt x="5047" y="225"/>
                  </a:lnTo>
                  <a:lnTo>
                    <a:pt x="5026" y="291"/>
                  </a:lnTo>
                  <a:lnTo>
                    <a:pt x="5025" y="297"/>
                  </a:lnTo>
                  <a:lnTo>
                    <a:pt x="5008" y="368"/>
                  </a:lnTo>
                  <a:lnTo>
                    <a:pt x="4997" y="395"/>
                  </a:lnTo>
                  <a:lnTo>
                    <a:pt x="4992" y="414"/>
                  </a:lnTo>
                  <a:lnTo>
                    <a:pt x="4965" y="472"/>
                  </a:lnTo>
                  <a:lnTo>
                    <a:pt x="4961" y="480"/>
                  </a:lnTo>
                  <a:lnTo>
                    <a:pt x="4931" y="550"/>
                  </a:lnTo>
                  <a:lnTo>
                    <a:pt x="4913" y="582"/>
                  </a:lnTo>
                  <a:lnTo>
                    <a:pt x="4901" y="607"/>
                  </a:lnTo>
                  <a:lnTo>
                    <a:pt x="4870" y="653"/>
                  </a:lnTo>
                  <a:lnTo>
                    <a:pt x="4865" y="662"/>
                  </a:lnTo>
                  <a:lnTo>
                    <a:pt x="4824" y="729"/>
                  </a:lnTo>
                  <a:lnTo>
                    <a:pt x="4787" y="776"/>
                  </a:lnTo>
                  <a:lnTo>
                    <a:pt x="4765" y="808"/>
                  </a:lnTo>
                  <a:lnTo>
                    <a:pt x="4737" y="839"/>
                  </a:lnTo>
                  <a:lnTo>
                    <a:pt x="4734" y="842"/>
                  </a:lnTo>
                  <a:lnTo>
                    <a:pt x="4686" y="902"/>
                  </a:lnTo>
                  <a:lnTo>
                    <a:pt x="4588" y="999"/>
                  </a:lnTo>
                  <a:lnTo>
                    <a:pt x="4556" y="1032"/>
                  </a:lnTo>
                  <a:lnTo>
                    <a:pt x="4537" y="1048"/>
                  </a:lnTo>
                  <a:lnTo>
                    <a:pt x="4518" y="1068"/>
                  </a:lnTo>
                  <a:cubicBezTo>
                    <a:pt x="4462" y="1117"/>
                    <a:pt x="4402" y="1164"/>
                    <a:pt x="4338" y="1210"/>
                  </a:cubicBezTo>
                  <a:lnTo>
                    <a:pt x="4318" y="1227"/>
                  </a:lnTo>
                  <a:cubicBezTo>
                    <a:pt x="4280" y="1253"/>
                    <a:pt x="4238" y="1278"/>
                    <a:pt x="4198" y="1304"/>
                  </a:cubicBezTo>
                  <a:lnTo>
                    <a:pt x="4129" y="1350"/>
                  </a:lnTo>
                  <a:lnTo>
                    <a:pt x="4088" y="1375"/>
                  </a:lnTo>
                  <a:cubicBezTo>
                    <a:pt x="3939" y="1459"/>
                    <a:pt x="3780" y="1532"/>
                    <a:pt x="3615" y="1598"/>
                  </a:cubicBezTo>
                  <a:cubicBezTo>
                    <a:pt x="3571" y="1616"/>
                    <a:pt x="3527" y="1632"/>
                    <a:pt x="3484" y="1649"/>
                  </a:cubicBezTo>
                  <a:cubicBezTo>
                    <a:pt x="3436" y="1665"/>
                    <a:pt x="3394" y="1685"/>
                    <a:pt x="3345" y="1701"/>
                  </a:cubicBezTo>
                  <a:cubicBezTo>
                    <a:pt x="3287" y="1719"/>
                    <a:pt x="3224" y="1729"/>
                    <a:pt x="3166" y="1745"/>
                  </a:cubicBezTo>
                  <a:cubicBezTo>
                    <a:pt x="3053" y="1777"/>
                    <a:pt x="2943" y="1806"/>
                    <a:pt x="2829" y="1830"/>
                  </a:cubicBezTo>
                  <a:cubicBezTo>
                    <a:pt x="2786" y="1839"/>
                    <a:pt x="2747" y="1852"/>
                    <a:pt x="2705" y="1860"/>
                  </a:cubicBezTo>
                  <a:cubicBezTo>
                    <a:pt x="2610" y="1878"/>
                    <a:pt x="2511" y="1889"/>
                    <a:pt x="2413" y="1900"/>
                  </a:cubicBezTo>
                  <a:lnTo>
                    <a:pt x="2317" y="1914"/>
                  </a:lnTo>
                  <a:lnTo>
                    <a:pt x="2274" y="1920"/>
                  </a:lnTo>
                  <a:cubicBezTo>
                    <a:pt x="2149" y="1932"/>
                    <a:pt x="2024" y="1940"/>
                    <a:pt x="1899" y="1945"/>
                  </a:cubicBezTo>
                  <a:cubicBezTo>
                    <a:pt x="1874" y="1946"/>
                    <a:pt x="1848" y="1946"/>
                    <a:pt x="1823" y="1946"/>
                  </a:cubicBezTo>
                  <a:cubicBezTo>
                    <a:pt x="1797" y="1946"/>
                    <a:pt x="1772" y="1946"/>
                    <a:pt x="1746" y="1947"/>
                  </a:cubicBezTo>
                  <a:lnTo>
                    <a:pt x="1553" y="1947"/>
                  </a:lnTo>
                  <a:cubicBezTo>
                    <a:pt x="1442" y="1943"/>
                    <a:pt x="1331" y="1938"/>
                    <a:pt x="1220" y="1929"/>
                  </a:cubicBezTo>
                  <a:cubicBezTo>
                    <a:pt x="1177" y="1925"/>
                    <a:pt x="1135" y="1920"/>
                    <a:pt x="1095" y="1915"/>
                  </a:cubicBezTo>
                  <a:lnTo>
                    <a:pt x="1011" y="1905"/>
                  </a:lnTo>
                  <a:cubicBezTo>
                    <a:pt x="972" y="1900"/>
                    <a:pt x="931" y="1898"/>
                    <a:pt x="891" y="1893"/>
                  </a:cubicBezTo>
                  <a:cubicBezTo>
                    <a:pt x="777" y="1876"/>
                    <a:pt x="666" y="1857"/>
                    <a:pt x="555" y="1834"/>
                  </a:cubicBezTo>
                  <a:lnTo>
                    <a:pt x="467" y="1812"/>
                  </a:lnTo>
                  <a:lnTo>
                    <a:pt x="372" y="1789"/>
                  </a:lnTo>
                  <a:cubicBezTo>
                    <a:pt x="315" y="1775"/>
                    <a:pt x="257" y="1762"/>
                    <a:pt x="202" y="1748"/>
                  </a:cubicBezTo>
                  <a:cubicBezTo>
                    <a:pt x="133" y="1728"/>
                    <a:pt x="66" y="1703"/>
                    <a:pt x="0" y="1679"/>
                  </a:cubicBezTo>
                  <a:lnTo>
                    <a:pt x="0" y="1679"/>
                  </a:lnTo>
                  <a:lnTo>
                    <a:pt x="1522" y="2557"/>
                  </a:lnTo>
                  <a:lnTo>
                    <a:pt x="1551" y="2558"/>
                  </a:lnTo>
                  <a:lnTo>
                    <a:pt x="1654" y="2564"/>
                  </a:lnTo>
                  <a:lnTo>
                    <a:pt x="1745" y="2564"/>
                  </a:lnTo>
                  <a:cubicBezTo>
                    <a:pt x="1796" y="2563"/>
                    <a:pt x="1846" y="2557"/>
                    <a:pt x="1897" y="2555"/>
                  </a:cubicBezTo>
                  <a:cubicBezTo>
                    <a:pt x="2024" y="2552"/>
                    <a:pt x="2148" y="2547"/>
                    <a:pt x="2272" y="2535"/>
                  </a:cubicBezTo>
                  <a:lnTo>
                    <a:pt x="2315" y="2533"/>
                  </a:lnTo>
                  <a:lnTo>
                    <a:pt x="2411" y="2519"/>
                  </a:lnTo>
                  <a:cubicBezTo>
                    <a:pt x="2511" y="2506"/>
                    <a:pt x="2607" y="2487"/>
                    <a:pt x="2703" y="2469"/>
                  </a:cubicBezTo>
                  <a:cubicBezTo>
                    <a:pt x="2745" y="2461"/>
                    <a:pt x="2786" y="2456"/>
                    <a:pt x="2827" y="2447"/>
                  </a:cubicBezTo>
                  <a:cubicBezTo>
                    <a:pt x="2941" y="2425"/>
                    <a:pt x="3052" y="2395"/>
                    <a:pt x="3163" y="2364"/>
                  </a:cubicBezTo>
                  <a:cubicBezTo>
                    <a:pt x="3224" y="2347"/>
                    <a:pt x="3285" y="2328"/>
                    <a:pt x="3343" y="2309"/>
                  </a:cubicBezTo>
                  <a:cubicBezTo>
                    <a:pt x="3389" y="2293"/>
                    <a:pt x="3436" y="2283"/>
                    <a:pt x="3481" y="2267"/>
                  </a:cubicBezTo>
                  <a:cubicBezTo>
                    <a:pt x="3525" y="2251"/>
                    <a:pt x="3570" y="2234"/>
                    <a:pt x="3614" y="2216"/>
                  </a:cubicBezTo>
                  <a:cubicBezTo>
                    <a:pt x="3779" y="2150"/>
                    <a:pt x="3939" y="2078"/>
                    <a:pt x="4085" y="1993"/>
                  </a:cubicBezTo>
                  <a:lnTo>
                    <a:pt x="4127" y="1967"/>
                  </a:lnTo>
                  <a:lnTo>
                    <a:pt x="4211" y="1913"/>
                  </a:lnTo>
                  <a:cubicBezTo>
                    <a:pt x="4253" y="1885"/>
                    <a:pt x="4296" y="1858"/>
                    <a:pt x="4335" y="1830"/>
                  </a:cubicBezTo>
                  <a:lnTo>
                    <a:pt x="4430" y="1754"/>
                  </a:lnTo>
                  <a:lnTo>
                    <a:pt x="4533" y="1668"/>
                  </a:lnTo>
                  <a:lnTo>
                    <a:pt x="4554" y="1649"/>
                  </a:lnTo>
                  <a:lnTo>
                    <a:pt x="4588" y="1615"/>
                  </a:lnTo>
                  <a:cubicBezTo>
                    <a:pt x="4640" y="1565"/>
                    <a:pt x="4688" y="1513"/>
                    <a:pt x="4731" y="1461"/>
                  </a:cubicBezTo>
                  <a:lnTo>
                    <a:pt x="4764" y="1420"/>
                  </a:lnTo>
                  <a:lnTo>
                    <a:pt x="4788" y="1390"/>
                  </a:lnTo>
                  <a:lnTo>
                    <a:pt x="4865" y="1277"/>
                  </a:lnTo>
                  <a:lnTo>
                    <a:pt x="4901" y="1219"/>
                  </a:lnTo>
                  <a:lnTo>
                    <a:pt x="4913" y="1198"/>
                  </a:lnTo>
                  <a:lnTo>
                    <a:pt x="4961" y="1094"/>
                  </a:lnTo>
                  <a:lnTo>
                    <a:pt x="4989" y="1027"/>
                  </a:lnTo>
                  <a:lnTo>
                    <a:pt x="4996" y="1012"/>
                  </a:lnTo>
                  <a:lnTo>
                    <a:pt x="5024" y="911"/>
                  </a:lnTo>
                  <a:lnTo>
                    <a:pt x="5044" y="833"/>
                  </a:lnTo>
                  <a:lnTo>
                    <a:pt x="5047" y="824"/>
                  </a:lnTo>
                  <a:lnTo>
                    <a:pt x="5058" y="721"/>
                  </a:lnTo>
                  <a:lnTo>
                    <a:pt x="5067" y="623"/>
                  </a:lnTo>
                  <a:lnTo>
                    <a:pt x="5067" y="619"/>
                  </a:lnTo>
                  <a:lnTo>
                    <a:pt x="5069" y="0"/>
                  </a:lnTo>
                  <a:close/>
                </a:path>
              </a:pathLst>
            </a:custGeom>
            <a:solidFill>
              <a:sysClr val="windowText" lastClr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37" name="Google Shape;354;p32">
              <a:extLst>
                <a:ext uri="{FF2B5EF4-FFF2-40B4-BE49-F238E27FC236}">
                  <a16:creationId xmlns:a16="http://schemas.microsoft.com/office/drawing/2014/main" id="{1A14014B-C595-663F-FAB8-20BFF799848A}"/>
                </a:ext>
              </a:extLst>
            </p:cNvPr>
            <p:cNvSpPr/>
            <p:nvPr/>
          </p:nvSpPr>
          <p:spPr>
            <a:xfrm>
              <a:off x="3299100" y="2992900"/>
              <a:ext cx="11525" cy="24350"/>
            </a:xfrm>
            <a:custGeom>
              <a:avLst/>
              <a:gdLst/>
              <a:ahLst/>
              <a:cxnLst/>
              <a:rect l="l" t="t" r="r" b="b"/>
              <a:pathLst>
                <a:path w="461" h="974" extrusionOk="0">
                  <a:moveTo>
                    <a:pt x="3" y="0"/>
                  </a:moveTo>
                  <a:lnTo>
                    <a:pt x="0" y="608"/>
                  </a:lnTo>
                  <a:lnTo>
                    <a:pt x="18" y="719"/>
                  </a:lnTo>
                  <a:lnTo>
                    <a:pt x="461" y="974"/>
                  </a:lnTo>
                  <a:lnTo>
                    <a:pt x="393" y="909"/>
                  </a:lnTo>
                  <a:lnTo>
                    <a:pt x="341" y="841"/>
                  </a:lnTo>
                  <a:lnTo>
                    <a:pt x="253" y="733"/>
                  </a:lnTo>
                  <a:lnTo>
                    <a:pt x="210" y="664"/>
                  </a:lnTo>
                  <a:lnTo>
                    <a:pt x="143" y="553"/>
                  </a:lnTo>
                  <a:lnTo>
                    <a:pt x="114" y="483"/>
                  </a:lnTo>
                  <a:lnTo>
                    <a:pt x="65" y="369"/>
                  </a:lnTo>
                  <a:lnTo>
                    <a:pt x="48" y="301"/>
                  </a:lnTo>
                  <a:cubicBezTo>
                    <a:pt x="36" y="261"/>
                    <a:pt x="25" y="222"/>
                    <a:pt x="18" y="181"/>
                  </a:cubicBezTo>
                  <a:lnTo>
                    <a:pt x="13" y="116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4B515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38" name="Google Shape;355;p32">
              <a:extLst>
                <a:ext uri="{FF2B5EF4-FFF2-40B4-BE49-F238E27FC236}">
                  <a16:creationId xmlns:a16="http://schemas.microsoft.com/office/drawing/2014/main" id="{4E038984-E7EE-158D-D6AE-B639158EEDE8}"/>
                </a:ext>
              </a:extLst>
            </p:cNvPr>
            <p:cNvSpPr/>
            <p:nvPr/>
          </p:nvSpPr>
          <p:spPr>
            <a:xfrm>
              <a:off x="3299150" y="2943900"/>
              <a:ext cx="170225" cy="97925"/>
            </a:xfrm>
            <a:custGeom>
              <a:avLst/>
              <a:gdLst/>
              <a:ahLst/>
              <a:cxnLst/>
              <a:rect l="l" t="t" r="r" b="b"/>
              <a:pathLst>
                <a:path w="6809" h="3917" extrusionOk="0">
                  <a:moveTo>
                    <a:pt x="3380" y="1404"/>
                  </a:moveTo>
                  <a:cubicBezTo>
                    <a:pt x="3626" y="1404"/>
                    <a:pt x="3872" y="1458"/>
                    <a:pt x="4060" y="1566"/>
                  </a:cubicBezTo>
                  <a:cubicBezTo>
                    <a:pt x="4437" y="1784"/>
                    <a:pt x="4437" y="2134"/>
                    <a:pt x="4064" y="2352"/>
                  </a:cubicBezTo>
                  <a:cubicBezTo>
                    <a:pt x="3876" y="2461"/>
                    <a:pt x="3630" y="2516"/>
                    <a:pt x="3384" y="2516"/>
                  </a:cubicBezTo>
                  <a:cubicBezTo>
                    <a:pt x="3139" y="2516"/>
                    <a:pt x="2894" y="2462"/>
                    <a:pt x="2706" y="2353"/>
                  </a:cubicBezTo>
                  <a:cubicBezTo>
                    <a:pt x="2331" y="2137"/>
                    <a:pt x="2328" y="1785"/>
                    <a:pt x="2703" y="1566"/>
                  </a:cubicBezTo>
                  <a:cubicBezTo>
                    <a:pt x="2890" y="1458"/>
                    <a:pt x="3135" y="1404"/>
                    <a:pt x="3380" y="1404"/>
                  </a:cubicBezTo>
                  <a:close/>
                  <a:moveTo>
                    <a:pt x="3368" y="0"/>
                  </a:moveTo>
                  <a:cubicBezTo>
                    <a:pt x="2504" y="0"/>
                    <a:pt x="1641" y="191"/>
                    <a:pt x="984" y="572"/>
                  </a:cubicBezTo>
                  <a:cubicBezTo>
                    <a:pt x="929" y="604"/>
                    <a:pt x="891" y="642"/>
                    <a:pt x="842" y="674"/>
                  </a:cubicBezTo>
                  <a:cubicBezTo>
                    <a:pt x="289" y="1041"/>
                    <a:pt x="1" y="1494"/>
                    <a:pt x="1" y="1953"/>
                  </a:cubicBezTo>
                  <a:lnTo>
                    <a:pt x="1" y="1957"/>
                  </a:lnTo>
                  <a:lnTo>
                    <a:pt x="1" y="1960"/>
                  </a:lnTo>
                  <a:lnTo>
                    <a:pt x="11" y="2076"/>
                  </a:lnTo>
                  <a:lnTo>
                    <a:pt x="16" y="2141"/>
                  </a:lnTo>
                  <a:cubicBezTo>
                    <a:pt x="23" y="2182"/>
                    <a:pt x="35" y="2221"/>
                    <a:pt x="46" y="2261"/>
                  </a:cubicBezTo>
                  <a:lnTo>
                    <a:pt x="63" y="2329"/>
                  </a:lnTo>
                  <a:lnTo>
                    <a:pt x="112" y="2443"/>
                  </a:lnTo>
                  <a:lnTo>
                    <a:pt x="142" y="2513"/>
                  </a:lnTo>
                  <a:lnTo>
                    <a:pt x="208" y="2624"/>
                  </a:lnTo>
                  <a:lnTo>
                    <a:pt x="251" y="2693"/>
                  </a:lnTo>
                  <a:lnTo>
                    <a:pt x="339" y="2801"/>
                  </a:lnTo>
                  <a:lnTo>
                    <a:pt x="391" y="2869"/>
                  </a:lnTo>
                  <a:lnTo>
                    <a:pt x="459" y="2934"/>
                  </a:lnTo>
                  <a:lnTo>
                    <a:pt x="1685" y="3643"/>
                  </a:lnTo>
                  <a:cubicBezTo>
                    <a:pt x="1810" y="3685"/>
                    <a:pt x="1935" y="3727"/>
                    <a:pt x="2068" y="3759"/>
                  </a:cubicBezTo>
                  <a:lnTo>
                    <a:pt x="2163" y="3782"/>
                  </a:lnTo>
                  <a:cubicBezTo>
                    <a:pt x="2341" y="3822"/>
                    <a:pt x="2523" y="3854"/>
                    <a:pt x="2708" y="3875"/>
                  </a:cubicBezTo>
                  <a:lnTo>
                    <a:pt x="2791" y="3885"/>
                  </a:lnTo>
                  <a:cubicBezTo>
                    <a:pt x="2976" y="3904"/>
                    <a:pt x="3165" y="3915"/>
                    <a:pt x="3351" y="3917"/>
                  </a:cubicBezTo>
                  <a:lnTo>
                    <a:pt x="3442" y="3917"/>
                  </a:lnTo>
                  <a:cubicBezTo>
                    <a:pt x="3634" y="3914"/>
                    <a:pt x="3824" y="3904"/>
                    <a:pt x="4013" y="3884"/>
                  </a:cubicBezTo>
                  <a:lnTo>
                    <a:pt x="4109" y="3870"/>
                  </a:lnTo>
                  <a:cubicBezTo>
                    <a:pt x="4251" y="3854"/>
                    <a:pt x="4388" y="3828"/>
                    <a:pt x="4525" y="3800"/>
                  </a:cubicBezTo>
                  <a:cubicBezTo>
                    <a:pt x="4639" y="3776"/>
                    <a:pt x="4749" y="3747"/>
                    <a:pt x="4862" y="3715"/>
                  </a:cubicBezTo>
                  <a:cubicBezTo>
                    <a:pt x="4970" y="3685"/>
                    <a:pt x="5077" y="3656"/>
                    <a:pt x="5180" y="3619"/>
                  </a:cubicBezTo>
                  <a:cubicBezTo>
                    <a:pt x="5223" y="3602"/>
                    <a:pt x="5267" y="3586"/>
                    <a:pt x="5311" y="3568"/>
                  </a:cubicBezTo>
                  <a:cubicBezTo>
                    <a:pt x="5476" y="3502"/>
                    <a:pt x="5635" y="3429"/>
                    <a:pt x="5784" y="3345"/>
                  </a:cubicBezTo>
                  <a:lnTo>
                    <a:pt x="5894" y="3274"/>
                  </a:lnTo>
                  <a:cubicBezTo>
                    <a:pt x="5934" y="3248"/>
                    <a:pt x="5976" y="3223"/>
                    <a:pt x="6014" y="3197"/>
                  </a:cubicBezTo>
                  <a:lnTo>
                    <a:pt x="6034" y="3180"/>
                  </a:lnTo>
                  <a:cubicBezTo>
                    <a:pt x="6098" y="3134"/>
                    <a:pt x="6158" y="3087"/>
                    <a:pt x="6214" y="3038"/>
                  </a:cubicBezTo>
                  <a:lnTo>
                    <a:pt x="6233" y="3018"/>
                  </a:lnTo>
                  <a:cubicBezTo>
                    <a:pt x="6287" y="2970"/>
                    <a:pt x="6337" y="2922"/>
                    <a:pt x="6382" y="2872"/>
                  </a:cubicBezTo>
                  <a:lnTo>
                    <a:pt x="6430" y="2812"/>
                  </a:lnTo>
                  <a:lnTo>
                    <a:pt x="6433" y="2809"/>
                  </a:lnTo>
                  <a:lnTo>
                    <a:pt x="6520" y="2699"/>
                  </a:lnTo>
                  <a:lnTo>
                    <a:pt x="6561" y="2632"/>
                  </a:lnTo>
                  <a:lnTo>
                    <a:pt x="6627" y="2520"/>
                  </a:lnTo>
                  <a:lnTo>
                    <a:pt x="6657" y="2450"/>
                  </a:lnTo>
                  <a:lnTo>
                    <a:pt x="6704" y="2338"/>
                  </a:lnTo>
                  <a:lnTo>
                    <a:pt x="6721" y="2267"/>
                  </a:lnTo>
                  <a:lnTo>
                    <a:pt x="6750" y="2151"/>
                  </a:lnTo>
                  <a:lnTo>
                    <a:pt x="6755" y="2081"/>
                  </a:lnTo>
                  <a:cubicBezTo>
                    <a:pt x="6809" y="1540"/>
                    <a:pt x="6481" y="989"/>
                    <a:pt x="5766" y="575"/>
                  </a:cubicBezTo>
                  <a:cubicBezTo>
                    <a:pt x="5102" y="192"/>
                    <a:pt x="4235" y="0"/>
                    <a:pt x="3368" y="0"/>
                  </a:cubicBezTo>
                  <a:close/>
                </a:path>
              </a:pathLst>
            </a:custGeom>
            <a:solidFill>
              <a:srgbClr val="70AD4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39" name="Google Shape;356;p32">
              <a:extLst>
                <a:ext uri="{FF2B5EF4-FFF2-40B4-BE49-F238E27FC236}">
                  <a16:creationId xmlns:a16="http://schemas.microsoft.com/office/drawing/2014/main" id="{986CE497-DF07-1B35-B4B9-C792A1B34B35}"/>
                </a:ext>
              </a:extLst>
            </p:cNvPr>
            <p:cNvSpPr/>
            <p:nvPr/>
          </p:nvSpPr>
          <p:spPr>
            <a:xfrm>
              <a:off x="3357350" y="2978975"/>
              <a:ext cx="52750" cy="27850"/>
            </a:xfrm>
            <a:custGeom>
              <a:avLst/>
              <a:gdLst/>
              <a:ahLst/>
              <a:cxnLst/>
              <a:rect l="l" t="t" r="r" b="b"/>
              <a:pathLst>
                <a:path w="2110" h="1114" extrusionOk="0">
                  <a:moveTo>
                    <a:pt x="1052" y="1"/>
                  </a:moveTo>
                  <a:cubicBezTo>
                    <a:pt x="807" y="1"/>
                    <a:pt x="562" y="55"/>
                    <a:pt x="375" y="163"/>
                  </a:cubicBezTo>
                  <a:cubicBezTo>
                    <a:pt x="0" y="382"/>
                    <a:pt x="3" y="734"/>
                    <a:pt x="378" y="950"/>
                  </a:cubicBezTo>
                  <a:cubicBezTo>
                    <a:pt x="566" y="1059"/>
                    <a:pt x="811" y="1113"/>
                    <a:pt x="1056" y="1113"/>
                  </a:cubicBezTo>
                  <a:cubicBezTo>
                    <a:pt x="1302" y="1113"/>
                    <a:pt x="1548" y="1058"/>
                    <a:pt x="1736" y="949"/>
                  </a:cubicBezTo>
                  <a:cubicBezTo>
                    <a:pt x="2109" y="731"/>
                    <a:pt x="2109" y="381"/>
                    <a:pt x="1732" y="163"/>
                  </a:cubicBezTo>
                  <a:cubicBezTo>
                    <a:pt x="1544" y="55"/>
                    <a:pt x="1298" y="1"/>
                    <a:pt x="1052" y="1"/>
                  </a:cubicBezTo>
                  <a:close/>
                </a:path>
              </a:pathLst>
            </a:custGeom>
            <a:solidFill>
              <a:sysClr val="windowText" lastClr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40" name="Google Shape;357;p32">
              <a:extLst>
                <a:ext uri="{FF2B5EF4-FFF2-40B4-BE49-F238E27FC236}">
                  <a16:creationId xmlns:a16="http://schemas.microsoft.com/office/drawing/2014/main" id="{F6517570-FD47-8833-10AA-0AB665B229CD}"/>
                </a:ext>
              </a:extLst>
            </p:cNvPr>
            <p:cNvSpPr/>
            <p:nvPr/>
          </p:nvSpPr>
          <p:spPr>
            <a:xfrm>
              <a:off x="3000975" y="3093475"/>
              <a:ext cx="441675" cy="315775"/>
            </a:xfrm>
            <a:custGeom>
              <a:avLst/>
              <a:gdLst/>
              <a:ahLst/>
              <a:cxnLst/>
              <a:rect l="l" t="t" r="r" b="b"/>
              <a:pathLst>
                <a:path w="17667" h="12631" extrusionOk="0">
                  <a:moveTo>
                    <a:pt x="17667" y="1"/>
                  </a:moveTo>
                  <a:lnTo>
                    <a:pt x="7" y="10286"/>
                  </a:lnTo>
                  <a:lnTo>
                    <a:pt x="0" y="12630"/>
                  </a:lnTo>
                  <a:lnTo>
                    <a:pt x="17660" y="2345"/>
                  </a:lnTo>
                  <a:lnTo>
                    <a:pt x="17662" y="1239"/>
                  </a:lnTo>
                  <a:lnTo>
                    <a:pt x="17667" y="1"/>
                  </a:lnTo>
                  <a:close/>
                </a:path>
              </a:pathLst>
            </a:custGeom>
            <a:solidFill>
              <a:srgbClr val="70AD4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41" name="Google Shape;358;p32">
              <a:extLst>
                <a:ext uri="{FF2B5EF4-FFF2-40B4-BE49-F238E27FC236}">
                  <a16:creationId xmlns:a16="http://schemas.microsoft.com/office/drawing/2014/main" id="{84741196-FAFB-B755-1130-865D2AC39DCF}"/>
                </a:ext>
              </a:extLst>
            </p:cNvPr>
            <p:cNvSpPr/>
            <p:nvPr/>
          </p:nvSpPr>
          <p:spPr>
            <a:xfrm>
              <a:off x="2689350" y="3170700"/>
              <a:ext cx="311800" cy="238550"/>
            </a:xfrm>
            <a:custGeom>
              <a:avLst/>
              <a:gdLst/>
              <a:ahLst/>
              <a:cxnLst/>
              <a:rect l="l" t="t" r="r" b="b"/>
              <a:pathLst>
                <a:path w="12472" h="9542" extrusionOk="0">
                  <a:moveTo>
                    <a:pt x="7" y="1"/>
                  </a:moveTo>
                  <a:lnTo>
                    <a:pt x="1" y="2346"/>
                  </a:lnTo>
                  <a:lnTo>
                    <a:pt x="12465" y="9541"/>
                  </a:lnTo>
                  <a:lnTo>
                    <a:pt x="12472" y="7197"/>
                  </a:lnTo>
                  <a:lnTo>
                    <a:pt x="7" y="1"/>
                  </a:lnTo>
                  <a:close/>
                </a:path>
              </a:pathLst>
            </a:custGeom>
            <a:solidFill>
              <a:srgbClr val="70AD4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42" name="Google Shape;359;p32">
              <a:extLst>
                <a:ext uri="{FF2B5EF4-FFF2-40B4-BE49-F238E27FC236}">
                  <a16:creationId xmlns:a16="http://schemas.microsoft.com/office/drawing/2014/main" id="{3D8E835D-B53E-B16D-9B04-6901EBE8375C}"/>
                </a:ext>
              </a:extLst>
            </p:cNvPr>
            <p:cNvSpPr/>
            <p:nvPr/>
          </p:nvSpPr>
          <p:spPr>
            <a:xfrm>
              <a:off x="2689525" y="2913575"/>
              <a:ext cx="753125" cy="257150"/>
            </a:xfrm>
            <a:custGeom>
              <a:avLst/>
              <a:gdLst/>
              <a:ahLst/>
              <a:cxnLst/>
              <a:rect l="l" t="t" r="r" b="b"/>
              <a:pathLst>
                <a:path w="30125" h="10286" extrusionOk="0">
                  <a:moveTo>
                    <a:pt x="17662" y="0"/>
                  </a:moveTo>
                  <a:lnTo>
                    <a:pt x="0" y="10286"/>
                  </a:lnTo>
                  <a:lnTo>
                    <a:pt x="0" y="10286"/>
                  </a:lnTo>
                  <a:lnTo>
                    <a:pt x="17660" y="1"/>
                  </a:lnTo>
                  <a:lnTo>
                    <a:pt x="30125" y="7197"/>
                  </a:lnTo>
                  <a:lnTo>
                    <a:pt x="27603" y="5740"/>
                  </a:lnTo>
                  <a:lnTo>
                    <a:pt x="26081" y="4862"/>
                  </a:lnTo>
                  <a:lnTo>
                    <a:pt x="26070" y="4856"/>
                  </a:lnTo>
                  <a:lnTo>
                    <a:pt x="24844" y="4147"/>
                  </a:lnTo>
                  <a:lnTo>
                    <a:pt x="24401" y="3892"/>
                  </a:lnTo>
                  <a:lnTo>
                    <a:pt x="21058" y="1962"/>
                  </a:lnTo>
                  <a:lnTo>
                    <a:pt x="17662" y="0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43" name="Google Shape;360;p32">
              <a:extLst>
                <a:ext uri="{FF2B5EF4-FFF2-40B4-BE49-F238E27FC236}">
                  <a16:creationId xmlns:a16="http://schemas.microsoft.com/office/drawing/2014/main" id="{4779B660-FA56-C651-115A-0BD2BEE77D1E}"/>
                </a:ext>
              </a:extLst>
            </p:cNvPr>
            <p:cNvSpPr/>
            <p:nvPr/>
          </p:nvSpPr>
          <p:spPr>
            <a:xfrm>
              <a:off x="2689525" y="2913600"/>
              <a:ext cx="753125" cy="437025"/>
            </a:xfrm>
            <a:custGeom>
              <a:avLst/>
              <a:gdLst/>
              <a:ahLst/>
              <a:cxnLst/>
              <a:rect l="l" t="t" r="r" b="b"/>
              <a:pathLst>
                <a:path w="30125" h="17481" extrusionOk="0">
                  <a:moveTo>
                    <a:pt x="17063" y="2437"/>
                  </a:moveTo>
                  <a:lnTo>
                    <a:pt x="17068" y="3041"/>
                  </a:lnTo>
                  <a:lnTo>
                    <a:pt x="18922" y="3043"/>
                  </a:lnTo>
                  <a:lnTo>
                    <a:pt x="18923" y="3445"/>
                  </a:lnTo>
                  <a:lnTo>
                    <a:pt x="16375" y="3447"/>
                  </a:lnTo>
                  <a:lnTo>
                    <a:pt x="16372" y="3445"/>
                  </a:lnTo>
                  <a:lnTo>
                    <a:pt x="16367" y="2437"/>
                  </a:lnTo>
                  <a:close/>
                  <a:moveTo>
                    <a:pt x="14240" y="4077"/>
                  </a:moveTo>
                  <a:lnTo>
                    <a:pt x="14243" y="4683"/>
                  </a:lnTo>
                  <a:lnTo>
                    <a:pt x="16099" y="4683"/>
                  </a:lnTo>
                  <a:lnTo>
                    <a:pt x="16099" y="5087"/>
                  </a:lnTo>
                  <a:lnTo>
                    <a:pt x="13551" y="5087"/>
                  </a:lnTo>
                  <a:lnTo>
                    <a:pt x="13551" y="5086"/>
                  </a:lnTo>
                  <a:lnTo>
                    <a:pt x="13548" y="5087"/>
                  </a:lnTo>
                  <a:lnTo>
                    <a:pt x="13543" y="4079"/>
                  </a:lnTo>
                  <a:lnTo>
                    <a:pt x="14240" y="4077"/>
                  </a:lnTo>
                  <a:close/>
                  <a:moveTo>
                    <a:pt x="20133" y="3305"/>
                  </a:moveTo>
                  <a:lnTo>
                    <a:pt x="26325" y="6881"/>
                  </a:lnTo>
                  <a:lnTo>
                    <a:pt x="25571" y="7319"/>
                  </a:lnTo>
                  <a:lnTo>
                    <a:pt x="19379" y="3744"/>
                  </a:lnTo>
                  <a:lnTo>
                    <a:pt x="20133" y="3305"/>
                  </a:lnTo>
                  <a:close/>
                  <a:moveTo>
                    <a:pt x="18626" y="4181"/>
                  </a:moveTo>
                  <a:lnTo>
                    <a:pt x="24819" y="7756"/>
                  </a:lnTo>
                  <a:lnTo>
                    <a:pt x="24066" y="8194"/>
                  </a:lnTo>
                  <a:lnTo>
                    <a:pt x="17872" y="4619"/>
                  </a:lnTo>
                  <a:lnTo>
                    <a:pt x="18626" y="4181"/>
                  </a:lnTo>
                  <a:close/>
                  <a:moveTo>
                    <a:pt x="13479" y="6183"/>
                  </a:moveTo>
                  <a:cubicBezTo>
                    <a:pt x="13565" y="6183"/>
                    <a:pt x="13652" y="6185"/>
                    <a:pt x="13738" y="6187"/>
                  </a:cubicBezTo>
                  <a:lnTo>
                    <a:pt x="13500" y="8803"/>
                  </a:lnTo>
                  <a:lnTo>
                    <a:pt x="10291" y="6950"/>
                  </a:lnTo>
                  <a:cubicBezTo>
                    <a:pt x="10493" y="6831"/>
                    <a:pt x="10712" y="6728"/>
                    <a:pt x="10940" y="6638"/>
                  </a:cubicBezTo>
                  <a:cubicBezTo>
                    <a:pt x="11702" y="6336"/>
                    <a:pt x="12590" y="6183"/>
                    <a:pt x="13479" y="6183"/>
                  </a:cubicBezTo>
                  <a:close/>
                  <a:moveTo>
                    <a:pt x="17118" y="5058"/>
                  </a:moveTo>
                  <a:lnTo>
                    <a:pt x="23313" y="8634"/>
                  </a:lnTo>
                  <a:lnTo>
                    <a:pt x="22559" y="9072"/>
                  </a:lnTo>
                  <a:lnTo>
                    <a:pt x="16364" y="5496"/>
                  </a:lnTo>
                  <a:lnTo>
                    <a:pt x="17118" y="5058"/>
                  </a:lnTo>
                  <a:close/>
                  <a:moveTo>
                    <a:pt x="19736" y="9791"/>
                  </a:moveTo>
                  <a:cubicBezTo>
                    <a:pt x="19740" y="10463"/>
                    <a:pt x="19302" y="11133"/>
                    <a:pt x="18422" y="11645"/>
                  </a:cubicBezTo>
                  <a:lnTo>
                    <a:pt x="15213" y="9791"/>
                  </a:lnTo>
                  <a:close/>
                  <a:moveTo>
                    <a:pt x="14183" y="6804"/>
                  </a:moveTo>
                  <a:cubicBezTo>
                    <a:pt x="15255" y="6838"/>
                    <a:pt x="16310" y="7092"/>
                    <a:pt x="17132" y="7566"/>
                  </a:cubicBezTo>
                  <a:cubicBezTo>
                    <a:pt x="18018" y="8078"/>
                    <a:pt x="18463" y="8749"/>
                    <a:pt x="18468" y="9419"/>
                  </a:cubicBezTo>
                  <a:lnTo>
                    <a:pt x="13945" y="9419"/>
                  </a:lnTo>
                  <a:lnTo>
                    <a:pt x="15698" y="11837"/>
                  </a:lnTo>
                  <a:cubicBezTo>
                    <a:pt x="15142" y="11972"/>
                    <a:pt x="14549" y="12039"/>
                    <a:pt x="13956" y="12039"/>
                  </a:cubicBezTo>
                  <a:cubicBezTo>
                    <a:pt x="12799" y="12039"/>
                    <a:pt x="11641" y="11783"/>
                    <a:pt x="10756" y="11272"/>
                  </a:cubicBezTo>
                  <a:cubicBezTo>
                    <a:pt x="8983" y="10248"/>
                    <a:pt x="8976" y="8590"/>
                    <a:pt x="10738" y="7566"/>
                  </a:cubicBezTo>
                  <a:lnTo>
                    <a:pt x="10738" y="7566"/>
                  </a:lnTo>
                  <a:lnTo>
                    <a:pt x="13945" y="9419"/>
                  </a:lnTo>
                  <a:lnTo>
                    <a:pt x="14183" y="6804"/>
                  </a:lnTo>
                  <a:close/>
                  <a:moveTo>
                    <a:pt x="14861" y="9995"/>
                  </a:moveTo>
                  <a:lnTo>
                    <a:pt x="18071" y="11848"/>
                  </a:lnTo>
                  <a:cubicBezTo>
                    <a:pt x="17643" y="12098"/>
                    <a:pt x="17144" y="12286"/>
                    <a:pt x="16615" y="12414"/>
                  </a:cubicBezTo>
                  <a:lnTo>
                    <a:pt x="14861" y="9995"/>
                  </a:lnTo>
                  <a:close/>
                  <a:moveTo>
                    <a:pt x="10918" y="12579"/>
                  </a:moveTo>
                  <a:cubicBezTo>
                    <a:pt x="11230" y="12579"/>
                    <a:pt x="11542" y="12648"/>
                    <a:pt x="11780" y="12785"/>
                  </a:cubicBezTo>
                  <a:cubicBezTo>
                    <a:pt x="12117" y="12980"/>
                    <a:pt x="12215" y="13263"/>
                    <a:pt x="12074" y="13508"/>
                  </a:cubicBezTo>
                  <a:cubicBezTo>
                    <a:pt x="12121" y="13504"/>
                    <a:pt x="12167" y="13502"/>
                    <a:pt x="12214" y="13502"/>
                  </a:cubicBezTo>
                  <a:cubicBezTo>
                    <a:pt x="12449" y="13502"/>
                    <a:pt x="12682" y="13553"/>
                    <a:pt x="12861" y="13657"/>
                  </a:cubicBezTo>
                  <a:cubicBezTo>
                    <a:pt x="13132" y="13813"/>
                    <a:pt x="13198" y="14044"/>
                    <a:pt x="13061" y="14238"/>
                  </a:cubicBezTo>
                  <a:cubicBezTo>
                    <a:pt x="13106" y="14231"/>
                    <a:pt x="13152" y="14228"/>
                    <a:pt x="13197" y="14228"/>
                  </a:cubicBezTo>
                  <a:cubicBezTo>
                    <a:pt x="13317" y="14228"/>
                    <a:pt x="13433" y="14251"/>
                    <a:pt x="13517" y="14300"/>
                  </a:cubicBezTo>
                  <a:cubicBezTo>
                    <a:pt x="13711" y="14413"/>
                    <a:pt x="13681" y="14612"/>
                    <a:pt x="13454" y="14744"/>
                  </a:cubicBezTo>
                  <a:lnTo>
                    <a:pt x="13341" y="14678"/>
                  </a:lnTo>
                  <a:cubicBezTo>
                    <a:pt x="13494" y="14589"/>
                    <a:pt x="13514" y="14453"/>
                    <a:pt x="13383" y="14379"/>
                  </a:cubicBezTo>
                  <a:cubicBezTo>
                    <a:pt x="13326" y="14345"/>
                    <a:pt x="13248" y="14329"/>
                    <a:pt x="13166" y="14329"/>
                  </a:cubicBezTo>
                  <a:cubicBezTo>
                    <a:pt x="13063" y="14329"/>
                    <a:pt x="12952" y="14355"/>
                    <a:pt x="12867" y="14405"/>
                  </a:cubicBezTo>
                  <a:lnTo>
                    <a:pt x="12753" y="14339"/>
                  </a:lnTo>
                  <a:lnTo>
                    <a:pt x="12657" y="14284"/>
                  </a:lnTo>
                  <a:cubicBezTo>
                    <a:pt x="12896" y="14143"/>
                    <a:pt x="12895" y="13919"/>
                    <a:pt x="12652" y="13778"/>
                  </a:cubicBezTo>
                  <a:cubicBezTo>
                    <a:pt x="12532" y="13709"/>
                    <a:pt x="12374" y="13674"/>
                    <a:pt x="12217" y="13674"/>
                  </a:cubicBezTo>
                  <a:cubicBezTo>
                    <a:pt x="12078" y="13674"/>
                    <a:pt x="11939" y="13701"/>
                    <a:pt x="11826" y="13755"/>
                  </a:cubicBezTo>
                  <a:lnTo>
                    <a:pt x="11785" y="13779"/>
                  </a:lnTo>
                  <a:lnTo>
                    <a:pt x="11781" y="13778"/>
                  </a:lnTo>
                  <a:lnTo>
                    <a:pt x="11571" y="13657"/>
                  </a:lnTo>
                  <a:lnTo>
                    <a:pt x="11506" y="13619"/>
                  </a:lnTo>
                  <a:cubicBezTo>
                    <a:pt x="11825" y="13434"/>
                    <a:pt x="11822" y="13132"/>
                    <a:pt x="11502" y="12947"/>
                  </a:cubicBezTo>
                  <a:cubicBezTo>
                    <a:pt x="11340" y="12854"/>
                    <a:pt x="11129" y="12807"/>
                    <a:pt x="10918" y="12807"/>
                  </a:cubicBezTo>
                  <a:cubicBezTo>
                    <a:pt x="10708" y="12807"/>
                    <a:pt x="10499" y="12854"/>
                    <a:pt x="10340" y="12946"/>
                  </a:cubicBezTo>
                  <a:lnTo>
                    <a:pt x="10061" y="12785"/>
                  </a:lnTo>
                  <a:cubicBezTo>
                    <a:pt x="10297" y="12648"/>
                    <a:pt x="10607" y="12579"/>
                    <a:pt x="10918" y="12579"/>
                  </a:cubicBezTo>
                  <a:close/>
                  <a:moveTo>
                    <a:pt x="17660" y="0"/>
                  </a:moveTo>
                  <a:lnTo>
                    <a:pt x="0" y="10285"/>
                  </a:lnTo>
                  <a:lnTo>
                    <a:pt x="12465" y="17481"/>
                  </a:lnTo>
                  <a:lnTo>
                    <a:pt x="30125" y="7196"/>
                  </a:lnTo>
                  <a:lnTo>
                    <a:pt x="17660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44" name="Google Shape;361;p32">
              <a:extLst>
                <a:ext uri="{FF2B5EF4-FFF2-40B4-BE49-F238E27FC236}">
                  <a16:creationId xmlns:a16="http://schemas.microsoft.com/office/drawing/2014/main" id="{1F74A954-159F-5486-3E7D-FEBC2E49B3A8}"/>
                </a:ext>
              </a:extLst>
            </p:cNvPr>
            <p:cNvSpPr/>
            <p:nvPr/>
          </p:nvSpPr>
          <p:spPr>
            <a:xfrm>
              <a:off x="3038125" y="3083675"/>
              <a:ext cx="79700" cy="65425"/>
            </a:xfrm>
            <a:custGeom>
              <a:avLst/>
              <a:gdLst/>
              <a:ahLst/>
              <a:cxnLst/>
              <a:rect l="l" t="t" r="r" b="b"/>
              <a:pathLst>
                <a:path w="3188" h="2617" extrusionOk="0">
                  <a:moveTo>
                    <a:pt x="239" y="1"/>
                  </a:moveTo>
                  <a:lnTo>
                    <a:pt x="1" y="2616"/>
                  </a:lnTo>
                  <a:lnTo>
                    <a:pt x="1" y="2616"/>
                  </a:lnTo>
                  <a:lnTo>
                    <a:pt x="3188" y="763"/>
                  </a:lnTo>
                  <a:cubicBezTo>
                    <a:pt x="2366" y="289"/>
                    <a:pt x="1311" y="35"/>
                    <a:pt x="239" y="1"/>
                  </a:cubicBezTo>
                  <a:close/>
                </a:path>
              </a:pathLst>
            </a:custGeom>
            <a:solidFill>
              <a:srgbClr val="E7E6E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45" name="Google Shape;362;p32">
              <a:extLst>
                <a:ext uri="{FF2B5EF4-FFF2-40B4-BE49-F238E27FC236}">
                  <a16:creationId xmlns:a16="http://schemas.microsoft.com/office/drawing/2014/main" id="{6B84DF74-67F1-15DC-9B98-871C21DE9C8F}"/>
                </a:ext>
              </a:extLst>
            </p:cNvPr>
            <p:cNvSpPr/>
            <p:nvPr/>
          </p:nvSpPr>
          <p:spPr>
            <a:xfrm>
              <a:off x="2946775" y="3068175"/>
              <a:ext cx="86225" cy="65500"/>
            </a:xfrm>
            <a:custGeom>
              <a:avLst/>
              <a:gdLst/>
              <a:ahLst/>
              <a:cxnLst/>
              <a:rect l="l" t="t" r="r" b="b"/>
              <a:pathLst>
                <a:path w="3449" h="2620" extrusionOk="0">
                  <a:moveTo>
                    <a:pt x="3189" y="0"/>
                  </a:moveTo>
                  <a:cubicBezTo>
                    <a:pt x="2300" y="0"/>
                    <a:pt x="1412" y="153"/>
                    <a:pt x="650" y="455"/>
                  </a:cubicBezTo>
                  <a:cubicBezTo>
                    <a:pt x="422" y="545"/>
                    <a:pt x="203" y="648"/>
                    <a:pt x="1" y="767"/>
                  </a:cubicBezTo>
                  <a:lnTo>
                    <a:pt x="3210" y="2620"/>
                  </a:lnTo>
                  <a:lnTo>
                    <a:pt x="3448" y="4"/>
                  </a:lnTo>
                  <a:cubicBezTo>
                    <a:pt x="3362" y="2"/>
                    <a:pt x="3275" y="0"/>
                    <a:pt x="3189" y="0"/>
                  </a:cubicBezTo>
                  <a:close/>
                </a:path>
              </a:pathLst>
            </a:custGeom>
            <a:solidFill>
              <a:srgbClr val="ED7D3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46" name="Google Shape;363;p32">
              <a:extLst>
                <a:ext uri="{FF2B5EF4-FFF2-40B4-BE49-F238E27FC236}">
                  <a16:creationId xmlns:a16="http://schemas.microsoft.com/office/drawing/2014/main" id="{977F8A91-CF89-FD68-A491-034A4DF1CE8A}"/>
                </a:ext>
              </a:extLst>
            </p:cNvPr>
            <p:cNvSpPr/>
            <p:nvPr/>
          </p:nvSpPr>
          <p:spPr>
            <a:xfrm>
              <a:off x="2913900" y="3102750"/>
              <a:ext cx="124250" cy="92650"/>
            </a:xfrm>
            <a:custGeom>
              <a:avLst/>
              <a:gdLst/>
              <a:ahLst/>
              <a:cxnLst/>
              <a:rect l="l" t="t" r="r" b="b"/>
              <a:pathLst>
                <a:path w="4970" h="3706" extrusionOk="0">
                  <a:moveTo>
                    <a:pt x="1763" y="0"/>
                  </a:moveTo>
                  <a:cubicBezTo>
                    <a:pt x="1" y="1024"/>
                    <a:pt x="8" y="2682"/>
                    <a:pt x="1781" y="3706"/>
                  </a:cubicBezTo>
                  <a:lnTo>
                    <a:pt x="4970" y="1853"/>
                  </a:lnTo>
                  <a:lnTo>
                    <a:pt x="1763" y="0"/>
                  </a:lnTo>
                  <a:close/>
                </a:path>
              </a:pathLst>
            </a:custGeom>
            <a:solidFill>
              <a:srgbClr val="5B9BD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47" name="Google Shape;364;p32">
              <a:extLst>
                <a:ext uri="{FF2B5EF4-FFF2-40B4-BE49-F238E27FC236}">
                  <a16:creationId xmlns:a16="http://schemas.microsoft.com/office/drawing/2014/main" id="{96737D58-2EA1-D415-FD9D-34960AF1D17E}"/>
                </a:ext>
              </a:extLst>
            </p:cNvPr>
            <p:cNvSpPr/>
            <p:nvPr/>
          </p:nvSpPr>
          <p:spPr>
            <a:xfrm>
              <a:off x="2958400" y="3149075"/>
              <a:ext cx="123575" cy="65500"/>
            </a:xfrm>
            <a:custGeom>
              <a:avLst/>
              <a:gdLst/>
              <a:ahLst/>
              <a:cxnLst/>
              <a:rect l="l" t="t" r="r" b="b"/>
              <a:pathLst>
                <a:path w="4943" h="2620" extrusionOk="0">
                  <a:moveTo>
                    <a:pt x="3190" y="0"/>
                  </a:moveTo>
                  <a:lnTo>
                    <a:pt x="1" y="1853"/>
                  </a:lnTo>
                  <a:cubicBezTo>
                    <a:pt x="886" y="2364"/>
                    <a:pt x="2044" y="2620"/>
                    <a:pt x="3201" y="2620"/>
                  </a:cubicBezTo>
                  <a:cubicBezTo>
                    <a:pt x="3794" y="2620"/>
                    <a:pt x="4387" y="2553"/>
                    <a:pt x="4943" y="2418"/>
                  </a:cubicBezTo>
                  <a:lnTo>
                    <a:pt x="3190" y="0"/>
                  </a:lnTo>
                  <a:close/>
                </a:path>
              </a:pathLst>
            </a:custGeom>
            <a:solidFill>
              <a:sysClr val="windowText" lastClr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48" name="Google Shape;365;p32">
              <a:extLst>
                <a:ext uri="{FF2B5EF4-FFF2-40B4-BE49-F238E27FC236}">
                  <a16:creationId xmlns:a16="http://schemas.microsoft.com/office/drawing/2014/main" id="{FC835DF2-AC3B-3F23-47F9-4EA2DD8F5CF7}"/>
                </a:ext>
              </a:extLst>
            </p:cNvPr>
            <p:cNvSpPr/>
            <p:nvPr/>
          </p:nvSpPr>
          <p:spPr>
            <a:xfrm>
              <a:off x="3061050" y="3163475"/>
              <a:ext cx="80275" cy="60475"/>
            </a:xfrm>
            <a:custGeom>
              <a:avLst/>
              <a:gdLst/>
              <a:ahLst/>
              <a:cxnLst/>
              <a:rect l="l" t="t" r="r" b="b"/>
              <a:pathLst>
                <a:path w="3211" h="2419" extrusionOk="0">
                  <a:moveTo>
                    <a:pt x="0" y="0"/>
                  </a:moveTo>
                  <a:lnTo>
                    <a:pt x="1754" y="2419"/>
                  </a:lnTo>
                  <a:cubicBezTo>
                    <a:pt x="2283" y="2291"/>
                    <a:pt x="2782" y="2103"/>
                    <a:pt x="3210" y="185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472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49" name="Google Shape;366;p32">
              <a:extLst>
                <a:ext uri="{FF2B5EF4-FFF2-40B4-BE49-F238E27FC236}">
                  <a16:creationId xmlns:a16="http://schemas.microsoft.com/office/drawing/2014/main" id="{65A89E74-6970-38CC-BFDB-C0E921099ED9}"/>
                </a:ext>
              </a:extLst>
            </p:cNvPr>
            <p:cNvSpPr/>
            <p:nvPr/>
          </p:nvSpPr>
          <p:spPr>
            <a:xfrm>
              <a:off x="3069825" y="3158350"/>
              <a:ext cx="113225" cy="46375"/>
            </a:xfrm>
            <a:custGeom>
              <a:avLst/>
              <a:gdLst/>
              <a:ahLst/>
              <a:cxnLst/>
              <a:rect l="l" t="t" r="r" b="b"/>
              <a:pathLst>
                <a:path w="4529" h="1855" extrusionOk="0">
                  <a:moveTo>
                    <a:pt x="1" y="1"/>
                  </a:moveTo>
                  <a:lnTo>
                    <a:pt x="3210" y="1855"/>
                  </a:lnTo>
                  <a:cubicBezTo>
                    <a:pt x="4090" y="1343"/>
                    <a:pt x="4528" y="673"/>
                    <a:pt x="4524" y="1"/>
                  </a:cubicBez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50" name="Google Shape;367;p32">
              <a:extLst>
                <a:ext uri="{FF2B5EF4-FFF2-40B4-BE49-F238E27FC236}">
                  <a16:creationId xmlns:a16="http://schemas.microsoft.com/office/drawing/2014/main" id="{6EA774DD-46EC-D4B8-924B-366E926A0928}"/>
                </a:ext>
              </a:extLst>
            </p:cNvPr>
            <p:cNvSpPr/>
            <p:nvPr/>
          </p:nvSpPr>
          <p:spPr>
            <a:xfrm>
              <a:off x="3038125" y="3102750"/>
              <a:ext cx="113100" cy="46350"/>
            </a:xfrm>
            <a:custGeom>
              <a:avLst/>
              <a:gdLst/>
              <a:ahLst/>
              <a:cxnLst/>
              <a:rect l="l" t="t" r="r" b="b"/>
              <a:pathLst>
                <a:path w="4524" h="1854" extrusionOk="0">
                  <a:moveTo>
                    <a:pt x="3188" y="0"/>
                  </a:moveTo>
                  <a:lnTo>
                    <a:pt x="1" y="1853"/>
                  </a:lnTo>
                  <a:lnTo>
                    <a:pt x="4524" y="1853"/>
                  </a:lnTo>
                  <a:cubicBezTo>
                    <a:pt x="4519" y="1183"/>
                    <a:pt x="4074" y="512"/>
                    <a:pt x="3188" y="0"/>
                  </a:cubicBezTo>
                  <a:close/>
                </a:path>
              </a:pathLst>
            </a:custGeom>
            <a:solidFill>
              <a:srgbClr val="5B9BD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51" name="Google Shape;368;p32">
              <a:extLst>
                <a:ext uri="{FF2B5EF4-FFF2-40B4-BE49-F238E27FC236}">
                  <a16:creationId xmlns:a16="http://schemas.microsoft.com/office/drawing/2014/main" id="{9DBD6757-26D4-0328-CBB0-0B736B0B98E7}"/>
                </a:ext>
              </a:extLst>
            </p:cNvPr>
            <p:cNvSpPr/>
            <p:nvPr/>
          </p:nvSpPr>
          <p:spPr>
            <a:xfrm>
              <a:off x="3136300" y="3018100"/>
              <a:ext cx="173725" cy="100375"/>
            </a:xfrm>
            <a:custGeom>
              <a:avLst/>
              <a:gdLst/>
              <a:ahLst/>
              <a:cxnLst/>
              <a:rect l="l" t="t" r="r" b="b"/>
              <a:pathLst>
                <a:path w="6949" h="4015" extrusionOk="0">
                  <a:moveTo>
                    <a:pt x="755" y="1"/>
                  </a:moveTo>
                  <a:lnTo>
                    <a:pt x="1" y="439"/>
                  </a:lnTo>
                  <a:lnTo>
                    <a:pt x="6195" y="4014"/>
                  </a:lnTo>
                  <a:lnTo>
                    <a:pt x="6948" y="3576"/>
                  </a:lnTo>
                  <a:lnTo>
                    <a:pt x="755" y="1"/>
                  </a:lnTo>
                  <a:close/>
                </a:path>
              </a:pathLst>
            </a:custGeom>
            <a:solidFill>
              <a:sysClr val="windowText" lastClr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52" name="Google Shape;369;p32">
              <a:extLst>
                <a:ext uri="{FF2B5EF4-FFF2-40B4-BE49-F238E27FC236}">
                  <a16:creationId xmlns:a16="http://schemas.microsoft.com/office/drawing/2014/main" id="{89867153-765B-F0AB-F3EA-4C2A7C44362C}"/>
                </a:ext>
              </a:extLst>
            </p:cNvPr>
            <p:cNvSpPr/>
            <p:nvPr/>
          </p:nvSpPr>
          <p:spPr>
            <a:xfrm>
              <a:off x="3098600" y="3040025"/>
              <a:ext cx="173775" cy="100400"/>
            </a:xfrm>
            <a:custGeom>
              <a:avLst/>
              <a:gdLst/>
              <a:ahLst/>
              <a:cxnLst/>
              <a:rect l="l" t="t" r="r" b="b"/>
              <a:pathLst>
                <a:path w="6951" h="4016" extrusionOk="0">
                  <a:moveTo>
                    <a:pt x="755" y="1"/>
                  </a:moveTo>
                  <a:lnTo>
                    <a:pt x="1" y="439"/>
                  </a:lnTo>
                  <a:lnTo>
                    <a:pt x="6196" y="4015"/>
                  </a:lnTo>
                  <a:lnTo>
                    <a:pt x="6950" y="3577"/>
                  </a:lnTo>
                  <a:lnTo>
                    <a:pt x="755" y="1"/>
                  </a:lnTo>
                  <a:close/>
                </a:path>
              </a:pathLst>
            </a:custGeom>
            <a:solidFill>
              <a:sysClr val="windowText" lastClr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53" name="Google Shape;370;p32">
              <a:extLst>
                <a:ext uri="{FF2B5EF4-FFF2-40B4-BE49-F238E27FC236}">
                  <a16:creationId xmlns:a16="http://schemas.microsoft.com/office/drawing/2014/main" id="{C3676217-1D69-074D-7016-0F31E168F229}"/>
                </a:ext>
              </a:extLst>
            </p:cNvPr>
            <p:cNvSpPr/>
            <p:nvPr/>
          </p:nvSpPr>
          <p:spPr>
            <a:xfrm>
              <a:off x="3173975" y="2996200"/>
              <a:ext cx="173675" cy="100400"/>
            </a:xfrm>
            <a:custGeom>
              <a:avLst/>
              <a:gdLst/>
              <a:ahLst/>
              <a:cxnLst/>
              <a:rect l="l" t="t" r="r" b="b"/>
              <a:pathLst>
                <a:path w="6947" h="4016" extrusionOk="0">
                  <a:moveTo>
                    <a:pt x="755" y="1"/>
                  </a:moveTo>
                  <a:lnTo>
                    <a:pt x="1" y="440"/>
                  </a:lnTo>
                  <a:lnTo>
                    <a:pt x="6193" y="4015"/>
                  </a:lnTo>
                  <a:lnTo>
                    <a:pt x="6947" y="3577"/>
                  </a:lnTo>
                  <a:lnTo>
                    <a:pt x="755" y="1"/>
                  </a:lnTo>
                  <a:close/>
                </a:path>
              </a:pathLst>
            </a:custGeom>
            <a:solidFill>
              <a:sysClr val="windowText" lastClr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54" name="Google Shape;371;p32">
              <a:extLst>
                <a:ext uri="{FF2B5EF4-FFF2-40B4-BE49-F238E27FC236}">
                  <a16:creationId xmlns:a16="http://schemas.microsoft.com/office/drawing/2014/main" id="{2F3BF6AA-A8DF-9273-B391-8A37E07E5EC1}"/>
                </a:ext>
              </a:extLst>
            </p:cNvPr>
            <p:cNvSpPr/>
            <p:nvPr/>
          </p:nvSpPr>
          <p:spPr>
            <a:xfrm>
              <a:off x="3098675" y="2974500"/>
              <a:ext cx="63925" cy="25275"/>
            </a:xfrm>
            <a:custGeom>
              <a:avLst/>
              <a:gdLst/>
              <a:ahLst/>
              <a:cxnLst/>
              <a:rect l="l" t="t" r="r" b="b"/>
              <a:pathLst>
                <a:path w="2557" h="1011" extrusionOk="0">
                  <a:moveTo>
                    <a:pt x="1" y="1"/>
                  </a:moveTo>
                  <a:lnTo>
                    <a:pt x="6" y="1009"/>
                  </a:lnTo>
                  <a:lnTo>
                    <a:pt x="9" y="1010"/>
                  </a:lnTo>
                  <a:lnTo>
                    <a:pt x="2557" y="1009"/>
                  </a:lnTo>
                  <a:lnTo>
                    <a:pt x="2556" y="607"/>
                  </a:lnTo>
                  <a:lnTo>
                    <a:pt x="702" y="605"/>
                  </a:lnTo>
                  <a:lnTo>
                    <a:pt x="697" y="1"/>
                  </a:lnTo>
                  <a:close/>
                </a:path>
              </a:pathLst>
            </a:custGeom>
            <a:solidFill>
              <a:srgbClr val="5B9BD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55" name="Google Shape;372;p32">
              <a:extLst>
                <a:ext uri="{FF2B5EF4-FFF2-40B4-BE49-F238E27FC236}">
                  <a16:creationId xmlns:a16="http://schemas.microsoft.com/office/drawing/2014/main" id="{44FC897C-F83F-DF8C-62A8-12077B431ABF}"/>
                </a:ext>
              </a:extLst>
            </p:cNvPr>
            <p:cNvSpPr/>
            <p:nvPr/>
          </p:nvSpPr>
          <p:spPr>
            <a:xfrm>
              <a:off x="3028075" y="3015525"/>
              <a:ext cx="63925" cy="25250"/>
            </a:xfrm>
            <a:custGeom>
              <a:avLst/>
              <a:gdLst/>
              <a:ahLst/>
              <a:cxnLst/>
              <a:rect l="l" t="t" r="r" b="b"/>
              <a:pathLst>
                <a:path w="2557" h="1010" extrusionOk="0">
                  <a:moveTo>
                    <a:pt x="698" y="0"/>
                  </a:moveTo>
                  <a:lnTo>
                    <a:pt x="1" y="2"/>
                  </a:lnTo>
                  <a:lnTo>
                    <a:pt x="6" y="1010"/>
                  </a:lnTo>
                  <a:lnTo>
                    <a:pt x="9" y="1009"/>
                  </a:lnTo>
                  <a:lnTo>
                    <a:pt x="9" y="1010"/>
                  </a:lnTo>
                  <a:lnTo>
                    <a:pt x="2557" y="1010"/>
                  </a:lnTo>
                  <a:lnTo>
                    <a:pt x="2557" y="606"/>
                  </a:lnTo>
                  <a:lnTo>
                    <a:pt x="701" y="606"/>
                  </a:lnTo>
                  <a:lnTo>
                    <a:pt x="698" y="0"/>
                  </a:lnTo>
                  <a:close/>
                </a:path>
              </a:pathLst>
            </a:custGeom>
            <a:solidFill>
              <a:srgbClr val="5B9BD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56" name="Google Shape;373;p32">
              <a:extLst>
                <a:ext uri="{FF2B5EF4-FFF2-40B4-BE49-F238E27FC236}">
                  <a16:creationId xmlns:a16="http://schemas.microsoft.com/office/drawing/2014/main" id="{1F2F38E7-0816-77EA-5646-2AA15C5CBD87}"/>
                </a:ext>
              </a:extLst>
            </p:cNvPr>
            <p:cNvSpPr/>
            <p:nvPr/>
          </p:nvSpPr>
          <p:spPr>
            <a:xfrm>
              <a:off x="2941025" y="3228075"/>
              <a:ext cx="91300" cy="54150"/>
            </a:xfrm>
            <a:custGeom>
              <a:avLst/>
              <a:gdLst/>
              <a:ahLst/>
              <a:cxnLst/>
              <a:rect l="l" t="t" r="r" b="b"/>
              <a:pathLst>
                <a:path w="3652" h="2166" extrusionOk="0">
                  <a:moveTo>
                    <a:pt x="858" y="0"/>
                  </a:moveTo>
                  <a:cubicBezTo>
                    <a:pt x="547" y="0"/>
                    <a:pt x="237" y="69"/>
                    <a:pt x="1" y="206"/>
                  </a:cubicBezTo>
                  <a:lnTo>
                    <a:pt x="280" y="367"/>
                  </a:lnTo>
                  <a:cubicBezTo>
                    <a:pt x="439" y="275"/>
                    <a:pt x="648" y="228"/>
                    <a:pt x="858" y="228"/>
                  </a:cubicBezTo>
                  <a:cubicBezTo>
                    <a:pt x="1069" y="228"/>
                    <a:pt x="1280" y="275"/>
                    <a:pt x="1442" y="368"/>
                  </a:cubicBezTo>
                  <a:cubicBezTo>
                    <a:pt x="1762" y="553"/>
                    <a:pt x="1765" y="855"/>
                    <a:pt x="1446" y="1040"/>
                  </a:cubicBezTo>
                  <a:lnTo>
                    <a:pt x="1511" y="1078"/>
                  </a:lnTo>
                  <a:lnTo>
                    <a:pt x="1721" y="1199"/>
                  </a:lnTo>
                  <a:lnTo>
                    <a:pt x="1725" y="1200"/>
                  </a:lnTo>
                  <a:lnTo>
                    <a:pt x="1766" y="1176"/>
                  </a:lnTo>
                  <a:cubicBezTo>
                    <a:pt x="1879" y="1122"/>
                    <a:pt x="2018" y="1095"/>
                    <a:pt x="2157" y="1095"/>
                  </a:cubicBezTo>
                  <a:cubicBezTo>
                    <a:pt x="2314" y="1095"/>
                    <a:pt x="2472" y="1130"/>
                    <a:pt x="2592" y="1199"/>
                  </a:cubicBezTo>
                  <a:cubicBezTo>
                    <a:pt x="2835" y="1340"/>
                    <a:pt x="2836" y="1564"/>
                    <a:pt x="2597" y="1705"/>
                  </a:cubicBezTo>
                  <a:lnTo>
                    <a:pt x="2693" y="1760"/>
                  </a:lnTo>
                  <a:lnTo>
                    <a:pt x="2807" y="1826"/>
                  </a:lnTo>
                  <a:cubicBezTo>
                    <a:pt x="2892" y="1776"/>
                    <a:pt x="3003" y="1750"/>
                    <a:pt x="3106" y="1750"/>
                  </a:cubicBezTo>
                  <a:cubicBezTo>
                    <a:pt x="3188" y="1750"/>
                    <a:pt x="3266" y="1766"/>
                    <a:pt x="3323" y="1800"/>
                  </a:cubicBezTo>
                  <a:cubicBezTo>
                    <a:pt x="3454" y="1874"/>
                    <a:pt x="3434" y="2010"/>
                    <a:pt x="3281" y="2099"/>
                  </a:cubicBezTo>
                  <a:lnTo>
                    <a:pt x="3394" y="2165"/>
                  </a:lnTo>
                  <a:cubicBezTo>
                    <a:pt x="3621" y="2033"/>
                    <a:pt x="3651" y="1834"/>
                    <a:pt x="3457" y="1721"/>
                  </a:cubicBezTo>
                  <a:cubicBezTo>
                    <a:pt x="3373" y="1672"/>
                    <a:pt x="3257" y="1649"/>
                    <a:pt x="3137" y="1649"/>
                  </a:cubicBezTo>
                  <a:cubicBezTo>
                    <a:pt x="3092" y="1649"/>
                    <a:pt x="3046" y="1652"/>
                    <a:pt x="3001" y="1659"/>
                  </a:cubicBezTo>
                  <a:cubicBezTo>
                    <a:pt x="3138" y="1465"/>
                    <a:pt x="3072" y="1234"/>
                    <a:pt x="2801" y="1078"/>
                  </a:cubicBezTo>
                  <a:cubicBezTo>
                    <a:pt x="2622" y="974"/>
                    <a:pt x="2389" y="923"/>
                    <a:pt x="2154" y="923"/>
                  </a:cubicBezTo>
                  <a:cubicBezTo>
                    <a:pt x="2107" y="923"/>
                    <a:pt x="2061" y="925"/>
                    <a:pt x="2014" y="929"/>
                  </a:cubicBezTo>
                  <a:cubicBezTo>
                    <a:pt x="2155" y="684"/>
                    <a:pt x="2057" y="401"/>
                    <a:pt x="1720" y="206"/>
                  </a:cubicBezTo>
                  <a:cubicBezTo>
                    <a:pt x="1482" y="69"/>
                    <a:pt x="1170" y="0"/>
                    <a:pt x="858" y="0"/>
                  </a:cubicBezTo>
                  <a:close/>
                </a:path>
              </a:pathLst>
            </a:custGeom>
            <a:solidFill>
              <a:srgbClr val="E7E6E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57" name="Google Shape;374;p32">
              <a:extLst>
                <a:ext uri="{FF2B5EF4-FFF2-40B4-BE49-F238E27FC236}">
                  <a16:creationId xmlns:a16="http://schemas.microsoft.com/office/drawing/2014/main" id="{BDF52F38-6C46-E6ED-FC3B-C0AABDE3E620}"/>
                </a:ext>
              </a:extLst>
            </p:cNvPr>
            <p:cNvSpPr/>
            <p:nvPr/>
          </p:nvSpPr>
          <p:spPr>
            <a:xfrm>
              <a:off x="2570925" y="3129000"/>
              <a:ext cx="1053500" cy="354375"/>
            </a:xfrm>
            <a:custGeom>
              <a:avLst/>
              <a:gdLst/>
              <a:ahLst/>
              <a:cxnLst/>
              <a:rect l="l" t="t" r="r" b="b"/>
              <a:pathLst>
                <a:path w="42140" h="14175" extrusionOk="0">
                  <a:moveTo>
                    <a:pt x="41629" y="0"/>
                  </a:moveTo>
                  <a:lnTo>
                    <a:pt x="18287" y="13472"/>
                  </a:lnTo>
                  <a:lnTo>
                    <a:pt x="490" y="3348"/>
                  </a:lnTo>
                  <a:lnTo>
                    <a:pt x="0" y="3633"/>
                  </a:lnTo>
                  <a:lnTo>
                    <a:pt x="18259" y="14175"/>
                  </a:lnTo>
                  <a:lnTo>
                    <a:pt x="42140" y="296"/>
                  </a:lnTo>
                  <a:lnTo>
                    <a:pt x="41629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58" name="Google Shape;375;p32">
              <a:extLst>
                <a:ext uri="{FF2B5EF4-FFF2-40B4-BE49-F238E27FC236}">
                  <a16:creationId xmlns:a16="http://schemas.microsoft.com/office/drawing/2014/main" id="{127A6C46-400C-DFEB-27BD-BD56BF7075B1}"/>
                </a:ext>
              </a:extLst>
            </p:cNvPr>
            <p:cNvSpPr/>
            <p:nvPr/>
          </p:nvSpPr>
          <p:spPr>
            <a:xfrm>
              <a:off x="3000975" y="3093475"/>
              <a:ext cx="441675" cy="315775"/>
            </a:xfrm>
            <a:custGeom>
              <a:avLst/>
              <a:gdLst/>
              <a:ahLst/>
              <a:cxnLst/>
              <a:rect l="l" t="t" r="r" b="b"/>
              <a:pathLst>
                <a:path w="17667" h="12631" extrusionOk="0">
                  <a:moveTo>
                    <a:pt x="17667" y="1"/>
                  </a:moveTo>
                  <a:lnTo>
                    <a:pt x="7" y="10286"/>
                  </a:lnTo>
                  <a:lnTo>
                    <a:pt x="0" y="12630"/>
                  </a:lnTo>
                  <a:lnTo>
                    <a:pt x="17660" y="2345"/>
                  </a:lnTo>
                  <a:lnTo>
                    <a:pt x="17662" y="1239"/>
                  </a:lnTo>
                  <a:lnTo>
                    <a:pt x="17667" y="1"/>
                  </a:lnTo>
                  <a:close/>
                </a:path>
              </a:pathLst>
            </a:custGeom>
            <a:solidFill>
              <a:srgbClr val="ECECEC">
                <a:alpha val="1899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5C02F92-B9DE-201C-A06F-35D342999B08}"/>
              </a:ext>
            </a:extLst>
          </p:cNvPr>
          <p:cNvGrpSpPr/>
          <p:nvPr/>
        </p:nvGrpSpPr>
        <p:grpSpPr>
          <a:xfrm>
            <a:off x="2529427" y="175346"/>
            <a:ext cx="8790844" cy="1929820"/>
            <a:chOff x="2529427" y="175346"/>
            <a:chExt cx="8790844" cy="1929820"/>
          </a:xfrm>
        </p:grpSpPr>
        <p:sp>
          <p:nvSpPr>
            <p:cNvPr id="109" name="Google Shape;417;p34">
              <a:extLst>
                <a:ext uri="{FF2B5EF4-FFF2-40B4-BE49-F238E27FC236}">
                  <a16:creationId xmlns:a16="http://schemas.microsoft.com/office/drawing/2014/main" id="{64D7E23B-0743-C4E9-436F-0FC0FAE987DE}"/>
                </a:ext>
              </a:extLst>
            </p:cNvPr>
            <p:cNvSpPr txBox="1">
              <a:spLocks/>
            </p:cNvSpPr>
            <p:nvPr/>
          </p:nvSpPr>
          <p:spPr>
            <a:xfrm>
              <a:off x="3851514" y="1313449"/>
              <a:ext cx="7468757" cy="76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121900" tIns="121900" rIns="121900" bIns="121900" anchor="t" anchorCtr="0" compatLnSpc="1">
              <a:noAutofit/>
            </a:bodyPr>
            <a:lstStyle>
              <a:lvl1pPr marL="215999" marR="0" lvl="0" indent="-215999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itchFamily="34"/>
                <a:buNone/>
                <a:tabLst/>
                <a:defRPr lang="fr-FR" sz="1867" b="0" i="0" u="none" strike="noStrike" kern="1200" cap="none" spc="0" baseline="0">
                  <a:solidFill>
                    <a:srgbClr val="242269"/>
                  </a:solidFill>
                  <a:uFillTx/>
                  <a:latin typeface="Century Gothic" pitchFamily="34"/>
                </a:defRPr>
              </a:lvl1pPr>
              <a:lvl2pPr marL="395999" marR="0" lvl="1" indent="-179999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Police système"/>
                <a:buNone/>
                <a:tabLst/>
                <a:defRPr lang="fr-FR" sz="1800" b="0" i="0" u="none" strike="noStrike" kern="1200" cap="none" spc="0" baseline="0">
                  <a:solidFill>
                    <a:srgbClr val="242269"/>
                  </a:solidFill>
                  <a:uFillTx/>
                  <a:latin typeface="Century Gothic" pitchFamily="34"/>
                </a:defRPr>
              </a:lvl2pPr>
              <a:lvl3pPr marL="575998" marR="0" lvl="2" indent="-179999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itchFamily="34"/>
                <a:buNone/>
                <a:tabLst/>
                <a:defRPr lang="fr-FR" sz="1600" b="0" i="0" u="none" strike="noStrike" kern="1200" cap="none" spc="0" baseline="0">
                  <a:solidFill>
                    <a:srgbClr val="242269"/>
                  </a:solidFill>
                  <a:uFillTx/>
                  <a:latin typeface="Century Gothic" pitchFamily="34"/>
                </a:defRPr>
              </a:lvl3pPr>
              <a:lvl4pPr marL="719998" marR="0" lvl="3" indent="-143999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Police système"/>
                <a:buNone/>
                <a:tabLst/>
                <a:defRPr lang="fr-FR" sz="1400" b="0" i="0" u="none" strike="noStrike" kern="1200" cap="none" spc="0" baseline="0">
                  <a:solidFill>
                    <a:srgbClr val="242269"/>
                  </a:solidFill>
                  <a:uFillTx/>
                  <a:latin typeface="Century Gothic" pitchFamily="34"/>
                </a:defRPr>
              </a:lvl4pPr>
              <a:lvl5pPr marL="719998" marR="0" lvl="4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  <a:tabLst/>
                <a:defRPr lang="fr-FR" sz="1200" b="0" i="0" u="none" strike="noStrike" kern="1200" cap="none" spc="0" baseline="0">
                  <a:solidFill>
                    <a:srgbClr val="242269"/>
                  </a:solidFill>
                  <a:uFillTx/>
                  <a:latin typeface="Century Gothic" pitchFamily="34"/>
                </a:defRPr>
              </a:lvl5pPr>
              <a:lvl6pPr marL="2514600" lvl="5" indent="-228600" algn="ctr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lvl="6" indent="-228600" algn="ctr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lvl="7" indent="-228600" algn="ctr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lvl="8" indent="-228600" algn="ctr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400"/>
                <a:buFont typeface="Arial" pitchFamily="34"/>
                <a:buNone/>
                <a:tabLst/>
                <a:defRPr/>
              </a:pPr>
              <a:r>
                <a:rPr kumimoji="0" lang="en-GB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42269"/>
                  </a:solidFill>
                  <a:effectLst/>
                  <a:uLnTx/>
                  <a:uFillTx/>
                  <a:latin typeface="+mn-lt"/>
                </a:rPr>
                <a:t>Extensions to PLIER? For pathway integration.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400"/>
                <a:buFont typeface="Arial" pitchFamily="34"/>
                <a:buNone/>
                <a:tabLst/>
                <a:defRPr/>
              </a:pPr>
              <a:r>
                <a:rPr kumimoji="0" lang="en-GB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42269"/>
                  </a:solidFill>
                  <a:effectLst/>
                  <a:uLnTx/>
                  <a:uFillTx/>
                  <a:latin typeface="+mn-lt"/>
                </a:rPr>
                <a:t>Feature-selection and/or </a:t>
              </a:r>
              <a:r>
                <a:rPr lang="en-GB" sz="2000" dirty="0">
                  <a:latin typeface="+mn-lt"/>
                </a:rPr>
                <a:t>Embedding regression</a:t>
              </a:r>
              <a:endPara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400"/>
                <a:buFont typeface="Arial" pitchFamily="34"/>
                <a:buNone/>
                <a:tabLst/>
                <a:defRPr/>
              </a:pPr>
              <a:endPara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400"/>
                <a:buFont typeface="Arial" pitchFamily="34"/>
                <a:buNone/>
                <a:tabLst/>
                <a:defRPr/>
              </a:pPr>
              <a:endPara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12" name="Google Shape;420;p34">
              <a:extLst>
                <a:ext uri="{FF2B5EF4-FFF2-40B4-BE49-F238E27FC236}">
                  <a16:creationId xmlns:a16="http://schemas.microsoft.com/office/drawing/2014/main" id="{A6BA7D2D-BD8B-13DD-364D-9DF0DEECDDB3}"/>
                </a:ext>
              </a:extLst>
            </p:cNvPr>
            <p:cNvSpPr txBox="1">
              <a:spLocks/>
            </p:cNvSpPr>
            <p:nvPr/>
          </p:nvSpPr>
          <p:spPr>
            <a:xfrm>
              <a:off x="3639649" y="175346"/>
              <a:ext cx="4062132" cy="131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121900" tIns="121900" rIns="121900" bIns="121900" anchor="b" anchorCtr="0" compatLnSpc="1">
              <a:noAutofit/>
            </a:bodyPr>
            <a:lstStyle>
              <a:lvl1pPr marL="215999" marR="0" lvl="0" indent="-215999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2400"/>
                <a:buFont typeface="Bebas Neue"/>
                <a:buNone/>
                <a:tabLst/>
                <a:defRPr lang="fr-FR" sz="2933" b="1" i="0" u="none" strike="noStrike" kern="1200" cap="none" spc="0" baseline="0">
                  <a:solidFill>
                    <a:schemeClr val="dk1"/>
                  </a:solidFill>
                  <a:uFillTx/>
                  <a:latin typeface="Poppins"/>
                  <a:ea typeface="Poppins"/>
                  <a:cs typeface="Poppins"/>
                  <a:sym typeface="Poppins"/>
                </a:defRPr>
              </a:lvl1pPr>
              <a:lvl2pPr marL="395999" marR="0" lvl="1" indent="-179999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2400"/>
                <a:buFont typeface="Bebas Neue"/>
                <a:buNone/>
                <a:tabLst/>
                <a:defRPr lang="fr-FR" sz="3200" b="0" i="0" u="none" strike="noStrike" kern="1200" cap="none" spc="0" baseline="0">
                  <a:solidFill>
                    <a:srgbClr val="242269"/>
                  </a:solidFill>
                  <a:uFillTx/>
                  <a:latin typeface="Bebas Neue"/>
                  <a:ea typeface="Bebas Neue"/>
                  <a:cs typeface="Bebas Neue"/>
                  <a:sym typeface="Bebas Neue"/>
                </a:defRPr>
              </a:lvl2pPr>
              <a:lvl3pPr marL="575998" marR="0" lvl="2" indent="-179999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2400"/>
                <a:buFont typeface="Bebas Neue"/>
                <a:buNone/>
                <a:tabLst/>
                <a:defRPr lang="fr-FR" sz="3200" b="0" i="0" u="none" strike="noStrike" kern="1200" cap="none" spc="0" baseline="0">
                  <a:solidFill>
                    <a:srgbClr val="242269"/>
                  </a:solidFill>
                  <a:uFillTx/>
                  <a:latin typeface="Bebas Neue"/>
                  <a:ea typeface="Bebas Neue"/>
                  <a:cs typeface="Bebas Neue"/>
                  <a:sym typeface="Bebas Neue"/>
                </a:defRPr>
              </a:lvl3pPr>
              <a:lvl4pPr marL="719998" marR="0" lvl="3" indent="-143999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2400"/>
                <a:buFont typeface="Bebas Neue"/>
                <a:buNone/>
                <a:tabLst/>
                <a:defRPr lang="fr-FR" sz="3200" b="0" i="0" u="none" strike="noStrike" kern="1200" cap="none" spc="0" baseline="0">
                  <a:solidFill>
                    <a:srgbClr val="242269"/>
                  </a:solidFill>
                  <a:uFillTx/>
                  <a:latin typeface="Bebas Neue"/>
                  <a:ea typeface="Bebas Neue"/>
                  <a:cs typeface="Bebas Neue"/>
                  <a:sym typeface="Bebas Neue"/>
                </a:defRPr>
              </a:lvl4pPr>
              <a:lvl5pPr marL="719998" marR="0" lvl="4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2400"/>
                <a:buFont typeface="Bebas Neue"/>
                <a:buNone/>
                <a:tabLst/>
                <a:defRPr lang="fr-FR" sz="3200" b="0" i="0" u="none" strike="noStrike" kern="1200" cap="none" spc="0" baseline="0">
                  <a:solidFill>
                    <a:srgbClr val="242269"/>
                  </a:solidFill>
                  <a:uFillTx/>
                  <a:latin typeface="Bebas Neue"/>
                  <a:ea typeface="Bebas Neue"/>
                  <a:cs typeface="Bebas Neue"/>
                  <a:sym typeface="Bebas Neue"/>
                </a:defRPr>
              </a:lvl5pPr>
              <a:lvl6pPr marL="2514600" lvl="5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2400"/>
                <a:buFont typeface="Bebas Neue"/>
                <a:buNone/>
                <a:defRPr sz="3200" kern="1200">
                  <a:solidFill>
                    <a:schemeClr val="tx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6pPr>
              <a:lvl7pPr marL="2971800" lvl="6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2400"/>
                <a:buFont typeface="Bebas Neue"/>
                <a:buNone/>
                <a:defRPr sz="3200" kern="1200">
                  <a:solidFill>
                    <a:schemeClr val="tx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7pPr>
              <a:lvl8pPr marL="3429000" lvl="7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2400"/>
                <a:buFont typeface="Bebas Neue"/>
                <a:buNone/>
                <a:defRPr sz="3200" kern="1200">
                  <a:solidFill>
                    <a:schemeClr val="tx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8pPr>
              <a:lvl9pPr marL="3886200" lvl="8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2400"/>
                <a:buFont typeface="Bebas Neue"/>
                <a:buNone/>
                <a:defRPr sz="3200" kern="1200">
                  <a:solidFill>
                    <a:schemeClr val="tx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400"/>
                <a:buFont typeface="Bebas Neue"/>
                <a:buNone/>
                <a:tabLst/>
                <a:defRPr/>
              </a:pPr>
              <a:r>
                <a:rPr kumimoji="0" lang="en-GB" sz="26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lt"/>
                  <a:cs typeface="Poppins"/>
                  <a:sym typeface="Poppins"/>
                </a:rPr>
                <a:t>Holistic integration</a:t>
              </a: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7062BD1-81FB-C0C6-0A98-9553C236779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29427" y="1025166"/>
              <a:ext cx="1079504" cy="1080000"/>
              <a:chOff x="3309086" y="1010438"/>
              <a:chExt cx="979600" cy="871600"/>
            </a:xfrm>
          </p:grpSpPr>
          <p:sp>
            <p:nvSpPr>
              <p:cNvPr id="116" name="Google Shape;424;p34">
                <a:extLst>
                  <a:ext uri="{FF2B5EF4-FFF2-40B4-BE49-F238E27FC236}">
                    <a16:creationId xmlns:a16="http://schemas.microsoft.com/office/drawing/2014/main" id="{6177C031-497C-1DD2-716E-BED3713D4E32}"/>
                  </a:ext>
                </a:extLst>
              </p:cNvPr>
              <p:cNvSpPr/>
              <p:nvPr/>
            </p:nvSpPr>
            <p:spPr>
              <a:xfrm>
                <a:off x="3363086" y="1010438"/>
                <a:ext cx="871600" cy="871600"/>
              </a:xfrm>
              <a:prstGeom prst="roundRect">
                <a:avLst>
                  <a:gd name="adj" fmla="val 16667"/>
                </a:avLst>
              </a:prstGeom>
              <a:solidFill>
                <a:srgbClr val="E7E6E6"/>
              </a:solidFill>
              <a:ln w="28575" cap="flat" cmpd="sng">
                <a:solidFill>
                  <a:srgbClr val="44546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8" name="Google Shape;426;p34">
                <a:extLst>
                  <a:ext uri="{FF2B5EF4-FFF2-40B4-BE49-F238E27FC236}">
                    <a16:creationId xmlns:a16="http://schemas.microsoft.com/office/drawing/2014/main" id="{8752AEA9-C387-0DC5-FF00-B6A1CAE863B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09086" y="1147838"/>
                <a:ext cx="979600" cy="596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vert="horz" wrap="square" lIns="121900" tIns="121900" rIns="121900" bIns="121900" anchor="ctr" anchorCtr="0" compatLnSpc="1">
                <a:noAutofit/>
              </a:bodyPr>
              <a:lstStyle>
                <a:lvl1pPr marL="0" marR="0" lvl="0" indent="0" algn="ctr" defTabSz="914400" rtl="0" fontAlgn="auto" hangingPunct="1">
                  <a:lnSpc>
                    <a:spcPts val="3200"/>
                  </a:lnSpc>
                  <a:spcBef>
                    <a:spcPts val="0"/>
                  </a:spcBef>
                  <a:spcAft>
                    <a:spcPts val="0"/>
                  </a:spcAft>
                  <a:buSzPts val="3000"/>
                  <a:buNone/>
                  <a:tabLst/>
                  <a:defRPr lang="fr-FR" sz="4000" b="1" i="0" u="none" strike="noStrike" kern="1200" cap="none" spc="0" baseline="0">
                    <a:solidFill>
                      <a:srgbClr val="242269"/>
                    </a:solidFill>
                    <a:uFillTx/>
                    <a:latin typeface="Century Gothic" pitchFamily="34"/>
                  </a:defRPr>
                </a:lvl1pPr>
                <a:lvl2pPr lvl="1" rtl="0">
                  <a:spcBef>
                    <a:spcPts val="0"/>
                  </a:spcBef>
                  <a:spcAft>
                    <a:spcPts val="0"/>
                  </a:spcAft>
                  <a:buSzPts val="3000"/>
                  <a:buNone/>
                  <a:defRPr sz="4000"/>
                </a:lvl2pPr>
                <a:lvl3pPr lvl="2" rtl="0">
                  <a:spcBef>
                    <a:spcPts val="0"/>
                  </a:spcBef>
                  <a:spcAft>
                    <a:spcPts val="0"/>
                  </a:spcAft>
                  <a:buSzPts val="3000"/>
                  <a:buNone/>
                  <a:defRPr sz="4000"/>
                </a:lvl3pPr>
                <a:lvl4pPr lvl="3" rtl="0">
                  <a:spcBef>
                    <a:spcPts val="0"/>
                  </a:spcBef>
                  <a:spcAft>
                    <a:spcPts val="0"/>
                  </a:spcAft>
                  <a:buSzPts val="3000"/>
                  <a:buNone/>
                  <a:defRPr sz="4000"/>
                </a:lvl4pPr>
                <a:lvl5pPr lvl="4" rtl="0">
                  <a:spcBef>
                    <a:spcPts val="0"/>
                  </a:spcBef>
                  <a:spcAft>
                    <a:spcPts val="0"/>
                  </a:spcAft>
                  <a:buSzPts val="3000"/>
                  <a:buNone/>
                  <a:defRPr sz="4000"/>
                </a:lvl5pPr>
                <a:lvl6pPr lvl="5" rtl="0">
                  <a:spcBef>
                    <a:spcPts val="0"/>
                  </a:spcBef>
                  <a:spcAft>
                    <a:spcPts val="0"/>
                  </a:spcAft>
                  <a:buSzPts val="3000"/>
                  <a:buNone/>
                  <a:defRPr sz="4000"/>
                </a:lvl6pPr>
                <a:lvl7pPr lvl="6" rtl="0">
                  <a:spcBef>
                    <a:spcPts val="0"/>
                  </a:spcBef>
                  <a:spcAft>
                    <a:spcPts val="0"/>
                  </a:spcAft>
                  <a:buSzPts val="3000"/>
                  <a:buNone/>
                  <a:defRPr sz="4000"/>
                </a:lvl7pPr>
                <a:lvl8pPr lvl="7" rtl="0">
                  <a:spcBef>
                    <a:spcPts val="0"/>
                  </a:spcBef>
                  <a:spcAft>
                    <a:spcPts val="0"/>
                  </a:spcAft>
                  <a:buSzPts val="3000"/>
                  <a:buNone/>
                  <a:defRPr sz="4000"/>
                </a:lvl8pPr>
                <a:lvl9pPr lvl="8" rtl="0">
                  <a:spcBef>
                    <a:spcPts val="0"/>
                  </a:spcBef>
                  <a:spcAft>
                    <a:spcPts val="0"/>
                  </a:spcAft>
                  <a:buSzPts val="3000"/>
                  <a:buNone/>
                  <a:defRPr sz="4000"/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32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ts val="3000"/>
                  <a:buFontTx/>
                  <a:buNone/>
                  <a:tabLst/>
                  <a:defRPr/>
                </a:pPr>
                <a:r>
                  <a:rPr kumimoji="0" lang="en-GB" sz="4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42269"/>
                    </a:solidFill>
                    <a:effectLst/>
                    <a:uLnTx/>
                    <a:uFillTx/>
                    <a:latin typeface="+mn-lt"/>
                  </a:rPr>
                  <a:t>01</a:t>
                </a:r>
              </a:p>
            </p:txBody>
          </p:sp>
        </p:grpSp>
      </p:grpSp>
      <p:sp>
        <p:nvSpPr>
          <p:cNvPr id="5" name="Ellipse 4">
            <a:extLst>
              <a:ext uri="{FF2B5EF4-FFF2-40B4-BE49-F238E27FC236}">
                <a16:creationId xmlns:a16="http://schemas.microsoft.com/office/drawing/2014/main" id="{D976C5DE-5FED-241F-A850-E600464DA998}"/>
              </a:ext>
            </a:extLst>
          </p:cNvPr>
          <p:cNvSpPr/>
          <p:nvPr/>
        </p:nvSpPr>
        <p:spPr>
          <a:xfrm>
            <a:off x="1582848" y="707435"/>
            <a:ext cx="8918919" cy="1663677"/>
          </a:xfrm>
          <a:prstGeom prst="ellipse">
            <a:avLst/>
          </a:prstGeom>
          <a:solidFill>
            <a:srgbClr val="FF0000">
              <a:alpha val="30000"/>
            </a:srgbClr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8938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16CD92-4569-7B8B-8A0E-87159C0D904C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13769816-012C-4027-9C2F-1A4D7A5F1BD8}" type="slidenum">
              <a:rPr lang="en-GB" smtClean="0"/>
              <a:t>3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C5331FF-02A9-49DB-D1C1-7537A1222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5" y="174375"/>
            <a:ext cx="10333040" cy="778666"/>
          </a:xfrm>
        </p:spPr>
        <p:txBody>
          <a:bodyPr/>
          <a:lstStyle/>
          <a:p>
            <a:r>
              <a:rPr lang="en-GB" dirty="0"/>
              <a:t>General ideas and exploration tracks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EEF047-DBBB-CD11-E775-D5C1BBD8A92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1AA67F0-E549-4DAB-8C86-9F189557FA68}" type="datetime1">
              <a:rPr lang="en-GB" smtClean="0"/>
              <a:pPr/>
              <a:t>17/11/2025</a:t>
            </a:fld>
            <a:endParaRPr lang="en-GB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BF4E912-0DEA-CC0A-94D2-7A750C64BAE7}"/>
              </a:ext>
            </a:extLst>
          </p:cNvPr>
          <p:cNvGrpSpPr/>
          <p:nvPr/>
        </p:nvGrpSpPr>
        <p:grpSpPr>
          <a:xfrm>
            <a:off x="349248" y="873893"/>
            <a:ext cx="2489454" cy="1516658"/>
            <a:chOff x="952760" y="3036178"/>
            <a:chExt cx="3319272" cy="1416285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2D24CADF-1AE8-B195-4C28-35D7E0B1FD3F}"/>
                </a:ext>
              </a:extLst>
            </p:cNvPr>
            <p:cNvSpPr/>
            <p:nvPr/>
          </p:nvSpPr>
          <p:spPr>
            <a:xfrm>
              <a:off x="952760" y="3201263"/>
              <a:ext cx="3319272" cy="1251200"/>
            </a:xfrm>
            <a:prstGeom prst="roundRect">
              <a:avLst>
                <a:gd name="adj" fmla="val 15145"/>
              </a:avLst>
            </a:prstGeom>
            <a:solidFill>
              <a:schemeClr val="bg1"/>
            </a:solidFill>
            <a:ln w="28575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137160" rtlCol="0" anchor="b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 i="1" noProof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cs typeface="Times New Roman" panose="02020603050405020304" pitchFamily="18" charset="0"/>
                </a:rPr>
                <a:t>MixOmics</a:t>
              </a:r>
              <a:r>
                <a:rPr lang="en-US" sz="1050" noProof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cs typeface="Times New Roman" panose="02020603050405020304" pitchFamily="18" charset="0"/>
                </a:rPr>
                <a:t>: (multi-block) sparse PLS-DA.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 noProof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cs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5DC643C-DE8F-ADAD-5BB7-FD56921BBAF1}"/>
                </a:ext>
              </a:extLst>
            </p:cNvPr>
            <p:cNvSpPr/>
            <p:nvPr/>
          </p:nvSpPr>
          <p:spPr>
            <a:xfrm>
              <a:off x="1149356" y="3036178"/>
              <a:ext cx="2926080" cy="331361"/>
            </a:xfrm>
            <a:custGeom>
              <a:avLst/>
              <a:gdLst>
                <a:gd name="connsiteX0" fmla="*/ 351094 w 3046538"/>
                <a:gd name="connsiteY0" fmla="*/ 0 h 331361"/>
                <a:gd name="connsiteX1" fmla="*/ 2683799 w 3046538"/>
                <a:gd name="connsiteY1" fmla="*/ 0 h 331361"/>
                <a:gd name="connsiteX2" fmla="*/ 2743299 w 3046538"/>
                <a:gd name="connsiteY2" fmla="*/ 12013 h 331361"/>
                <a:gd name="connsiteX3" fmla="*/ 2743789 w 3046538"/>
                <a:gd name="connsiteY3" fmla="*/ 12343 h 331361"/>
                <a:gd name="connsiteX4" fmla="*/ 2747886 w 3046538"/>
                <a:gd name="connsiteY4" fmla="*/ 13140 h 331361"/>
                <a:gd name="connsiteX5" fmla="*/ 2802334 w 3046538"/>
                <a:gd name="connsiteY5" fmla="*/ 49296 h 331361"/>
                <a:gd name="connsiteX6" fmla="*/ 3046538 w 3046538"/>
                <a:gd name="connsiteY6" fmla="*/ 165680 h 331361"/>
                <a:gd name="connsiteX7" fmla="*/ 2802334 w 3046538"/>
                <a:gd name="connsiteY7" fmla="*/ 282064 h 331361"/>
                <a:gd name="connsiteX8" fmla="*/ 2747886 w 3046538"/>
                <a:gd name="connsiteY8" fmla="*/ 318220 h 331361"/>
                <a:gd name="connsiteX9" fmla="*/ 2743791 w 3046538"/>
                <a:gd name="connsiteY9" fmla="*/ 319017 h 331361"/>
                <a:gd name="connsiteX10" fmla="*/ 2743299 w 3046538"/>
                <a:gd name="connsiteY10" fmla="*/ 319349 h 331361"/>
                <a:gd name="connsiteX11" fmla="*/ 2683799 w 3046538"/>
                <a:gd name="connsiteY11" fmla="*/ 331361 h 331361"/>
                <a:gd name="connsiteX12" fmla="*/ 351094 w 3046538"/>
                <a:gd name="connsiteY12" fmla="*/ 331361 h 331361"/>
                <a:gd name="connsiteX13" fmla="*/ 243006 w 3046538"/>
                <a:gd name="connsiteY13" fmla="*/ 286589 h 331361"/>
                <a:gd name="connsiteX14" fmla="*/ 193128 w 3046538"/>
                <a:gd name="connsiteY14" fmla="*/ 241208 h 331361"/>
                <a:gd name="connsiteX15" fmla="*/ 0 w 3046538"/>
                <a:gd name="connsiteY15" fmla="*/ 165680 h 331361"/>
                <a:gd name="connsiteX16" fmla="*/ 193128 w 3046538"/>
                <a:gd name="connsiteY16" fmla="*/ 90152 h 331361"/>
                <a:gd name="connsiteX17" fmla="*/ 237522 w 3046538"/>
                <a:gd name="connsiteY17" fmla="*/ 52906 h 331361"/>
                <a:gd name="connsiteX18" fmla="*/ 243006 w 3046538"/>
                <a:gd name="connsiteY18" fmla="*/ 44772 h 331361"/>
                <a:gd name="connsiteX19" fmla="*/ 351094 w 3046538"/>
                <a:gd name="connsiteY19" fmla="*/ 0 h 331361"/>
                <a:gd name="connsiteX0" fmla="*/ 351094 w 3046538"/>
                <a:gd name="connsiteY0" fmla="*/ 0 h 331361"/>
                <a:gd name="connsiteX1" fmla="*/ 2683799 w 3046538"/>
                <a:gd name="connsiteY1" fmla="*/ 0 h 331361"/>
                <a:gd name="connsiteX2" fmla="*/ 2743299 w 3046538"/>
                <a:gd name="connsiteY2" fmla="*/ 12013 h 331361"/>
                <a:gd name="connsiteX3" fmla="*/ 2743789 w 3046538"/>
                <a:gd name="connsiteY3" fmla="*/ 12343 h 331361"/>
                <a:gd name="connsiteX4" fmla="*/ 2747886 w 3046538"/>
                <a:gd name="connsiteY4" fmla="*/ 13140 h 331361"/>
                <a:gd name="connsiteX5" fmla="*/ 2802334 w 3046538"/>
                <a:gd name="connsiteY5" fmla="*/ 49296 h 331361"/>
                <a:gd name="connsiteX6" fmla="*/ 3046538 w 3046538"/>
                <a:gd name="connsiteY6" fmla="*/ 165680 h 331361"/>
                <a:gd name="connsiteX7" fmla="*/ 2802334 w 3046538"/>
                <a:gd name="connsiteY7" fmla="*/ 282064 h 331361"/>
                <a:gd name="connsiteX8" fmla="*/ 2747886 w 3046538"/>
                <a:gd name="connsiteY8" fmla="*/ 318220 h 331361"/>
                <a:gd name="connsiteX9" fmla="*/ 2743791 w 3046538"/>
                <a:gd name="connsiteY9" fmla="*/ 319017 h 331361"/>
                <a:gd name="connsiteX10" fmla="*/ 2743299 w 3046538"/>
                <a:gd name="connsiteY10" fmla="*/ 319349 h 331361"/>
                <a:gd name="connsiteX11" fmla="*/ 2683799 w 3046538"/>
                <a:gd name="connsiteY11" fmla="*/ 331361 h 331361"/>
                <a:gd name="connsiteX12" fmla="*/ 351094 w 3046538"/>
                <a:gd name="connsiteY12" fmla="*/ 331361 h 331361"/>
                <a:gd name="connsiteX13" fmla="*/ 243006 w 3046538"/>
                <a:gd name="connsiteY13" fmla="*/ 286589 h 331361"/>
                <a:gd name="connsiteX14" fmla="*/ 193128 w 3046538"/>
                <a:gd name="connsiteY14" fmla="*/ 241208 h 331361"/>
                <a:gd name="connsiteX15" fmla="*/ 0 w 3046538"/>
                <a:gd name="connsiteY15" fmla="*/ 165680 h 331361"/>
                <a:gd name="connsiteX16" fmla="*/ 193128 w 3046538"/>
                <a:gd name="connsiteY16" fmla="*/ 90152 h 331361"/>
                <a:gd name="connsiteX17" fmla="*/ 243006 w 3046538"/>
                <a:gd name="connsiteY17" fmla="*/ 44772 h 331361"/>
                <a:gd name="connsiteX18" fmla="*/ 351094 w 3046538"/>
                <a:gd name="connsiteY18" fmla="*/ 0 h 331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46538" h="331361">
                  <a:moveTo>
                    <a:pt x="351094" y="0"/>
                  </a:moveTo>
                  <a:lnTo>
                    <a:pt x="2683799" y="0"/>
                  </a:lnTo>
                  <a:cubicBezTo>
                    <a:pt x="2704905" y="0"/>
                    <a:pt x="2725011" y="4278"/>
                    <a:pt x="2743299" y="12013"/>
                  </a:cubicBezTo>
                  <a:lnTo>
                    <a:pt x="2743789" y="12343"/>
                  </a:lnTo>
                  <a:lnTo>
                    <a:pt x="2747886" y="13140"/>
                  </a:lnTo>
                  <a:cubicBezTo>
                    <a:pt x="2767699" y="21175"/>
                    <a:pt x="2786265" y="33227"/>
                    <a:pt x="2802334" y="49296"/>
                  </a:cubicBezTo>
                  <a:cubicBezTo>
                    <a:pt x="2862432" y="109394"/>
                    <a:pt x="2943833" y="148189"/>
                    <a:pt x="3046538" y="165680"/>
                  </a:cubicBezTo>
                  <a:cubicBezTo>
                    <a:pt x="2943833" y="183171"/>
                    <a:pt x="2862432" y="221967"/>
                    <a:pt x="2802334" y="282064"/>
                  </a:cubicBezTo>
                  <a:cubicBezTo>
                    <a:pt x="2786265" y="298133"/>
                    <a:pt x="2767699" y="310186"/>
                    <a:pt x="2747886" y="318220"/>
                  </a:cubicBezTo>
                  <a:lnTo>
                    <a:pt x="2743791" y="319017"/>
                  </a:lnTo>
                  <a:lnTo>
                    <a:pt x="2743299" y="319349"/>
                  </a:lnTo>
                  <a:cubicBezTo>
                    <a:pt x="2725011" y="327084"/>
                    <a:pt x="2704905" y="331361"/>
                    <a:pt x="2683799" y="331361"/>
                  </a:cubicBezTo>
                  <a:lnTo>
                    <a:pt x="351094" y="331361"/>
                  </a:lnTo>
                  <a:cubicBezTo>
                    <a:pt x="308883" y="331361"/>
                    <a:pt x="270668" y="314252"/>
                    <a:pt x="243006" y="286589"/>
                  </a:cubicBezTo>
                  <a:lnTo>
                    <a:pt x="193128" y="241208"/>
                  </a:lnTo>
                  <a:cubicBezTo>
                    <a:pt x="140512" y="204273"/>
                    <a:pt x="76137" y="179097"/>
                    <a:pt x="0" y="165680"/>
                  </a:cubicBezTo>
                  <a:cubicBezTo>
                    <a:pt x="76137" y="152264"/>
                    <a:pt x="140512" y="127088"/>
                    <a:pt x="193128" y="90152"/>
                  </a:cubicBezTo>
                  <a:lnTo>
                    <a:pt x="243006" y="44772"/>
                  </a:lnTo>
                  <a:cubicBezTo>
                    <a:pt x="270668" y="17110"/>
                    <a:pt x="308883" y="0"/>
                    <a:pt x="351094" y="0"/>
                  </a:cubicBezTo>
                  <a:close/>
                </a:path>
              </a:pathLst>
            </a:cu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sz="135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entury Gothic" panose="020B0502020202020204" pitchFamily="34" charset="0"/>
                  <a:cs typeface="Times New Roman" panose="02020603050405020304" pitchFamily="18" charset="0"/>
                </a:rPr>
                <a:t>Feature selection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844AEFC-F44B-2990-F98D-EE85F56CBD5E}"/>
              </a:ext>
            </a:extLst>
          </p:cNvPr>
          <p:cNvGrpSpPr/>
          <p:nvPr/>
        </p:nvGrpSpPr>
        <p:grpSpPr>
          <a:xfrm>
            <a:off x="4451462" y="913467"/>
            <a:ext cx="2633294" cy="2700959"/>
            <a:chOff x="760973" y="3036178"/>
            <a:chExt cx="3511059" cy="2522209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3BA85873-A014-3DFC-F613-4DA4225136E1}"/>
                </a:ext>
              </a:extLst>
            </p:cNvPr>
            <p:cNvSpPr/>
            <p:nvPr/>
          </p:nvSpPr>
          <p:spPr>
            <a:xfrm>
              <a:off x="760973" y="3201264"/>
              <a:ext cx="3511059" cy="2357123"/>
            </a:xfrm>
            <a:prstGeom prst="roundRect">
              <a:avLst>
                <a:gd name="adj" fmla="val 15145"/>
              </a:avLst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137160" rtlCol="0" anchor="b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 noProof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cs typeface="Times New Roman" panose="02020603050405020304" pitchFamily="18" charset="0"/>
                </a:rPr>
                <a:t>PLIER</a:t>
              </a:r>
              <a:r>
                <a:rPr lang="en-US" sz="1050" i="1" noProof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cs typeface="Times New Roman" panose="02020603050405020304" pitchFamily="18" charset="0"/>
                </a:rPr>
                <a:t> (Pathway-level information extractor) algorithm</a:t>
              </a:r>
              <a:endParaRPr lang="en-US" sz="1050" noProof="1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Times New Roman" panose="02020603050405020304" pitchFamily="18" charset="0"/>
              </a:endParaRPr>
            </a:p>
            <a:p>
              <a:pPr marL="628650" lvl="1" indent="-171450">
                <a:buFont typeface="Courier New" panose="02070309020205020404" pitchFamily="49" charset="0"/>
                <a:buChar char="o"/>
              </a:pPr>
              <a:r>
                <a:rPr lang="en-US" sz="1050" noProof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cs typeface="Times New Roman" panose="02020603050405020304" pitchFamily="18" charset="0"/>
                </a:rPr>
                <a:t>Add weighted pathway inclusion instead of binary</a:t>
              </a:r>
            </a:p>
            <a:p>
              <a:pPr marL="628650" lvl="1" indent="-171450">
                <a:buFont typeface="Courier New" panose="02070309020205020404" pitchFamily="49" charset="0"/>
                <a:buChar char="o"/>
              </a:pPr>
              <a:r>
                <a:rPr lang="en-US" sz="1050" noProof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cs typeface="Times New Roman" panose="02020603050405020304" pitchFamily="18" charset="0"/>
                </a:rPr>
                <a:t>Data-driven inclusion with CORNETTO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 noProof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cs typeface="Times New Roman" panose="02020603050405020304" pitchFamily="18" charset="0"/>
                </a:rPr>
                <a:t>Regression on latent structures, assuming or not that we know the latent structures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 i="1" noProof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cs typeface="Times New Roman" panose="02020603050405020304" pitchFamily="18" charset="0"/>
                </a:rPr>
                <a:t>GLS</a:t>
              </a:r>
              <a:r>
                <a:rPr lang="en-US" sz="1050" noProof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cs typeface="Times New Roman" panose="02020603050405020304" pitchFamily="18" charset="0"/>
                </a:rPr>
                <a:t> (generalized least squares) regression # general linear models (GLM)</a:t>
              </a: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D41DD77-04AC-16EC-2792-26E1030FACB6}"/>
                </a:ext>
              </a:extLst>
            </p:cNvPr>
            <p:cNvSpPr/>
            <p:nvPr/>
          </p:nvSpPr>
          <p:spPr>
            <a:xfrm>
              <a:off x="1149356" y="3036178"/>
              <a:ext cx="2926080" cy="331361"/>
            </a:xfrm>
            <a:custGeom>
              <a:avLst/>
              <a:gdLst>
                <a:gd name="connsiteX0" fmla="*/ 351094 w 3046538"/>
                <a:gd name="connsiteY0" fmla="*/ 0 h 331361"/>
                <a:gd name="connsiteX1" fmla="*/ 2683799 w 3046538"/>
                <a:gd name="connsiteY1" fmla="*/ 0 h 331361"/>
                <a:gd name="connsiteX2" fmla="*/ 2743299 w 3046538"/>
                <a:gd name="connsiteY2" fmla="*/ 12013 h 331361"/>
                <a:gd name="connsiteX3" fmla="*/ 2743789 w 3046538"/>
                <a:gd name="connsiteY3" fmla="*/ 12343 h 331361"/>
                <a:gd name="connsiteX4" fmla="*/ 2747886 w 3046538"/>
                <a:gd name="connsiteY4" fmla="*/ 13140 h 331361"/>
                <a:gd name="connsiteX5" fmla="*/ 2802334 w 3046538"/>
                <a:gd name="connsiteY5" fmla="*/ 49296 h 331361"/>
                <a:gd name="connsiteX6" fmla="*/ 3046538 w 3046538"/>
                <a:gd name="connsiteY6" fmla="*/ 165680 h 331361"/>
                <a:gd name="connsiteX7" fmla="*/ 2802334 w 3046538"/>
                <a:gd name="connsiteY7" fmla="*/ 282064 h 331361"/>
                <a:gd name="connsiteX8" fmla="*/ 2747886 w 3046538"/>
                <a:gd name="connsiteY8" fmla="*/ 318220 h 331361"/>
                <a:gd name="connsiteX9" fmla="*/ 2743791 w 3046538"/>
                <a:gd name="connsiteY9" fmla="*/ 319017 h 331361"/>
                <a:gd name="connsiteX10" fmla="*/ 2743299 w 3046538"/>
                <a:gd name="connsiteY10" fmla="*/ 319349 h 331361"/>
                <a:gd name="connsiteX11" fmla="*/ 2683799 w 3046538"/>
                <a:gd name="connsiteY11" fmla="*/ 331361 h 331361"/>
                <a:gd name="connsiteX12" fmla="*/ 351094 w 3046538"/>
                <a:gd name="connsiteY12" fmla="*/ 331361 h 331361"/>
                <a:gd name="connsiteX13" fmla="*/ 243006 w 3046538"/>
                <a:gd name="connsiteY13" fmla="*/ 286589 h 331361"/>
                <a:gd name="connsiteX14" fmla="*/ 193128 w 3046538"/>
                <a:gd name="connsiteY14" fmla="*/ 241208 h 331361"/>
                <a:gd name="connsiteX15" fmla="*/ 0 w 3046538"/>
                <a:gd name="connsiteY15" fmla="*/ 165680 h 331361"/>
                <a:gd name="connsiteX16" fmla="*/ 193128 w 3046538"/>
                <a:gd name="connsiteY16" fmla="*/ 90152 h 331361"/>
                <a:gd name="connsiteX17" fmla="*/ 237522 w 3046538"/>
                <a:gd name="connsiteY17" fmla="*/ 52906 h 331361"/>
                <a:gd name="connsiteX18" fmla="*/ 243006 w 3046538"/>
                <a:gd name="connsiteY18" fmla="*/ 44772 h 331361"/>
                <a:gd name="connsiteX19" fmla="*/ 351094 w 3046538"/>
                <a:gd name="connsiteY19" fmla="*/ 0 h 331361"/>
                <a:gd name="connsiteX0" fmla="*/ 351094 w 3046538"/>
                <a:gd name="connsiteY0" fmla="*/ 0 h 331361"/>
                <a:gd name="connsiteX1" fmla="*/ 2683799 w 3046538"/>
                <a:gd name="connsiteY1" fmla="*/ 0 h 331361"/>
                <a:gd name="connsiteX2" fmla="*/ 2743299 w 3046538"/>
                <a:gd name="connsiteY2" fmla="*/ 12013 h 331361"/>
                <a:gd name="connsiteX3" fmla="*/ 2743789 w 3046538"/>
                <a:gd name="connsiteY3" fmla="*/ 12343 h 331361"/>
                <a:gd name="connsiteX4" fmla="*/ 2747886 w 3046538"/>
                <a:gd name="connsiteY4" fmla="*/ 13140 h 331361"/>
                <a:gd name="connsiteX5" fmla="*/ 2802334 w 3046538"/>
                <a:gd name="connsiteY5" fmla="*/ 49296 h 331361"/>
                <a:gd name="connsiteX6" fmla="*/ 3046538 w 3046538"/>
                <a:gd name="connsiteY6" fmla="*/ 165680 h 331361"/>
                <a:gd name="connsiteX7" fmla="*/ 2802334 w 3046538"/>
                <a:gd name="connsiteY7" fmla="*/ 282064 h 331361"/>
                <a:gd name="connsiteX8" fmla="*/ 2747886 w 3046538"/>
                <a:gd name="connsiteY8" fmla="*/ 318220 h 331361"/>
                <a:gd name="connsiteX9" fmla="*/ 2743791 w 3046538"/>
                <a:gd name="connsiteY9" fmla="*/ 319017 h 331361"/>
                <a:gd name="connsiteX10" fmla="*/ 2743299 w 3046538"/>
                <a:gd name="connsiteY10" fmla="*/ 319349 h 331361"/>
                <a:gd name="connsiteX11" fmla="*/ 2683799 w 3046538"/>
                <a:gd name="connsiteY11" fmla="*/ 331361 h 331361"/>
                <a:gd name="connsiteX12" fmla="*/ 351094 w 3046538"/>
                <a:gd name="connsiteY12" fmla="*/ 331361 h 331361"/>
                <a:gd name="connsiteX13" fmla="*/ 243006 w 3046538"/>
                <a:gd name="connsiteY13" fmla="*/ 286589 h 331361"/>
                <a:gd name="connsiteX14" fmla="*/ 193128 w 3046538"/>
                <a:gd name="connsiteY14" fmla="*/ 241208 h 331361"/>
                <a:gd name="connsiteX15" fmla="*/ 0 w 3046538"/>
                <a:gd name="connsiteY15" fmla="*/ 165680 h 331361"/>
                <a:gd name="connsiteX16" fmla="*/ 193128 w 3046538"/>
                <a:gd name="connsiteY16" fmla="*/ 90152 h 331361"/>
                <a:gd name="connsiteX17" fmla="*/ 243006 w 3046538"/>
                <a:gd name="connsiteY17" fmla="*/ 44772 h 331361"/>
                <a:gd name="connsiteX18" fmla="*/ 351094 w 3046538"/>
                <a:gd name="connsiteY18" fmla="*/ 0 h 331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46538" h="331361">
                  <a:moveTo>
                    <a:pt x="351094" y="0"/>
                  </a:moveTo>
                  <a:lnTo>
                    <a:pt x="2683799" y="0"/>
                  </a:lnTo>
                  <a:cubicBezTo>
                    <a:pt x="2704905" y="0"/>
                    <a:pt x="2725011" y="4278"/>
                    <a:pt x="2743299" y="12013"/>
                  </a:cubicBezTo>
                  <a:lnTo>
                    <a:pt x="2743789" y="12343"/>
                  </a:lnTo>
                  <a:lnTo>
                    <a:pt x="2747886" y="13140"/>
                  </a:lnTo>
                  <a:cubicBezTo>
                    <a:pt x="2767699" y="21175"/>
                    <a:pt x="2786265" y="33227"/>
                    <a:pt x="2802334" y="49296"/>
                  </a:cubicBezTo>
                  <a:cubicBezTo>
                    <a:pt x="2862432" y="109394"/>
                    <a:pt x="2943833" y="148189"/>
                    <a:pt x="3046538" y="165680"/>
                  </a:cubicBezTo>
                  <a:cubicBezTo>
                    <a:pt x="2943833" y="183171"/>
                    <a:pt x="2862432" y="221967"/>
                    <a:pt x="2802334" y="282064"/>
                  </a:cubicBezTo>
                  <a:cubicBezTo>
                    <a:pt x="2786265" y="298133"/>
                    <a:pt x="2767699" y="310186"/>
                    <a:pt x="2747886" y="318220"/>
                  </a:cubicBezTo>
                  <a:lnTo>
                    <a:pt x="2743791" y="319017"/>
                  </a:lnTo>
                  <a:lnTo>
                    <a:pt x="2743299" y="319349"/>
                  </a:lnTo>
                  <a:cubicBezTo>
                    <a:pt x="2725011" y="327084"/>
                    <a:pt x="2704905" y="331361"/>
                    <a:pt x="2683799" y="331361"/>
                  </a:cubicBezTo>
                  <a:lnTo>
                    <a:pt x="351094" y="331361"/>
                  </a:lnTo>
                  <a:cubicBezTo>
                    <a:pt x="308883" y="331361"/>
                    <a:pt x="270668" y="314252"/>
                    <a:pt x="243006" y="286589"/>
                  </a:cubicBezTo>
                  <a:lnTo>
                    <a:pt x="193128" y="241208"/>
                  </a:lnTo>
                  <a:cubicBezTo>
                    <a:pt x="140512" y="204273"/>
                    <a:pt x="76137" y="179097"/>
                    <a:pt x="0" y="165680"/>
                  </a:cubicBezTo>
                  <a:cubicBezTo>
                    <a:pt x="76137" y="152264"/>
                    <a:pt x="140512" y="127088"/>
                    <a:pt x="193128" y="90152"/>
                  </a:cubicBezTo>
                  <a:lnTo>
                    <a:pt x="243006" y="44772"/>
                  </a:lnTo>
                  <a:cubicBezTo>
                    <a:pt x="270668" y="17110"/>
                    <a:pt x="308883" y="0"/>
                    <a:pt x="351094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sz="135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entury Gothic" panose="020B0502020202020204" pitchFamily="34" charset="0"/>
                  <a:cs typeface="Times New Roman" panose="02020603050405020304" pitchFamily="18" charset="0"/>
                </a:rPr>
                <a:t>Pathway integration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445BB6A-3444-B676-8BC2-4BE2AD2B013F}"/>
              </a:ext>
            </a:extLst>
          </p:cNvPr>
          <p:cNvGrpSpPr/>
          <p:nvPr/>
        </p:nvGrpSpPr>
        <p:grpSpPr>
          <a:xfrm>
            <a:off x="8450821" y="406065"/>
            <a:ext cx="2633294" cy="1883911"/>
            <a:chOff x="760973" y="3036178"/>
            <a:chExt cx="3511059" cy="2464872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5A368431-A3A6-8109-2A1F-ADDE3C21A77E}"/>
                </a:ext>
              </a:extLst>
            </p:cNvPr>
            <p:cNvSpPr/>
            <p:nvPr/>
          </p:nvSpPr>
          <p:spPr>
            <a:xfrm>
              <a:off x="760973" y="3201263"/>
              <a:ext cx="3511059" cy="2299787"/>
            </a:xfrm>
            <a:prstGeom prst="roundRect">
              <a:avLst>
                <a:gd name="adj" fmla="val 15145"/>
              </a:avLst>
            </a:prstGeom>
            <a:solidFill>
              <a:schemeClr val="bg1"/>
            </a:solidFill>
            <a:ln w="28575">
              <a:solidFill>
                <a:srgbClr val="ED7D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137160" rtlCol="0" anchor="b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 noProof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cs typeface="Times New Roman" panose="02020603050405020304" pitchFamily="18" charset="0"/>
                </a:rPr>
                <a:t>MOWGLI and scConfluence</a:t>
              </a:r>
            </a:p>
            <a:p>
              <a:pPr marL="628650" lvl="1" indent="-171450">
                <a:buFont typeface="Arial" panose="020B0604020202020204" pitchFamily="34" charset="0"/>
                <a:buChar char="•"/>
              </a:pPr>
              <a:r>
                <a:rPr lang="en-US" sz="1050" noProof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cs typeface="Times New Roman" panose="02020603050405020304" pitchFamily="18" charset="0"/>
                </a:rPr>
                <a:t>MOWGLI for </a:t>
              </a:r>
              <a:r>
                <a:rPr lang="en-US" sz="1050" b="1" noProof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cs typeface="Times New Roman" panose="02020603050405020304" pitchFamily="18" charset="0"/>
                </a:rPr>
                <a:t>paired </a:t>
              </a:r>
              <a:r>
                <a:rPr lang="en-US" sz="1050" noProof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cs typeface="Times New Roman" panose="02020603050405020304" pitchFamily="18" charset="0"/>
                </a:rPr>
                <a:t>omics</a:t>
              </a:r>
            </a:p>
            <a:p>
              <a:pPr marL="628650" lvl="1" indent="-171450">
                <a:buFont typeface="Arial" panose="020B0604020202020204" pitchFamily="34" charset="0"/>
                <a:buChar char="•"/>
              </a:pPr>
              <a:r>
                <a:rPr lang="en-US" sz="1050" noProof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cs typeface="Times New Roman" panose="02020603050405020304" pitchFamily="18" charset="0"/>
                </a:rPr>
                <a:t>scConfluence for </a:t>
              </a:r>
              <a:r>
                <a:rPr lang="en-US" sz="1050" b="1" noProof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cs typeface="Times New Roman" panose="02020603050405020304" pitchFamily="18" charset="0"/>
                </a:rPr>
                <a:t>unpaired </a:t>
              </a:r>
              <a:r>
                <a:rPr lang="en-US" sz="1050" noProof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cs typeface="Times New Roman" panose="02020603050405020304" pitchFamily="18" charset="0"/>
                </a:rPr>
                <a:t>omics.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 noProof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cs typeface="Times New Roman" panose="02020603050405020304" pitchFamily="18" charset="0"/>
                </a:rPr>
                <a:t>MOFA (~probabilistic PCA, multi-omic generalization to EMFA)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 noProof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  <a:cs typeface="Times New Roman" panose="02020603050405020304" pitchFamily="18" charset="0"/>
                </a:rPr>
                <a:t>NMF (iterated gradient descent and matrix factorization)</a:t>
              </a: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77FE84-7D4C-CFC6-225E-A48C74BAD6C8}"/>
                </a:ext>
              </a:extLst>
            </p:cNvPr>
            <p:cNvSpPr/>
            <p:nvPr/>
          </p:nvSpPr>
          <p:spPr>
            <a:xfrm>
              <a:off x="1149356" y="3036178"/>
              <a:ext cx="2926080" cy="331361"/>
            </a:xfrm>
            <a:custGeom>
              <a:avLst/>
              <a:gdLst>
                <a:gd name="connsiteX0" fmla="*/ 351094 w 3046538"/>
                <a:gd name="connsiteY0" fmla="*/ 0 h 331361"/>
                <a:gd name="connsiteX1" fmla="*/ 2683799 w 3046538"/>
                <a:gd name="connsiteY1" fmla="*/ 0 h 331361"/>
                <a:gd name="connsiteX2" fmla="*/ 2743299 w 3046538"/>
                <a:gd name="connsiteY2" fmla="*/ 12013 h 331361"/>
                <a:gd name="connsiteX3" fmla="*/ 2743789 w 3046538"/>
                <a:gd name="connsiteY3" fmla="*/ 12343 h 331361"/>
                <a:gd name="connsiteX4" fmla="*/ 2747886 w 3046538"/>
                <a:gd name="connsiteY4" fmla="*/ 13140 h 331361"/>
                <a:gd name="connsiteX5" fmla="*/ 2802334 w 3046538"/>
                <a:gd name="connsiteY5" fmla="*/ 49296 h 331361"/>
                <a:gd name="connsiteX6" fmla="*/ 3046538 w 3046538"/>
                <a:gd name="connsiteY6" fmla="*/ 165680 h 331361"/>
                <a:gd name="connsiteX7" fmla="*/ 2802334 w 3046538"/>
                <a:gd name="connsiteY7" fmla="*/ 282064 h 331361"/>
                <a:gd name="connsiteX8" fmla="*/ 2747886 w 3046538"/>
                <a:gd name="connsiteY8" fmla="*/ 318220 h 331361"/>
                <a:gd name="connsiteX9" fmla="*/ 2743791 w 3046538"/>
                <a:gd name="connsiteY9" fmla="*/ 319017 h 331361"/>
                <a:gd name="connsiteX10" fmla="*/ 2743299 w 3046538"/>
                <a:gd name="connsiteY10" fmla="*/ 319349 h 331361"/>
                <a:gd name="connsiteX11" fmla="*/ 2683799 w 3046538"/>
                <a:gd name="connsiteY11" fmla="*/ 331361 h 331361"/>
                <a:gd name="connsiteX12" fmla="*/ 351094 w 3046538"/>
                <a:gd name="connsiteY12" fmla="*/ 331361 h 331361"/>
                <a:gd name="connsiteX13" fmla="*/ 243006 w 3046538"/>
                <a:gd name="connsiteY13" fmla="*/ 286589 h 331361"/>
                <a:gd name="connsiteX14" fmla="*/ 193128 w 3046538"/>
                <a:gd name="connsiteY14" fmla="*/ 241208 h 331361"/>
                <a:gd name="connsiteX15" fmla="*/ 0 w 3046538"/>
                <a:gd name="connsiteY15" fmla="*/ 165680 h 331361"/>
                <a:gd name="connsiteX16" fmla="*/ 193128 w 3046538"/>
                <a:gd name="connsiteY16" fmla="*/ 90152 h 331361"/>
                <a:gd name="connsiteX17" fmla="*/ 237522 w 3046538"/>
                <a:gd name="connsiteY17" fmla="*/ 52906 h 331361"/>
                <a:gd name="connsiteX18" fmla="*/ 243006 w 3046538"/>
                <a:gd name="connsiteY18" fmla="*/ 44772 h 331361"/>
                <a:gd name="connsiteX19" fmla="*/ 351094 w 3046538"/>
                <a:gd name="connsiteY19" fmla="*/ 0 h 331361"/>
                <a:gd name="connsiteX0" fmla="*/ 351094 w 3046538"/>
                <a:gd name="connsiteY0" fmla="*/ 0 h 331361"/>
                <a:gd name="connsiteX1" fmla="*/ 2683799 w 3046538"/>
                <a:gd name="connsiteY1" fmla="*/ 0 h 331361"/>
                <a:gd name="connsiteX2" fmla="*/ 2743299 w 3046538"/>
                <a:gd name="connsiteY2" fmla="*/ 12013 h 331361"/>
                <a:gd name="connsiteX3" fmla="*/ 2743789 w 3046538"/>
                <a:gd name="connsiteY3" fmla="*/ 12343 h 331361"/>
                <a:gd name="connsiteX4" fmla="*/ 2747886 w 3046538"/>
                <a:gd name="connsiteY4" fmla="*/ 13140 h 331361"/>
                <a:gd name="connsiteX5" fmla="*/ 2802334 w 3046538"/>
                <a:gd name="connsiteY5" fmla="*/ 49296 h 331361"/>
                <a:gd name="connsiteX6" fmla="*/ 3046538 w 3046538"/>
                <a:gd name="connsiteY6" fmla="*/ 165680 h 331361"/>
                <a:gd name="connsiteX7" fmla="*/ 2802334 w 3046538"/>
                <a:gd name="connsiteY7" fmla="*/ 282064 h 331361"/>
                <a:gd name="connsiteX8" fmla="*/ 2747886 w 3046538"/>
                <a:gd name="connsiteY8" fmla="*/ 318220 h 331361"/>
                <a:gd name="connsiteX9" fmla="*/ 2743791 w 3046538"/>
                <a:gd name="connsiteY9" fmla="*/ 319017 h 331361"/>
                <a:gd name="connsiteX10" fmla="*/ 2743299 w 3046538"/>
                <a:gd name="connsiteY10" fmla="*/ 319349 h 331361"/>
                <a:gd name="connsiteX11" fmla="*/ 2683799 w 3046538"/>
                <a:gd name="connsiteY11" fmla="*/ 331361 h 331361"/>
                <a:gd name="connsiteX12" fmla="*/ 351094 w 3046538"/>
                <a:gd name="connsiteY12" fmla="*/ 331361 h 331361"/>
                <a:gd name="connsiteX13" fmla="*/ 243006 w 3046538"/>
                <a:gd name="connsiteY13" fmla="*/ 286589 h 331361"/>
                <a:gd name="connsiteX14" fmla="*/ 193128 w 3046538"/>
                <a:gd name="connsiteY14" fmla="*/ 241208 h 331361"/>
                <a:gd name="connsiteX15" fmla="*/ 0 w 3046538"/>
                <a:gd name="connsiteY15" fmla="*/ 165680 h 331361"/>
                <a:gd name="connsiteX16" fmla="*/ 193128 w 3046538"/>
                <a:gd name="connsiteY16" fmla="*/ 90152 h 331361"/>
                <a:gd name="connsiteX17" fmla="*/ 243006 w 3046538"/>
                <a:gd name="connsiteY17" fmla="*/ 44772 h 331361"/>
                <a:gd name="connsiteX18" fmla="*/ 351094 w 3046538"/>
                <a:gd name="connsiteY18" fmla="*/ 0 h 331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46538" h="331361">
                  <a:moveTo>
                    <a:pt x="351094" y="0"/>
                  </a:moveTo>
                  <a:lnTo>
                    <a:pt x="2683799" y="0"/>
                  </a:lnTo>
                  <a:cubicBezTo>
                    <a:pt x="2704905" y="0"/>
                    <a:pt x="2725011" y="4278"/>
                    <a:pt x="2743299" y="12013"/>
                  </a:cubicBezTo>
                  <a:lnTo>
                    <a:pt x="2743789" y="12343"/>
                  </a:lnTo>
                  <a:lnTo>
                    <a:pt x="2747886" y="13140"/>
                  </a:lnTo>
                  <a:cubicBezTo>
                    <a:pt x="2767699" y="21175"/>
                    <a:pt x="2786265" y="33227"/>
                    <a:pt x="2802334" y="49296"/>
                  </a:cubicBezTo>
                  <a:cubicBezTo>
                    <a:pt x="2862432" y="109394"/>
                    <a:pt x="2943833" y="148189"/>
                    <a:pt x="3046538" y="165680"/>
                  </a:cubicBezTo>
                  <a:cubicBezTo>
                    <a:pt x="2943833" y="183171"/>
                    <a:pt x="2862432" y="221967"/>
                    <a:pt x="2802334" y="282064"/>
                  </a:cubicBezTo>
                  <a:cubicBezTo>
                    <a:pt x="2786265" y="298133"/>
                    <a:pt x="2767699" y="310186"/>
                    <a:pt x="2747886" y="318220"/>
                  </a:cubicBezTo>
                  <a:lnTo>
                    <a:pt x="2743791" y="319017"/>
                  </a:lnTo>
                  <a:lnTo>
                    <a:pt x="2743299" y="319349"/>
                  </a:lnTo>
                  <a:cubicBezTo>
                    <a:pt x="2725011" y="327084"/>
                    <a:pt x="2704905" y="331361"/>
                    <a:pt x="2683799" y="331361"/>
                  </a:cubicBezTo>
                  <a:lnTo>
                    <a:pt x="351094" y="331361"/>
                  </a:lnTo>
                  <a:cubicBezTo>
                    <a:pt x="308883" y="331361"/>
                    <a:pt x="270668" y="314252"/>
                    <a:pt x="243006" y="286589"/>
                  </a:cubicBezTo>
                  <a:lnTo>
                    <a:pt x="193128" y="241208"/>
                  </a:lnTo>
                  <a:cubicBezTo>
                    <a:pt x="140512" y="204273"/>
                    <a:pt x="76137" y="179097"/>
                    <a:pt x="0" y="165680"/>
                  </a:cubicBezTo>
                  <a:cubicBezTo>
                    <a:pt x="76137" y="152264"/>
                    <a:pt x="140512" y="127088"/>
                    <a:pt x="193128" y="90152"/>
                  </a:cubicBezTo>
                  <a:lnTo>
                    <a:pt x="243006" y="44772"/>
                  </a:lnTo>
                  <a:cubicBezTo>
                    <a:pt x="270668" y="17110"/>
                    <a:pt x="308883" y="0"/>
                    <a:pt x="351094" y="0"/>
                  </a:cubicBezTo>
                  <a:close/>
                </a:path>
              </a:pathLst>
            </a:custGeom>
            <a:solidFill>
              <a:srgbClr val="ED7D31"/>
            </a:solidFill>
            <a:ln>
              <a:solidFill>
                <a:srgbClr val="ED7D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sz="135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entury Gothic" panose="020B0502020202020204" pitchFamily="34" charset="0"/>
                  <a:cs typeface="Times New Roman" panose="02020603050405020304" pitchFamily="18" charset="0"/>
                </a:rPr>
                <a:t>Early integration</a:t>
              </a: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2CB895A-74A8-5E8F-01A5-A00559F1F490}"/>
              </a:ext>
            </a:extLst>
          </p:cNvPr>
          <p:cNvSpPr/>
          <p:nvPr/>
        </p:nvSpPr>
        <p:spPr>
          <a:xfrm>
            <a:off x="1035840" y="3979926"/>
            <a:ext cx="2381301" cy="1454098"/>
          </a:xfrm>
          <a:custGeom>
            <a:avLst/>
            <a:gdLst>
              <a:gd name="connsiteX0" fmla="*/ 0 w 3175068"/>
              <a:gd name="connsiteY0" fmla="*/ 0 h 1938797"/>
              <a:gd name="connsiteX1" fmla="*/ 3175068 w 3175068"/>
              <a:gd name="connsiteY1" fmla="*/ 0 h 1938797"/>
              <a:gd name="connsiteX2" fmla="*/ 3175068 w 3175068"/>
              <a:gd name="connsiteY2" fmla="*/ 1679897 h 1938797"/>
              <a:gd name="connsiteX3" fmla="*/ 2916168 w 3175068"/>
              <a:gd name="connsiteY3" fmla="*/ 1938797 h 1938797"/>
              <a:gd name="connsiteX4" fmla="*/ 258900 w 3175068"/>
              <a:gd name="connsiteY4" fmla="*/ 1938797 h 1938797"/>
              <a:gd name="connsiteX5" fmla="*/ 0 w 3175068"/>
              <a:gd name="connsiteY5" fmla="*/ 1679897 h 1938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5068" h="1938797">
                <a:moveTo>
                  <a:pt x="0" y="0"/>
                </a:moveTo>
                <a:lnTo>
                  <a:pt x="3175068" y="0"/>
                </a:lnTo>
                <a:lnTo>
                  <a:pt x="3175068" y="1679897"/>
                </a:lnTo>
                <a:cubicBezTo>
                  <a:pt x="3175068" y="1822884"/>
                  <a:pt x="3059155" y="1938797"/>
                  <a:pt x="2916168" y="1938797"/>
                </a:cubicBezTo>
                <a:lnTo>
                  <a:pt x="258900" y="1938797"/>
                </a:lnTo>
                <a:cubicBezTo>
                  <a:pt x="115913" y="1938797"/>
                  <a:pt x="0" y="1822884"/>
                  <a:pt x="0" y="16798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286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205740" rtlCol="0" anchor="ctr">
            <a:no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i="1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EnsDeconv</a:t>
            </a:r>
            <a:r>
              <a:rPr lang="en-US" sz="105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, an ensemblist approach -&gt; Robust and constrained linear regression on the estimates themselves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…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sz="1050" noProof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9A76A77-91C4-EE50-FEA9-5ECC06FEA374}"/>
              </a:ext>
            </a:extLst>
          </p:cNvPr>
          <p:cNvSpPr/>
          <p:nvPr/>
        </p:nvSpPr>
        <p:spPr>
          <a:xfrm>
            <a:off x="1035840" y="3689498"/>
            <a:ext cx="2381301" cy="530783"/>
          </a:xfrm>
          <a:custGeom>
            <a:avLst/>
            <a:gdLst>
              <a:gd name="connsiteX0" fmla="*/ 258900 w 3175068"/>
              <a:gd name="connsiteY0" fmla="*/ 0 h 593547"/>
              <a:gd name="connsiteX1" fmla="*/ 2916168 w 3175068"/>
              <a:gd name="connsiteY1" fmla="*/ 0 h 593547"/>
              <a:gd name="connsiteX2" fmla="*/ 3175068 w 3175068"/>
              <a:gd name="connsiteY2" fmla="*/ 258900 h 593547"/>
              <a:gd name="connsiteX3" fmla="*/ 3175068 w 3175068"/>
              <a:gd name="connsiteY3" fmla="*/ 593547 h 593547"/>
              <a:gd name="connsiteX4" fmla="*/ 0 w 3175068"/>
              <a:gd name="connsiteY4" fmla="*/ 593547 h 593547"/>
              <a:gd name="connsiteX5" fmla="*/ 0 w 3175068"/>
              <a:gd name="connsiteY5" fmla="*/ 258900 h 593547"/>
              <a:gd name="connsiteX6" fmla="*/ 258900 w 3175068"/>
              <a:gd name="connsiteY6" fmla="*/ 0 h 593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75068" h="593547">
                <a:moveTo>
                  <a:pt x="258900" y="0"/>
                </a:moveTo>
                <a:lnTo>
                  <a:pt x="2916168" y="0"/>
                </a:lnTo>
                <a:cubicBezTo>
                  <a:pt x="3059155" y="0"/>
                  <a:pt x="3175068" y="115913"/>
                  <a:pt x="3175068" y="258900"/>
                </a:cubicBezTo>
                <a:lnTo>
                  <a:pt x="3175068" y="593547"/>
                </a:lnTo>
                <a:lnTo>
                  <a:pt x="0" y="593547"/>
                </a:lnTo>
                <a:lnTo>
                  <a:pt x="0" y="258900"/>
                </a:lnTo>
                <a:cubicBezTo>
                  <a:pt x="0" y="115913"/>
                  <a:pt x="115913" y="0"/>
                  <a:pt x="25890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Ins="274320" rtlCol="0" anchor="ctr">
            <a:noAutofit/>
          </a:bodyPr>
          <a:lstStyle/>
          <a:p>
            <a:pPr algn="ctr"/>
            <a:r>
              <a:rPr lang="en-US" b="1" dirty="0"/>
              <a:t>Late integration approaches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AB75E69-0F95-9BA0-1652-A84539093F4B}"/>
              </a:ext>
            </a:extLst>
          </p:cNvPr>
          <p:cNvSpPr/>
          <p:nvPr/>
        </p:nvSpPr>
        <p:spPr>
          <a:xfrm>
            <a:off x="8880527" y="3596650"/>
            <a:ext cx="2381301" cy="2432010"/>
          </a:xfrm>
          <a:custGeom>
            <a:avLst/>
            <a:gdLst>
              <a:gd name="connsiteX0" fmla="*/ 0 w 3175068"/>
              <a:gd name="connsiteY0" fmla="*/ 0 h 1938797"/>
              <a:gd name="connsiteX1" fmla="*/ 3175068 w 3175068"/>
              <a:gd name="connsiteY1" fmla="*/ 0 h 1938797"/>
              <a:gd name="connsiteX2" fmla="*/ 3175068 w 3175068"/>
              <a:gd name="connsiteY2" fmla="*/ 1679897 h 1938797"/>
              <a:gd name="connsiteX3" fmla="*/ 2916168 w 3175068"/>
              <a:gd name="connsiteY3" fmla="*/ 1938797 h 1938797"/>
              <a:gd name="connsiteX4" fmla="*/ 258900 w 3175068"/>
              <a:gd name="connsiteY4" fmla="*/ 1938797 h 1938797"/>
              <a:gd name="connsiteX5" fmla="*/ 0 w 3175068"/>
              <a:gd name="connsiteY5" fmla="*/ 1679897 h 1938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5068" h="1938797">
                <a:moveTo>
                  <a:pt x="0" y="0"/>
                </a:moveTo>
                <a:lnTo>
                  <a:pt x="3175068" y="0"/>
                </a:lnTo>
                <a:lnTo>
                  <a:pt x="3175068" y="1679897"/>
                </a:lnTo>
                <a:cubicBezTo>
                  <a:pt x="3175068" y="1822884"/>
                  <a:pt x="3059155" y="1938797"/>
                  <a:pt x="2916168" y="1938797"/>
                </a:cubicBezTo>
                <a:lnTo>
                  <a:pt x="258900" y="1938797"/>
                </a:lnTo>
                <a:cubicBezTo>
                  <a:pt x="115913" y="1938797"/>
                  <a:pt x="0" y="1822884"/>
                  <a:pt x="0" y="1679897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rgbClr val="4472C4"/>
            </a:solidFill>
          </a:ln>
          <a:effectLst>
            <a:outerShdw blurRad="2286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205740" rtlCol="0" anchor="ctr">
            <a:no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EpiDISH: call to MASS::rlm() function + posterior unit-simplex constraint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Tracks of improvement: early outlier early discarding, GLS models, unit-simplex constraint…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050" i="1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Modern Methods for Robust Regression</a:t>
            </a:r>
            <a:r>
              <a:rPr lang="en-GB" sz="105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, from Robert Andersen + </a:t>
            </a:r>
            <a:r>
              <a:rPr lang="en-GB" sz="1050" i="1" noProof="1">
                <a:solidFill>
                  <a:schemeClr val="tx1">
                    <a:lumMod val="65000"/>
                    <a:lumOff val="35000"/>
                  </a:schemeClr>
                </a:solidFill>
                <a:hlinkClick r:id="rId2"/>
              </a:rPr>
              <a:t>Robust Statistics: Theory and Methods </a:t>
            </a:r>
            <a:r>
              <a:rPr lang="en-GB" sz="1050" i="1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(with R)</a:t>
            </a:r>
            <a:r>
              <a:rPr lang="en-GB" sz="105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 from Ricardo A. Maronna</a:t>
            </a:r>
            <a:endParaRPr lang="en-US" sz="1050" i="1" noProof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373B95D-2E60-88BB-9BCD-63779B52C586}"/>
              </a:ext>
            </a:extLst>
          </p:cNvPr>
          <p:cNvSpPr/>
          <p:nvPr/>
        </p:nvSpPr>
        <p:spPr>
          <a:xfrm>
            <a:off x="8880527" y="3391847"/>
            <a:ext cx="2381301" cy="425242"/>
          </a:xfrm>
          <a:custGeom>
            <a:avLst/>
            <a:gdLst>
              <a:gd name="connsiteX0" fmla="*/ 258900 w 3175068"/>
              <a:gd name="connsiteY0" fmla="*/ 0 h 593547"/>
              <a:gd name="connsiteX1" fmla="*/ 2916168 w 3175068"/>
              <a:gd name="connsiteY1" fmla="*/ 0 h 593547"/>
              <a:gd name="connsiteX2" fmla="*/ 3175068 w 3175068"/>
              <a:gd name="connsiteY2" fmla="*/ 258900 h 593547"/>
              <a:gd name="connsiteX3" fmla="*/ 3175068 w 3175068"/>
              <a:gd name="connsiteY3" fmla="*/ 593547 h 593547"/>
              <a:gd name="connsiteX4" fmla="*/ 0 w 3175068"/>
              <a:gd name="connsiteY4" fmla="*/ 593547 h 593547"/>
              <a:gd name="connsiteX5" fmla="*/ 0 w 3175068"/>
              <a:gd name="connsiteY5" fmla="*/ 258900 h 593547"/>
              <a:gd name="connsiteX6" fmla="*/ 258900 w 3175068"/>
              <a:gd name="connsiteY6" fmla="*/ 0 h 593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75068" h="593547">
                <a:moveTo>
                  <a:pt x="258900" y="0"/>
                </a:moveTo>
                <a:lnTo>
                  <a:pt x="2916168" y="0"/>
                </a:lnTo>
                <a:cubicBezTo>
                  <a:pt x="3059155" y="0"/>
                  <a:pt x="3175068" y="115913"/>
                  <a:pt x="3175068" y="258900"/>
                </a:cubicBezTo>
                <a:lnTo>
                  <a:pt x="3175068" y="593547"/>
                </a:lnTo>
                <a:lnTo>
                  <a:pt x="0" y="593547"/>
                </a:lnTo>
                <a:lnTo>
                  <a:pt x="0" y="258900"/>
                </a:lnTo>
                <a:cubicBezTo>
                  <a:pt x="0" y="115913"/>
                  <a:pt x="115913" y="0"/>
                  <a:pt x="258900" y="0"/>
                </a:cubicBezTo>
                <a:close/>
              </a:path>
            </a:pathLst>
          </a:cu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Ins="274320" rtlCol="0" anchor="ctr"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Robust regression</a:t>
            </a:r>
          </a:p>
        </p:txBody>
      </p:sp>
      <p:sp>
        <p:nvSpPr>
          <p:cNvPr id="41" name="Arrow: Up-Down 40">
            <a:extLst>
              <a:ext uri="{FF2B5EF4-FFF2-40B4-BE49-F238E27FC236}">
                <a16:creationId xmlns:a16="http://schemas.microsoft.com/office/drawing/2014/main" id="{39966848-7EA5-4851-F042-68247FEAA449}"/>
              </a:ext>
            </a:extLst>
          </p:cNvPr>
          <p:cNvSpPr/>
          <p:nvPr/>
        </p:nvSpPr>
        <p:spPr>
          <a:xfrm rot="18900000">
            <a:off x="3314995" y="1549610"/>
            <a:ext cx="723014" cy="1711842"/>
          </a:xfrm>
          <a:prstGeom prst="up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Arrow: Up-Down 41">
            <a:extLst>
              <a:ext uri="{FF2B5EF4-FFF2-40B4-BE49-F238E27FC236}">
                <a16:creationId xmlns:a16="http://schemas.microsoft.com/office/drawing/2014/main" id="{496A08DD-23FB-8F2B-8665-174638C22BF0}"/>
              </a:ext>
            </a:extLst>
          </p:cNvPr>
          <p:cNvSpPr/>
          <p:nvPr/>
        </p:nvSpPr>
        <p:spPr>
          <a:xfrm rot="2700000">
            <a:off x="7416998" y="1624079"/>
            <a:ext cx="723014" cy="1711842"/>
          </a:xfrm>
          <a:prstGeom prst="up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38AF5DAA-C3D9-BF96-B536-3F3437CB8011}"/>
              </a:ext>
            </a:extLst>
          </p:cNvPr>
          <p:cNvSpPr txBox="1">
            <a:spLocks/>
          </p:cNvSpPr>
          <p:nvPr/>
        </p:nvSpPr>
        <p:spPr>
          <a:xfrm>
            <a:off x="415600" y="4913373"/>
            <a:ext cx="11360800" cy="4555200"/>
          </a:xfrm>
          <a:prstGeom prst="rect">
            <a:avLst/>
          </a:prstGeom>
        </p:spPr>
        <p:txBody>
          <a:bodyPr/>
          <a:lstStyle>
            <a:lvl1pPr marL="215999" marR="0" lvl="0" indent="-215999" algn="l" defTabSz="914400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0000"/>
              <a:buFont typeface="Arial" pitchFamily="34"/>
              <a:buChar char="•"/>
              <a:tabLst/>
              <a:defRPr lang="fr-FR" sz="2000" b="0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  <a:lvl2pPr marL="395999" marR="0" lvl="1" indent="-179999" algn="l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20000"/>
              <a:buFont typeface="Police système"/>
              <a:buChar char="-"/>
              <a:tabLst/>
              <a:defRPr lang="fr-FR" sz="1800" b="0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2pPr>
            <a:lvl3pPr marL="575998" marR="0" lvl="2" indent="-179999" algn="l" defTabSz="914400" rtl="0" fontAlgn="auto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SzPct val="90000"/>
              <a:buFont typeface="Arial" pitchFamily="34"/>
              <a:buChar char="•"/>
              <a:tabLst/>
              <a:defRPr lang="fr-FR" sz="1600" b="0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3pPr>
            <a:lvl4pPr marL="719998" marR="0" lvl="3" indent="-143999" algn="l" defTabSz="914400" rtl="0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SzPct val="120000"/>
              <a:buFont typeface="Police système"/>
              <a:buChar char="-"/>
              <a:tabLst/>
              <a:defRPr lang="fr-FR" sz="1400" b="0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4pPr>
            <a:lvl5pPr marL="719998" marR="0" lvl="4" indent="0" algn="l" defTabSz="914400" rtl="0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dirty="0">
                <a:solidFill>
                  <a:srgbClr val="7030A0"/>
                </a:solidFill>
              </a:rPr>
              <a:t>To start with: shared writing </a:t>
            </a:r>
          </a:p>
          <a:p>
            <a:pPr marL="0" indent="0" algn="ctr">
              <a:buNone/>
            </a:pPr>
            <a:r>
              <a:rPr lang="en-GB" dirty="0">
                <a:solidFill>
                  <a:srgbClr val="7030A0"/>
                </a:solidFill>
              </a:rPr>
              <a:t>For the </a:t>
            </a:r>
            <a:r>
              <a:rPr lang="en-GB" dirty="0" err="1">
                <a:solidFill>
                  <a:srgbClr val="7030A0"/>
                </a:solidFill>
              </a:rPr>
              <a:t>HaDaCa</a:t>
            </a:r>
            <a:r>
              <a:rPr lang="en-GB" dirty="0">
                <a:solidFill>
                  <a:srgbClr val="7030A0"/>
                </a:solidFill>
              </a:rPr>
              <a:t> 3 challenge</a:t>
            </a:r>
          </a:p>
          <a:p>
            <a:pPr marL="0" indent="0" algn="ctr">
              <a:buNone/>
            </a:pPr>
            <a:r>
              <a:rPr lang="en-GB" dirty="0">
                <a:solidFill>
                  <a:srgbClr val="7030A0"/>
                </a:solidFill>
              </a:rPr>
              <a:t> (see published mail)</a:t>
            </a:r>
          </a:p>
        </p:txBody>
      </p:sp>
    </p:spTree>
    <p:extLst>
      <p:ext uri="{BB962C8B-B14F-4D97-AF65-F5344CB8AC3E}">
        <p14:creationId xmlns:p14="http://schemas.microsoft.com/office/powerpoint/2010/main" val="3184786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95BA59-991B-6FB8-BF4B-DBB12BCDBA39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13769816-012C-4027-9C2F-1A4D7A5F1BD8}" type="slidenum">
              <a:rPr lang="en-GB" smtClean="0"/>
              <a:t>4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52A43EA-FC32-057F-2D33-91C014C40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79" y="200858"/>
            <a:ext cx="10333040" cy="778666"/>
          </a:xfrm>
        </p:spPr>
        <p:txBody>
          <a:bodyPr/>
          <a:lstStyle/>
          <a:p>
            <a:r>
              <a:rPr lang="en-GB" dirty="0"/>
              <a:t>General Modelling Framework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8A723B-7AA0-0785-9D07-351A18EB46D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1AA67F0-E549-4DAB-8C86-9F189557FA68}" type="datetime1">
              <a:rPr lang="en-GB" smtClean="0"/>
              <a:pPr/>
              <a:t>17/11/2025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65A8F6-E12D-A482-0131-E144B4703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6091" y="734624"/>
            <a:ext cx="6159817" cy="5048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577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anchor="ctr" anchorCtr="0" compatLnSpc="1">
            <a:normAutofit/>
          </a:bodyPr>
          <a:lstStyle/>
          <a:p>
            <a:pPr algn="r"/>
            <a:fld id="{00000000-1234-1234-1234-123412341234}" type="slidenum">
              <a:rPr lang="en-GB" smtClean="0"/>
              <a:pPr algn="r"/>
              <a:t>5</a:t>
            </a:fld>
            <a:endParaRPr lang="en-GB" dirty="0"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-64189" y="-289582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anchor="t" anchorCtr="0" compatLnSpc="1">
            <a:noAutofit/>
          </a:bodyPr>
          <a:lstStyle/>
          <a:p>
            <a:pPr>
              <a:spcBef>
                <a:spcPts val="1600"/>
              </a:spcBef>
            </a:pPr>
            <a:r>
              <a:rPr lang="en-GB" sz="2400" dirty="0"/>
              <a:t>Early integration approaches: feature selection</a:t>
            </a:r>
          </a:p>
        </p:txBody>
      </p:sp>
      <p:pic>
        <p:nvPicPr>
          <p:cNvPr id="86" name="Google Shape;86;p16"/>
          <p:cNvPicPr preferRelativeResize="0"/>
          <p:nvPr/>
        </p:nvPicPr>
        <p:blipFill rotWithShape="1">
          <a:blip r:embed="rId3">
            <a:alphaModFix/>
          </a:blip>
          <a:srcRect r="30187"/>
          <a:stretch/>
        </p:blipFill>
        <p:spPr>
          <a:xfrm>
            <a:off x="8629355" y="3955360"/>
            <a:ext cx="3562645" cy="2902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297" y="3917323"/>
            <a:ext cx="7327900" cy="153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82;p16"/>
          <p:cNvPicPr preferRelativeResize="0"/>
          <p:nvPr/>
        </p:nvPicPr>
        <p:blipFill rotWithShape="1">
          <a:blip r:embed="rId5">
            <a:alphaModFix/>
          </a:blip>
          <a:srcRect r="32673"/>
          <a:stretch/>
        </p:blipFill>
        <p:spPr>
          <a:xfrm>
            <a:off x="8126798" y="82923"/>
            <a:ext cx="3946164" cy="3429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D275AF-CB68-9F30-83C9-E466DE1B0A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74018"/>
            <a:ext cx="7639443" cy="28830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DFB1D6-B54A-D8E3-28ED-1D06F3FC21DA}"/>
              </a:ext>
            </a:extLst>
          </p:cNvPr>
          <p:cNvSpPr txBox="1"/>
          <p:nvPr/>
        </p:nvSpPr>
        <p:spPr>
          <a:xfrm>
            <a:off x="165297" y="3576977"/>
            <a:ext cx="5730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To be paired with function </a:t>
            </a:r>
            <a:r>
              <a:rPr lang="en-GB" i="1" dirty="0" err="1"/>
              <a:t>mixOmics</a:t>
            </a:r>
            <a:r>
              <a:rPr lang="en-GB" dirty="0"/>
              <a:t>::</a:t>
            </a:r>
            <a:r>
              <a:rPr lang="en-GB" i="1" dirty="0" err="1"/>
              <a:t>tune.splsda</a:t>
            </a:r>
            <a:r>
              <a:rPr lang="en-GB" dirty="0"/>
              <a:t>. </a:t>
            </a:r>
          </a:p>
        </p:txBody>
      </p:sp>
      <p:pic>
        <p:nvPicPr>
          <p:cNvPr id="7" name="Google Shape;83;p16"/>
          <p:cNvPicPr preferRelativeResize="0"/>
          <p:nvPr/>
        </p:nvPicPr>
        <p:blipFill rotWithShape="1">
          <a:blip r:embed="rId5">
            <a:alphaModFix/>
          </a:blip>
          <a:srcRect l="75355" t="36401" r="11607" b="33084"/>
          <a:stretch/>
        </p:blipFill>
        <p:spPr>
          <a:xfrm>
            <a:off x="6523249" y="2225384"/>
            <a:ext cx="1939896" cy="257307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5;p16">
            <a:extLst>
              <a:ext uri="{FF2B5EF4-FFF2-40B4-BE49-F238E27FC236}">
                <a16:creationId xmlns:a16="http://schemas.microsoft.com/office/drawing/2014/main" id="{C1A1CD23-C514-2A1E-2DFA-AC4629A168EE}"/>
              </a:ext>
            </a:extLst>
          </p:cNvPr>
          <p:cNvSpPr txBox="1">
            <a:spLocks/>
          </p:cNvSpPr>
          <p:nvPr/>
        </p:nvSpPr>
        <p:spPr>
          <a:xfrm>
            <a:off x="233915" y="5454023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tabLst/>
              <a:defRPr lang="fr-FR" sz="26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algn="ctr">
              <a:spcBef>
                <a:spcPts val="1600"/>
              </a:spcBef>
            </a:pPr>
            <a:r>
              <a:rPr lang="en-GB" sz="2000" b="0" i="1" dirty="0"/>
              <a:t>Illustration of </a:t>
            </a:r>
            <a:r>
              <a:rPr lang="en-GB" sz="2000" b="0" i="1" dirty="0" err="1"/>
              <a:t>mixOmics</a:t>
            </a:r>
            <a:r>
              <a:rPr lang="en-GB" sz="2000" b="0" i="1" dirty="0"/>
              <a:t>::s(parse)</a:t>
            </a:r>
            <a:r>
              <a:rPr lang="en-GB" sz="2000" b="0" i="1" dirty="0" err="1"/>
              <a:t>plsda</a:t>
            </a:r>
            <a:endParaRPr lang="en-GB" sz="2000" b="0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B2FC01-405A-8443-5047-B246FC325E27}"/>
              </a:ext>
            </a:extLst>
          </p:cNvPr>
          <p:cNvSpPr txBox="1"/>
          <p:nvPr/>
        </p:nvSpPr>
        <p:spPr>
          <a:xfrm>
            <a:off x="0" y="5517751"/>
            <a:ext cx="54000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Links: </a:t>
            </a:r>
            <a:r>
              <a:rPr lang="en-GB" sz="1600" dirty="0">
                <a:hlinkClick r:id="rId7"/>
              </a:rPr>
              <a:t>https://mixomics.org/mixdiablo/</a:t>
            </a:r>
            <a:r>
              <a:rPr lang="en-GB" sz="1600" dirty="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D2555-87ED-5D5C-267A-C408D9D71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949" y="328338"/>
            <a:ext cx="11360800" cy="763600"/>
          </a:xfrm>
        </p:spPr>
        <p:txBody>
          <a:bodyPr/>
          <a:lstStyle/>
          <a:p>
            <a:r>
              <a:rPr lang="en-GB" dirty="0"/>
              <a:t>PLIER pathway integration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D80D00-A463-1C83-5249-57727CE0C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627946"/>
            <a:ext cx="11360800" cy="1695664"/>
          </a:xfrm>
        </p:spPr>
        <p:txBody>
          <a:bodyPr>
            <a:normAutofit fontScale="92500" lnSpcReduction="20000"/>
          </a:bodyPr>
          <a:lstStyle/>
          <a:p>
            <a:pPr marL="152396" indent="0">
              <a:buNone/>
            </a:pPr>
            <a:r>
              <a:rPr lang="en-GB" dirty="0"/>
              <a:t>+ Inclusion of prior knowledge as pathway </a:t>
            </a:r>
            <a:r>
              <a:rPr lang="en-GB" b="1" dirty="0"/>
              <a:t>binary</a:t>
            </a:r>
            <a:r>
              <a:rPr lang="en-GB" dirty="0"/>
              <a:t> inclusion (but no weights)</a:t>
            </a:r>
          </a:p>
          <a:p>
            <a:pPr>
              <a:buFontTx/>
              <a:buChar char="-"/>
            </a:pPr>
            <a:r>
              <a:rPr lang="en-GB" dirty="0"/>
              <a:t>Posterior non-negativity and no unit-simplex constraints</a:t>
            </a:r>
          </a:p>
          <a:p>
            <a:pPr>
              <a:buFontTx/>
              <a:buChar char="-"/>
            </a:pPr>
            <a:r>
              <a:rPr lang="en-GB" dirty="0"/>
              <a:t>No inclusion of batch effects</a:t>
            </a:r>
          </a:p>
          <a:p>
            <a:pPr>
              <a:buFontTx/>
              <a:buChar char="-"/>
            </a:pPr>
            <a:r>
              <a:rPr lang="en-GB" dirty="0"/>
              <a:t>No uncertainly evaluation on the latent variables retrieved</a:t>
            </a:r>
          </a:p>
          <a:p>
            <a:pPr marL="152396" indent="0">
              <a:buNone/>
            </a:pPr>
            <a:endParaRPr lang="en-GB" dirty="0"/>
          </a:p>
          <a:p>
            <a:pPr marL="152396" indent="0">
              <a:buNone/>
            </a:pPr>
            <a:r>
              <a:rPr lang="en-GB"/>
              <a:t>Explicitly </a:t>
            </a:r>
            <a:r>
              <a:rPr lang="en-GB" dirty="0"/>
              <a:t>provide the pathway latent summarised activity?</a:t>
            </a:r>
          </a:p>
          <a:p>
            <a:pPr>
              <a:buFontTx/>
              <a:buChar char="-"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30546-D714-4545-BB7F-2BD76A83B9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fr" smtClean="0"/>
              <a:pPr algn="r"/>
              <a:t>6</a:t>
            </a:fld>
            <a:endParaRPr lang="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094022-7424-0106-78C3-E14667298C8E}"/>
              </a:ext>
            </a:extLst>
          </p:cNvPr>
          <p:cNvSpPr txBox="1"/>
          <p:nvPr/>
        </p:nvSpPr>
        <p:spPr>
          <a:xfrm>
            <a:off x="202948" y="3859619"/>
            <a:ext cx="108549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Useful links: </a:t>
            </a:r>
          </a:p>
          <a:p>
            <a:pPr marL="285750" indent="-285750">
              <a:buFontTx/>
              <a:buChar char="-"/>
            </a:pPr>
            <a:r>
              <a:rPr lang="en-GB" dirty="0"/>
              <a:t>Original paper: </a:t>
            </a:r>
            <a:r>
              <a:rPr lang="en-GB" dirty="0">
                <a:hlinkClick r:id="rId2"/>
              </a:rPr>
              <a:t>https://www.nature.com/articles/s41592-019-0456-1</a:t>
            </a:r>
            <a:endParaRPr lang="en-GB" dirty="0"/>
          </a:p>
          <a:p>
            <a:pPr marL="285750" indent="-285750">
              <a:buFontTx/>
              <a:buChar char="-"/>
            </a:pPr>
            <a:r>
              <a:rPr lang="en-GB" dirty="0"/>
              <a:t>R package: </a:t>
            </a:r>
            <a:r>
              <a:rPr lang="en-GB" dirty="0">
                <a:hlinkClick r:id="rId3"/>
              </a:rPr>
              <a:t>https://github.com/wgmao/PLIER</a:t>
            </a:r>
            <a:r>
              <a:rPr lang="en-GB" dirty="0"/>
              <a:t> (including an extra sparse version?)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47C5AE-EACA-CF36-AB75-F51E0A79BE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6270" y="815699"/>
            <a:ext cx="4019757" cy="55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57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BFD49-2099-465F-CE8C-B54663592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5577"/>
            <a:ext cx="11360800" cy="763600"/>
          </a:xfrm>
        </p:spPr>
        <p:txBody>
          <a:bodyPr/>
          <a:lstStyle/>
          <a:p>
            <a:r>
              <a:rPr lang="en-GB" dirty="0"/>
              <a:t>Early integration: MOFA’s matrix factorisation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62EC8F-C9BB-DCC9-E573-DD641165CE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728559"/>
            <a:ext cx="11360800" cy="4555200"/>
          </a:xfrm>
        </p:spPr>
        <p:txBody>
          <a:bodyPr/>
          <a:lstStyle/>
          <a:p>
            <a:r>
              <a:rPr lang="en-GB" dirty="0"/>
              <a:t>Probabilistic framework</a:t>
            </a:r>
          </a:p>
          <a:p>
            <a:pPr lvl="1"/>
            <a:r>
              <a:rPr lang="en-GB" dirty="0"/>
              <a:t>Underlying Latent Gaussian space</a:t>
            </a:r>
          </a:p>
          <a:p>
            <a:pPr lvl="1"/>
            <a:r>
              <a:rPr lang="en-GB" dirty="0"/>
              <a:t>Full probabilistic and Bayesian framework, but uninformative priors</a:t>
            </a:r>
          </a:p>
          <a:p>
            <a:pPr lvl="1"/>
            <a:r>
              <a:rPr lang="en-GB" dirty="0"/>
              <a:t>Variational EM inference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F0F9FC-4786-4873-07D2-6FAC8B99F4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fr" smtClean="0"/>
              <a:pPr algn="r"/>
              <a:t>7</a:t>
            </a:fld>
            <a:endParaRPr lang="f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D9C095-38DB-B26D-5376-85EACA0A7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858" y="1737277"/>
            <a:ext cx="4711942" cy="4159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934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5121EB-03EA-CF50-8B4E-0A6FAA280F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8976" y="851501"/>
            <a:ext cx="12531887" cy="4555200"/>
          </a:xfrm>
        </p:spPr>
        <p:txBody>
          <a:bodyPr/>
          <a:lstStyle/>
          <a:p>
            <a:pPr marL="152396" indent="0">
              <a:buNone/>
            </a:pPr>
            <a:r>
              <a:rPr lang="en-GB" dirty="0"/>
              <a:t>+ Regularisation constraints</a:t>
            </a:r>
          </a:p>
          <a:p>
            <a:pPr marL="152396" indent="0">
              <a:buNone/>
            </a:pPr>
            <a:r>
              <a:rPr lang="en-GB" dirty="0"/>
              <a:t>+ Probabilistic and use of optimal transport (enforce unit-simplex constraint)</a:t>
            </a:r>
          </a:p>
          <a:p>
            <a:pPr marL="152396" indent="0">
              <a:buNone/>
            </a:pPr>
            <a:endParaRPr lang="en-GB" dirty="0"/>
          </a:p>
          <a:p>
            <a:pPr>
              <a:buFontTx/>
              <a:buChar char="-"/>
            </a:pPr>
            <a:r>
              <a:rPr lang="en-GB" dirty="0"/>
              <a:t>Single cell datasets -&gt; How to generalise on bulk omics?</a:t>
            </a:r>
          </a:p>
          <a:p>
            <a:pPr>
              <a:buFontTx/>
              <a:buChar char="-"/>
            </a:pPr>
            <a:r>
              <a:rPr lang="en-GB" dirty="0"/>
              <a:t>No use of prior biological knowledge</a:t>
            </a:r>
          </a:p>
          <a:p>
            <a:pPr>
              <a:buFontTx/>
              <a:buChar char="-"/>
            </a:pPr>
            <a:endParaRPr lang="en-GB" dirty="0"/>
          </a:p>
          <a:p>
            <a:pPr>
              <a:buFontTx/>
              <a:buChar char="-"/>
            </a:pPr>
            <a:endParaRPr lang="en-GB" dirty="0"/>
          </a:p>
          <a:p>
            <a:pPr marL="152396" indent="0">
              <a:buNone/>
            </a:pPr>
            <a:r>
              <a:rPr lang="en-GB" dirty="0"/>
              <a:t>Side project: migration from Python MOWGLI to R-Mowgli: </a:t>
            </a:r>
            <a:r>
              <a:rPr lang="en-GB" dirty="0">
                <a:hlinkClick r:id="rId2"/>
              </a:rPr>
              <a:t>https://github.com/bastienchassagnol/RMowgli</a:t>
            </a:r>
            <a:r>
              <a:rPr lang="en-GB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1F1CAA-855F-C7FD-0F35-07B2ABC6B9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fr" smtClean="0"/>
              <a:pPr algn="r"/>
              <a:t>8</a:t>
            </a:fld>
            <a:endParaRPr lang="fr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A7780EE-9BE4-5F3B-DF9C-EED4DFC59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154" y="200320"/>
            <a:ext cx="11360150" cy="763588"/>
          </a:xfrm>
        </p:spPr>
        <p:txBody>
          <a:bodyPr/>
          <a:lstStyle/>
          <a:p>
            <a:r>
              <a:rPr lang="en-GB" dirty="0"/>
              <a:t>Early integration: MOWGLI matrix factorisation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6B3EC6-2BFD-3385-F3EC-B2107CF8F1D4}"/>
              </a:ext>
            </a:extLst>
          </p:cNvPr>
          <p:cNvSpPr txBox="1"/>
          <p:nvPr/>
        </p:nvSpPr>
        <p:spPr>
          <a:xfrm>
            <a:off x="318976" y="5294293"/>
            <a:ext cx="99414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Useful links: </a:t>
            </a:r>
          </a:p>
          <a:p>
            <a:pPr marL="285750" indent="-285750">
              <a:buFontTx/>
              <a:buChar char="-"/>
            </a:pPr>
            <a:r>
              <a:rPr lang="en-GB" dirty="0">
                <a:hlinkClick r:id="rId3"/>
              </a:rPr>
              <a:t>Original paper: https://www.nature.com/articles/s41467-023-43019-2#Sec9</a:t>
            </a:r>
            <a:endParaRPr lang="en-GB" dirty="0"/>
          </a:p>
          <a:p>
            <a:pPr marL="285750" indent="-285750">
              <a:buFontTx/>
              <a:buChar char="-"/>
            </a:pPr>
            <a:r>
              <a:rPr lang="en-GB" dirty="0">
                <a:hlinkClick r:id="rId4"/>
              </a:rPr>
              <a:t>Theoretical framework: https://proceedings.mlr.press/v51/rolet16.pdf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63058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>
            <a:spLocks noGrp="1"/>
          </p:cNvSpPr>
          <p:nvPr>
            <p:ph type="title"/>
          </p:nvPr>
        </p:nvSpPr>
        <p:spPr>
          <a:xfrm>
            <a:off x="149786" y="4726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anchor="t" anchorCtr="0" compatLnSpc="1">
            <a:noAutofit/>
          </a:bodyPr>
          <a:lstStyle/>
          <a:p>
            <a:pPr>
              <a:lnSpc>
                <a:spcPct val="115000"/>
              </a:lnSpc>
              <a:buSzPts val="990"/>
            </a:pPr>
            <a:r>
              <a:rPr lang="fr-FR" sz="3093" dirty="0" err="1">
                <a:solidFill>
                  <a:schemeClr val="dk2"/>
                </a:solidFill>
              </a:rPr>
              <a:t>Late</a:t>
            </a:r>
            <a:r>
              <a:rPr lang="fr-FR" sz="3093" dirty="0">
                <a:solidFill>
                  <a:schemeClr val="dk2"/>
                </a:solidFill>
              </a:rPr>
              <a:t> </a:t>
            </a:r>
            <a:r>
              <a:rPr lang="fr-FR" sz="3093" dirty="0" err="1">
                <a:solidFill>
                  <a:schemeClr val="dk2"/>
                </a:solidFill>
              </a:rPr>
              <a:t>integration</a:t>
            </a:r>
            <a:r>
              <a:rPr lang="fr-FR" sz="3093" dirty="0">
                <a:solidFill>
                  <a:schemeClr val="dk2"/>
                </a:solidFill>
              </a:rPr>
              <a:t> </a:t>
            </a:r>
            <a:r>
              <a:rPr lang="fr-FR" sz="3093" dirty="0" err="1">
                <a:solidFill>
                  <a:schemeClr val="dk2"/>
                </a:solidFill>
              </a:rPr>
              <a:t>approaches</a:t>
            </a:r>
            <a:endParaRPr sz="3093" dirty="0">
              <a:solidFill>
                <a:schemeClr val="dk2"/>
              </a:solidFill>
            </a:endParaRPr>
          </a:p>
          <a:p>
            <a:pPr>
              <a:spcBef>
                <a:spcPts val="1600"/>
              </a:spcBef>
              <a:buSzPts val="990"/>
            </a:pPr>
            <a:endParaRPr sz="3360" dirty="0"/>
          </a:p>
        </p:txBody>
      </p:sp>
      <p:grpSp>
        <p:nvGrpSpPr>
          <p:cNvPr id="111" name="Google Shape;111;p19"/>
          <p:cNvGrpSpPr/>
          <p:nvPr/>
        </p:nvGrpSpPr>
        <p:grpSpPr>
          <a:xfrm>
            <a:off x="240200" y="1220374"/>
            <a:ext cx="5855800" cy="3457367"/>
            <a:chOff x="713375" y="1139000"/>
            <a:chExt cx="4391850" cy="2593025"/>
          </a:xfrm>
        </p:grpSpPr>
        <p:sp>
          <p:nvSpPr>
            <p:cNvPr id="112" name="Google Shape;112;p19"/>
            <p:cNvSpPr/>
            <p:nvPr/>
          </p:nvSpPr>
          <p:spPr>
            <a:xfrm>
              <a:off x="713375" y="1139000"/>
              <a:ext cx="1031100" cy="511200"/>
            </a:xfrm>
            <a:prstGeom prst="rect">
              <a:avLst/>
            </a:prstGeom>
            <a:solidFill>
              <a:srgbClr val="D0E0E3"/>
            </a:solidFill>
            <a:ln w="9525" cap="flat" cmpd="sng">
              <a:solidFill>
                <a:srgbClr val="A2C4C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fr" sz="1600"/>
                <a:t>Estimation prop RNA</a:t>
              </a:r>
              <a:endParaRPr sz="1600"/>
            </a:p>
          </p:txBody>
        </p:sp>
        <p:sp>
          <p:nvSpPr>
            <p:cNvPr id="113" name="Google Shape;113;p19"/>
            <p:cNvSpPr/>
            <p:nvPr/>
          </p:nvSpPr>
          <p:spPr>
            <a:xfrm>
              <a:off x="2589175" y="1139000"/>
              <a:ext cx="1031100" cy="511200"/>
            </a:xfrm>
            <a:prstGeom prst="rect">
              <a:avLst/>
            </a:prstGeom>
            <a:solidFill>
              <a:srgbClr val="D0E0E3"/>
            </a:solidFill>
            <a:ln w="9525" cap="flat" cmpd="sng">
              <a:solidFill>
                <a:srgbClr val="A2C4C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fr" sz="1600"/>
                <a:t>Estimation prop met</a:t>
              </a:r>
              <a:endParaRPr sz="1600"/>
            </a:p>
          </p:txBody>
        </p:sp>
        <p:sp>
          <p:nvSpPr>
            <p:cNvPr id="114" name="Google Shape;114;p19"/>
            <p:cNvSpPr/>
            <p:nvPr/>
          </p:nvSpPr>
          <p:spPr>
            <a:xfrm rot="863765">
              <a:off x="1336693" y="1853863"/>
              <a:ext cx="1678705" cy="1114164"/>
            </a:xfrm>
            <a:prstGeom prst="irregularSeal2">
              <a:avLst/>
            </a:prstGeom>
            <a:solidFill>
              <a:srgbClr val="F4CCCC"/>
            </a:solidFill>
            <a:ln w="9525" cap="flat" cmpd="sng">
              <a:solidFill>
                <a:srgbClr val="EA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/>
            </a:p>
          </p:txBody>
        </p:sp>
        <p:sp>
          <p:nvSpPr>
            <p:cNvPr id="115" name="Google Shape;115;p19"/>
            <p:cNvSpPr txBox="1"/>
            <p:nvPr/>
          </p:nvSpPr>
          <p:spPr>
            <a:xfrm>
              <a:off x="1450175" y="2118423"/>
              <a:ext cx="1378970" cy="40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fr" sz="2400" dirty="0">
                  <a:solidFill>
                    <a:schemeClr val="dk1"/>
                  </a:solidFill>
                </a:rPr>
                <a:t>Weighted mean</a:t>
              </a:r>
              <a:endParaRPr sz="2400" dirty="0">
                <a:solidFill>
                  <a:schemeClr val="dk1"/>
                </a:solidFill>
              </a:endParaRPr>
            </a:p>
          </p:txBody>
        </p:sp>
        <p:sp>
          <p:nvSpPr>
            <p:cNvPr id="116" name="Google Shape;116;p19"/>
            <p:cNvSpPr/>
            <p:nvPr/>
          </p:nvSpPr>
          <p:spPr>
            <a:xfrm>
              <a:off x="1631100" y="3278725"/>
              <a:ext cx="993600" cy="453300"/>
            </a:xfrm>
            <a:prstGeom prst="rect">
              <a:avLst/>
            </a:prstGeom>
            <a:solidFill>
              <a:srgbClr val="EAD1DC"/>
            </a:solidFill>
            <a:ln w="9525" cap="flat" cmpd="sng">
              <a:solidFill>
                <a:srgbClr val="D5A6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fr" sz="1600"/>
                <a:t>Submission</a:t>
              </a:r>
              <a:endParaRPr sz="1600"/>
            </a:p>
          </p:txBody>
        </p:sp>
        <p:cxnSp>
          <p:nvCxnSpPr>
            <p:cNvPr id="117" name="Google Shape;117;p19"/>
            <p:cNvCxnSpPr>
              <a:stCxn id="112" idx="2"/>
            </p:cNvCxnSpPr>
            <p:nvPr/>
          </p:nvCxnSpPr>
          <p:spPr>
            <a:xfrm>
              <a:off x="1228925" y="1650200"/>
              <a:ext cx="442500" cy="373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8" name="Google Shape;118;p19"/>
            <p:cNvCxnSpPr>
              <a:stCxn id="113" idx="2"/>
            </p:cNvCxnSpPr>
            <p:nvPr/>
          </p:nvCxnSpPr>
          <p:spPr>
            <a:xfrm flipH="1">
              <a:off x="2706325" y="1650200"/>
              <a:ext cx="3984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9" name="Google Shape;119;p19"/>
            <p:cNvCxnSpPr>
              <a:stCxn id="114" idx="2"/>
              <a:endCxn id="116" idx="0"/>
            </p:cNvCxnSpPr>
            <p:nvPr/>
          </p:nvCxnSpPr>
          <p:spPr>
            <a:xfrm flipH="1">
              <a:off x="2127752" y="2828433"/>
              <a:ext cx="6300" cy="450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0" name="Google Shape;120;p19"/>
            <p:cNvCxnSpPr>
              <a:stCxn id="114" idx="3"/>
            </p:cNvCxnSpPr>
            <p:nvPr/>
          </p:nvCxnSpPr>
          <p:spPr>
            <a:xfrm rot="10800000" flipH="1">
              <a:off x="3042320" y="2409334"/>
              <a:ext cx="919800" cy="2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sp>
          <p:nvSpPr>
            <p:cNvPr id="121" name="Google Shape;121;p19"/>
            <p:cNvSpPr/>
            <p:nvPr/>
          </p:nvSpPr>
          <p:spPr>
            <a:xfrm>
              <a:off x="4074125" y="2124600"/>
              <a:ext cx="1031100" cy="5727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FFE5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fr" sz="2400" dirty="0"/>
                <a:t>1/RMSE</a:t>
              </a:r>
              <a:endParaRPr sz="2400" dirty="0"/>
            </a:p>
          </p:txBody>
        </p:sp>
        <p:sp>
          <p:nvSpPr>
            <p:cNvPr id="122" name="Google Shape;122;p19"/>
            <p:cNvSpPr txBox="1"/>
            <p:nvPr/>
          </p:nvSpPr>
          <p:spPr>
            <a:xfrm>
              <a:off x="2829145" y="2159797"/>
              <a:ext cx="1305955" cy="40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fr" sz="2400" dirty="0">
                  <a:solidFill>
                    <a:schemeClr val="dk1"/>
                  </a:solidFill>
                </a:rPr>
                <a:t>Weights</a:t>
              </a:r>
              <a:endParaRPr sz="2400" dirty="0">
                <a:solidFill>
                  <a:schemeClr val="dk1"/>
                </a:solidFill>
              </a:endParaRPr>
            </a:p>
          </p:txBody>
        </p:sp>
      </p:grpSp>
      <p:sp>
        <p:nvSpPr>
          <p:cNvPr id="123" name="Google Shape;123;p19"/>
          <p:cNvSpPr txBox="1"/>
          <p:nvPr/>
        </p:nvSpPr>
        <p:spPr>
          <a:xfrm>
            <a:off x="6770234" y="55380"/>
            <a:ext cx="5618000" cy="21584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fr" sz="2000" dirty="0">
                <a:solidFill>
                  <a:schemeClr val="dk2"/>
                </a:solidFill>
              </a:rPr>
              <a:t>How to consider the RMSE ?</a:t>
            </a:r>
            <a:endParaRPr sz="2000" dirty="0">
              <a:solidFill>
                <a:schemeClr val="dk2"/>
              </a:solidFill>
            </a:endParaRPr>
          </a:p>
          <a:p>
            <a:pPr marL="609585" indent="-431789">
              <a:buClr>
                <a:schemeClr val="dk2"/>
              </a:buClr>
              <a:buSzPts val="1500"/>
              <a:buChar char="●"/>
            </a:pPr>
            <a:r>
              <a:rPr lang="fr" sz="2000" dirty="0">
                <a:solidFill>
                  <a:schemeClr val="dk2"/>
                </a:solidFill>
              </a:rPr>
              <a:t>one RMSE by omic ? Average of RMSE of all samples in one omic ?</a:t>
            </a:r>
            <a:endParaRPr sz="2000" dirty="0">
              <a:solidFill>
                <a:schemeClr val="dk2"/>
              </a:solidFill>
            </a:endParaRPr>
          </a:p>
          <a:p>
            <a:pPr marL="609585" indent="-431789">
              <a:buClr>
                <a:schemeClr val="dk2"/>
              </a:buClr>
              <a:buSzPts val="1500"/>
              <a:buChar char="●"/>
            </a:pPr>
            <a:r>
              <a:rPr lang="fr" sz="2000" dirty="0">
                <a:solidFill>
                  <a:schemeClr val="dk2"/>
                </a:solidFill>
              </a:rPr>
              <a:t>one RMSE by sample and use it like that for integration ?</a:t>
            </a:r>
            <a:endParaRPr sz="2000" dirty="0">
              <a:solidFill>
                <a:schemeClr val="dk2"/>
              </a:solidFill>
            </a:endParaRPr>
          </a:p>
          <a:p>
            <a:pPr marL="609585" indent="-431789">
              <a:buClr>
                <a:schemeClr val="dk2"/>
              </a:buClr>
              <a:buSzPts val="1500"/>
              <a:buChar char="●"/>
            </a:pPr>
            <a:r>
              <a:rPr lang="fr" sz="2000" dirty="0">
                <a:solidFill>
                  <a:schemeClr val="dk2"/>
                </a:solidFill>
              </a:rPr>
              <a:t>what of normalization ?</a:t>
            </a:r>
            <a:endParaRPr sz="2000" dirty="0">
              <a:solidFill>
                <a:schemeClr val="dk2"/>
              </a:solidFill>
            </a:endParaRPr>
          </a:p>
          <a:p>
            <a:endParaRPr sz="2000" dirty="0">
              <a:solidFill>
                <a:schemeClr val="dk2"/>
              </a:solidFill>
            </a:endParaRPr>
          </a:p>
          <a:p>
            <a:endParaRPr sz="2000" dirty="0">
              <a:solidFill>
                <a:schemeClr val="dk2"/>
              </a:solidFill>
            </a:endParaRPr>
          </a:p>
          <a:p>
            <a:endParaRPr sz="2000" dirty="0">
              <a:solidFill>
                <a:schemeClr val="dk2"/>
              </a:solidFill>
            </a:endParaRPr>
          </a:p>
        </p:txBody>
      </p:sp>
      <p:sp>
        <p:nvSpPr>
          <p:cNvPr id="124" name="Google Shape;124;p1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anchor="ctr" anchorCtr="0" compatLnSpc="1">
            <a:normAutofit/>
          </a:bodyPr>
          <a:lstStyle/>
          <a:p>
            <a:pPr algn="r"/>
            <a:fld id="{00000000-1234-1234-1234-123412341234}" type="slidenum">
              <a:rPr lang="fr"/>
              <a:pPr algn="r"/>
              <a:t>9</a:t>
            </a:fld>
            <a:endParaRPr/>
          </a:p>
        </p:txBody>
      </p:sp>
      <p:sp>
        <p:nvSpPr>
          <p:cNvPr id="125" name="Google Shape;125;p19"/>
          <p:cNvSpPr txBox="1"/>
          <p:nvPr/>
        </p:nvSpPr>
        <p:spPr>
          <a:xfrm>
            <a:off x="5116667" y="3104254"/>
            <a:ext cx="7095200" cy="3146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</a:pPr>
            <a:r>
              <a:rPr lang="fr" sz="2000" dirty="0">
                <a:solidFill>
                  <a:schemeClr val="dk1"/>
                </a:solidFill>
              </a:rPr>
              <a:t>•</a:t>
            </a:r>
            <a:r>
              <a:rPr lang="fr" sz="2000" dirty="0">
                <a:solidFill>
                  <a:srgbClr val="242269"/>
                </a:solidFill>
              </a:rPr>
              <a:t>Other methods than RMSE -&gt; </a:t>
            </a:r>
            <a:r>
              <a:rPr lang="fr" sz="2000" b="1" dirty="0">
                <a:solidFill>
                  <a:srgbClr val="242269"/>
                </a:solidFill>
              </a:rPr>
              <a:t>EnsDeconV</a:t>
            </a:r>
            <a:endParaRPr sz="2000" b="1" dirty="0">
              <a:solidFill>
                <a:srgbClr val="242269"/>
              </a:solidFill>
            </a:endParaRPr>
          </a:p>
          <a:p>
            <a:pPr marL="609585">
              <a:lnSpc>
                <a:spcPct val="115000"/>
              </a:lnSpc>
              <a:spcBef>
                <a:spcPts val="533"/>
              </a:spcBef>
            </a:pPr>
            <a:r>
              <a:rPr lang="fr" sz="2000" dirty="0">
                <a:solidFill>
                  <a:schemeClr val="dk1"/>
                </a:solidFill>
              </a:rPr>
              <a:t>-</a:t>
            </a:r>
            <a:r>
              <a:rPr lang="fr" sz="2000" i="1" dirty="0">
                <a:solidFill>
                  <a:srgbClr val="92D050"/>
                </a:solidFill>
              </a:rPr>
              <a:t>CTS_EnsDeconv_LS.R </a:t>
            </a:r>
            <a:r>
              <a:rPr lang="fr" sz="2000" dirty="0">
                <a:solidFill>
                  <a:srgbClr val="92D050"/>
                </a:solidFill>
              </a:rPr>
              <a:t>-&gt; add documentation</a:t>
            </a:r>
            <a:endParaRPr sz="2000" dirty="0">
              <a:solidFill>
                <a:srgbClr val="92D050"/>
              </a:solidFill>
            </a:endParaRPr>
          </a:p>
          <a:p>
            <a:pPr marL="609585">
              <a:lnSpc>
                <a:spcPct val="115000"/>
              </a:lnSpc>
              <a:spcBef>
                <a:spcPts val="533"/>
              </a:spcBef>
            </a:pPr>
            <a:r>
              <a:rPr lang="fr" sz="2000" dirty="0">
                <a:solidFill>
                  <a:schemeClr val="dk1"/>
                </a:solidFill>
              </a:rPr>
              <a:t>-</a:t>
            </a:r>
            <a:r>
              <a:rPr lang="fr" sz="2000" dirty="0">
                <a:solidFill>
                  <a:srgbClr val="92D050"/>
                </a:solidFill>
              </a:rPr>
              <a:t>List (or 3D tensor) of estimated cellular ratios(</a:t>
            </a:r>
            <a:r>
              <a:rPr lang="fr" sz="2000" i="1" dirty="0">
                <a:solidFill>
                  <a:srgbClr val="92D050"/>
                </a:solidFill>
              </a:rPr>
              <a:t>D</a:t>
            </a:r>
            <a:r>
              <a:rPr lang="fr" sz="2000" dirty="0">
                <a:solidFill>
                  <a:srgbClr val="92D050"/>
                </a:solidFill>
              </a:rPr>
              <a:t> experiences * </a:t>
            </a:r>
            <a:r>
              <a:rPr lang="fr" sz="2000" i="1" dirty="0">
                <a:solidFill>
                  <a:srgbClr val="92D050"/>
                </a:solidFill>
              </a:rPr>
              <a:t>N</a:t>
            </a:r>
            <a:r>
              <a:rPr lang="fr" sz="2000" dirty="0">
                <a:solidFill>
                  <a:srgbClr val="92D050"/>
                </a:solidFill>
              </a:rPr>
              <a:t> samples * </a:t>
            </a:r>
            <a:r>
              <a:rPr lang="fr" sz="2000" i="1" dirty="0">
                <a:solidFill>
                  <a:srgbClr val="92D050"/>
                </a:solidFill>
              </a:rPr>
              <a:t>K</a:t>
            </a:r>
            <a:r>
              <a:rPr lang="fr" sz="2000" dirty="0">
                <a:solidFill>
                  <a:srgbClr val="92D050"/>
                </a:solidFill>
              </a:rPr>
              <a:t> cell types)</a:t>
            </a:r>
            <a:endParaRPr sz="2000" dirty="0">
              <a:solidFill>
                <a:srgbClr val="92D050"/>
              </a:solidFill>
            </a:endParaRPr>
          </a:p>
          <a:p>
            <a:pPr marL="609585">
              <a:lnSpc>
                <a:spcPct val="115000"/>
              </a:lnSpc>
              <a:spcBef>
                <a:spcPts val="533"/>
              </a:spcBef>
            </a:pPr>
            <a:r>
              <a:rPr lang="fr" sz="2000" dirty="0">
                <a:solidFill>
                  <a:schemeClr val="dk1"/>
                </a:solidFill>
              </a:rPr>
              <a:t>-</a:t>
            </a:r>
            <a:r>
              <a:rPr lang="fr" sz="2000" dirty="0">
                <a:solidFill>
                  <a:srgbClr val="92D050"/>
                </a:solidFill>
              </a:rPr>
              <a:t>Robust regression with unit-simplex enforcing</a:t>
            </a:r>
            <a:endParaRPr sz="2000" dirty="0">
              <a:solidFill>
                <a:srgbClr val="92D050"/>
              </a:solidFill>
            </a:endParaRPr>
          </a:p>
          <a:p>
            <a:pPr marL="609585">
              <a:lnSpc>
                <a:spcPct val="115000"/>
              </a:lnSpc>
              <a:spcBef>
                <a:spcPts val="533"/>
              </a:spcBef>
            </a:pPr>
            <a:r>
              <a:rPr lang="fr" sz="2000" dirty="0">
                <a:solidFill>
                  <a:schemeClr val="dk1"/>
                </a:solidFill>
              </a:rPr>
              <a:t>-</a:t>
            </a:r>
            <a:r>
              <a:rPr lang="fr" sz="2000" dirty="0">
                <a:solidFill>
                  <a:srgbClr val="92D050"/>
                </a:solidFill>
              </a:rPr>
              <a:t>Enhanced granularity (cell type + omic category)</a:t>
            </a:r>
            <a:endParaRPr sz="2000" dirty="0">
              <a:solidFill>
                <a:srgbClr val="92D050"/>
              </a:solidFill>
            </a:endParaRPr>
          </a:p>
          <a:p>
            <a:pPr marL="609585">
              <a:lnSpc>
                <a:spcPct val="115000"/>
              </a:lnSpc>
              <a:spcBef>
                <a:spcPts val="533"/>
              </a:spcBef>
            </a:pPr>
            <a:r>
              <a:rPr lang="fr" sz="2000" dirty="0">
                <a:solidFill>
                  <a:schemeClr val="dk1"/>
                </a:solidFill>
              </a:rPr>
              <a:t>-</a:t>
            </a:r>
            <a:r>
              <a:rPr lang="fr" sz="2000" dirty="0">
                <a:solidFill>
                  <a:srgbClr val="FF0000"/>
                </a:solidFill>
              </a:rPr>
              <a:t>Unexplained hyper-parameters</a:t>
            </a:r>
            <a:endParaRPr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anchor="t" anchorCtr="0" compatLnSpc="1">
            <a:normAutofit fontScale="90000"/>
          </a:bodyPr>
          <a:lstStyle/>
          <a:p>
            <a:pPr>
              <a:lnSpc>
                <a:spcPct val="115000"/>
              </a:lnSpc>
            </a:pPr>
            <a:r>
              <a:rPr lang="fr" sz="3400">
                <a:solidFill>
                  <a:schemeClr val="dk2"/>
                </a:solidFill>
              </a:rPr>
              <a:t>Learning: Epidish and its variants</a:t>
            </a:r>
            <a:endParaRPr sz="3400">
              <a:solidFill>
                <a:schemeClr val="dk2"/>
              </a:solidFill>
            </a:endParaRPr>
          </a:p>
          <a:p>
            <a:pPr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</a:pPr>
            <a:r>
              <a:rPr lang="fr" sz="2400">
                <a:solidFill>
                  <a:schemeClr val="dk2"/>
                </a:solidFill>
              </a:rPr>
              <a:t> </a:t>
            </a:r>
            <a:endParaRPr/>
          </a:p>
        </p:txBody>
      </p:sp>
      <p:sp>
        <p:nvSpPr>
          <p:cNvPr id="95" name="Google Shape;95;p17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anchor="t" anchorCtr="0" compatLnSpc="1">
            <a:normAutofit/>
          </a:bodyPr>
          <a:lstStyle/>
          <a:p>
            <a:pPr marL="0" indent="0">
              <a:spcAft>
                <a:spcPts val="1600"/>
              </a:spcAft>
              <a:buNone/>
            </a:pPr>
            <a:endParaRPr/>
          </a:p>
        </p:txBody>
      </p:sp>
      <p:sp>
        <p:nvSpPr>
          <p:cNvPr id="96" name="Google Shape;96;p1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anchor="ctr" anchorCtr="0" compatLnSpc="1">
            <a:normAutofit/>
          </a:bodyPr>
          <a:lstStyle/>
          <a:p>
            <a:pPr algn="r"/>
            <a:fld id="{00000000-1234-1234-1234-123412341234}" type="slidenum">
              <a:rPr lang="fr"/>
              <a:pPr algn="r"/>
              <a:t>10</a:t>
            </a:fld>
            <a:endParaRPr/>
          </a:p>
        </p:txBody>
      </p:sp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086725-BEFC-5824-C649-53A471B4CD76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0FEE4E4-9154-473B-BE02-7AD2CD0DCB0A}" type="slidenum">
              <a:rPr lang="en-GB" smtClean="0">
                <a:solidFill>
                  <a:srgbClr val="002060"/>
                </a:solidFill>
                <a:latin typeface="+mn-lt"/>
              </a:rPr>
              <a:t>11</a:t>
            </a:fld>
            <a:endParaRPr lang="en-GB">
              <a:solidFill>
                <a:srgbClr val="002060"/>
              </a:solidFill>
              <a:latin typeface="+mn-lt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71C7CEB-C198-DBA5-66C7-7FA86998B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367" y="106201"/>
            <a:ext cx="10475915" cy="841250"/>
          </a:xfrm>
        </p:spPr>
        <p:txBody>
          <a:bodyPr/>
          <a:lstStyle/>
          <a:p>
            <a:r>
              <a:rPr lang="en-GB" dirty="0">
                <a:solidFill>
                  <a:srgbClr val="002060"/>
                </a:solidFill>
                <a:latin typeface="+mn-lt"/>
              </a:rPr>
              <a:t>Academic collaborations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ACE8F5-0858-FDA5-B48A-AAB37D7560EC}"/>
              </a:ext>
            </a:extLst>
          </p:cNvPr>
          <p:cNvSpPr txBox="1"/>
          <p:nvPr/>
        </p:nvSpPr>
        <p:spPr>
          <a:xfrm>
            <a:off x="122367" y="665077"/>
            <a:ext cx="1127118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2060"/>
                </a:solidFill>
              </a:rPr>
              <a:t>Post-</a:t>
            </a:r>
            <a:r>
              <a:rPr lang="en-GB" b="1" dirty="0" err="1">
                <a:solidFill>
                  <a:srgbClr val="002060"/>
                </a:solidFill>
              </a:rPr>
              <a:t>HaDaCa</a:t>
            </a:r>
            <a:r>
              <a:rPr lang="en-GB" b="1" dirty="0">
                <a:solidFill>
                  <a:srgbClr val="002060"/>
                </a:solidFill>
              </a:rPr>
              <a:t> 2025, in close collaboration with Magali Richard, </a:t>
            </a:r>
            <a:r>
              <a:rPr lang="en-GB" b="1" dirty="0" err="1">
                <a:solidFill>
                  <a:srgbClr val="002060"/>
                </a:solidFill>
              </a:rPr>
              <a:t>Anaïs</a:t>
            </a:r>
            <a:r>
              <a:rPr lang="en-GB" b="1" dirty="0">
                <a:solidFill>
                  <a:srgbClr val="002060"/>
                </a:solidFill>
              </a:rPr>
              <a:t> Baudot, and Yuna Blum's teams :</a:t>
            </a:r>
          </a:p>
          <a:p>
            <a:endParaRPr lang="en-GB" dirty="0">
              <a:solidFill>
                <a:srgbClr val="002060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GB" dirty="0" err="1">
                <a:solidFill>
                  <a:srgbClr val="002060"/>
                </a:solidFill>
              </a:rPr>
              <a:t>HaDaCa</a:t>
            </a:r>
            <a:r>
              <a:rPr lang="en-GB" dirty="0">
                <a:solidFill>
                  <a:srgbClr val="002060"/>
                </a:solidFill>
              </a:rPr>
              <a:t> 3</a:t>
            </a:r>
            <a:r>
              <a:rPr lang="en-GB" baseline="30000" dirty="0">
                <a:solidFill>
                  <a:srgbClr val="002060"/>
                </a:solidFill>
              </a:rPr>
              <a:t>rd</a:t>
            </a:r>
            <a:r>
              <a:rPr lang="en-GB" dirty="0">
                <a:solidFill>
                  <a:srgbClr val="002060"/>
                </a:solidFill>
              </a:rPr>
              <a:t> edition paper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GB" dirty="0">
                <a:solidFill>
                  <a:srgbClr val="002060"/>
                </a:solidFill>
              </a:rPr>
              <a:t>EMBO mobility grants, between Francesca </a:t>
            </a:r>
            <a:r>
              <a:rPr lang="en-GB" dirty="0" err="1">
                <a:solidFill>
                  <a:srgbClr val="002060"/>
                </a:solidFill>
              </a:rPr>
              <a:t>Finotello’s</a:t>
            </a:r>
            <a:r>
              <a:rPr lang="en-GB" dirty="0">
                <a:solidFill>
                  <a:srgbClr val="002060"/>
                </a:solidFill>
              </a:rPr>
              <a:t> lab and </a:t>
            </a:r>
            <a:r>
              <a:rPr lang="en-GB" dirty="0" err="1">
                <a:solidFill>
                  <a:srgbClr val="002060"/>
                </a:solidFill>
              </a:rPr>
              <a:t>Savandara</a:t>
            </a:r>
            <a:r>
              <a:rPr lang="en-GB" dirty="0">
                <a:solidFill>
                  <a:srgbClr val="002060"/>
                </a:solidFill>
              </a:rPr>
              <a:t> </a:t>
            </a:r>
            <a:r>
              <a:rPr lang="en-GB" dirty="0" err="1">
                <a:solidFill>
                  <a:srgbClr val="002060"/>
                </a:solidFill>
              </a:rPr>
              <a:t>besse</a:t>
            </a:r>
            <a:r>
              <a:rPr lang="en-GB" dirty="0">
                <a:solidFill>
                  <a:srgbClr val="002060"/>
                </a:solidFill>
              </a:rPr>
              <a:t>, for developing first deconvolution methods applied to Drosophila samples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GB" dirty="0">
                <a:solidFill>
                  <a:srgbClr val="002060"/>
                </a:solidFill>
              </a:rPr>
              <a:t>Organizing a two-day workshop on deconvolution algorithms aimed at non-expert users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GB" dirty="0">
                <a:solidFill>
                  <a:srgbClr val="002060"/>
                </a:solidFill>
              </a:rPr>
              <a:t>Planning a "lightweight" edition of the next </a:t>
            </a:r>
            <a:r>
              <a:rPr lang="en-GB" dirty="0" err="1">
                <a:solidFill>
                  <a:srgbClr val="002060"/>
                </a:solidFill>
              </a:rPr>
              <a:t>HaDaCa</a:t>
            </a:r>
            <a:r>
              <a:rPr lang="en-GB" dirty="0">
                <a:solidFill>
                  <a:srgbClr val="002060"/>
                </a:solidFill>
              </a:rPr>
              <a:t> challenge, possibly integrated into an existing Hackathon event (such as </a:t>
            </a:r>
            <a:r>
              <a:rPr lang="en-GB" dirty="0" err="1">
                <a:solidFill>
                  <a:srgbClr val="002060"/>
                </a:solidFill>
              </a:rPr>
              <a:t>BioHackathon</a:t>
            </a:r>
            <a:r>
              <a:rPr lang="en-GB" dirty="0">
                <a:solidFill>
                  <a:srgbClr val="002060"/>
                </a:solidFill>
              </a:rPr>
              <a:t> Elixir or DE.NBI Elixir Hackathons)</a:t>
            </a:r>
          </a:p>
          <a:p>
            <a:pPr lvl="1"/>
            <a:endParaRPr lang="en-GB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060"/>
                </a:solidFill>
              </a:rPr>
              <a:t>Post </a:t>
            </a:r>
            <a:r>
              <a:rPr lang="en-GB" dirty="0" err="1">
                <a:solidFill>
                  <a:srgbClr val="002060"/>
                </a:solidFill>
              </a:rPr>
              <a:t>HaDaCa</a:t>
            </a:r>
            <a:r>
              <a:rPr lang="en-GB" dirty="0">
                <a:solidFill>
                  <a:srgbClr val="002060"/>
                </a:solidFill>
              </a:rPr>
              <a:t> 2026: 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GB" dirty="0">
                <a:solidFill>
                  <a:srgbClr val="002060"/>
                </a:solidFill>
              </a:rPr>
              <a:t>Ambitious workshop, applied for Elixir EMBL-EBI grants: </a:t>
            </a:r>
          </a:p>
          <a:p>
            <a:pPr lvl="2">
              <a:buFont typeface="+mj-lt"/>
              <a:buAutoNum type="arabicPeriod"/>
            </a:pPr>
            <a:r>
              <a:rPr lang="en-GB" b="1" dirty="0">
                <a:solidFill>
                  <a:srgbClr val="002060"/>
                </a:solidFill>
                <a:effectLst/>
              </a:rPr>
              <a:t>Day 1</a:t>
            </a:r>
            <a:r>
              <a:rPr lang="en-GB" b="0" dirty="0">
                <a:solidFill>
                  <a:srgbClr val="002060"/>
                </a:solidFill>
                <a:effectLst/>
              </a:rPr>
              <a:t>: </a:t>
            </a:r>
            <a:r>
              <a:rPr lang="en-GB" b="0" i="1" dirty="0" err="1">
                <a:solidFill>
                  <a:srgbClr val="002060"/>
                </a:solidFill>
                <a:effectLst/>
              </a:rPr>
              <a:t>immunedeconv</a:t>
            </a:r>
            <a:r>
              <a:rPr lang="en-GB" b="0" dirty="0">
                <a:solidFill>
                  <a:srgbClr val="002060"/>
                </a:solidFill>
                <a:effectLst/>
              </a:rPr>
              <a:t> and</a:t>
            </a:r>
            <a:r>
              <a:rPr lang="en-GB" b="1" dirty="0">
                <a:solidFill>
                  <a:srgbClr val="002060"/>
                </a:solidFill>
                <a:effectLst/>
              </a:rPr>
              <a:t> bulk transcriptome</a:t>
            </a:r>
            <a:endParaRPr lang="en-GB" b="0" dirty="0">
              <a:solidFill>
                <a:srgbClr val="002060"/>
              </a:solidFill>
              <a:effectLst/>
            </a:endParaRPr>
          </a:p>
          <a:p>
            <a:pPr lvl="2">
              <a:buFont typeface="+mj-lt"/>
              <a:buAutoNum type="arabicPeriod"/>
            </a:pPr>
            <a:r>
              <a:rPr lang="en-GB" b="1" dirty="0">
                <a:solidFill>
                  <a:srgbClr val="002060"/>
                </a:solidFill>
                <a:effectLst/>
              </a:rPr>
              <a:t>Day 2</a:t>
            </a:r>
            <a:r>
              <a:rPr lang="en-GB" b="0" dirty="0">
                <a:solidFill>
                  <a:srgbClr val="002060"/>
                </a:solidFill>
                <a:effectLst/>
              </a:rPr>
              <a:t>: </a:t>
            </a:r>
            <a:r>
              <a:rPr lang="en-GB" b="0" i="1" dirty="0" err="1">
                <a:solidFill>
                  <a:srgbClr val="002060"/>
                </a:solidFill>
                <a:effectLst/>
              </a:rPr>
              <a:t>omnideconv</a:t>
            </a:r>
            <a:r>
              <a:rPr lang="en-GB" b="0" dirty="0">
                <a:solidFill>
                  <a:srgbClr val="002060"/>
                </a:solidFill>
                <a:effectLst/>
              </a:rPr>
              <a:t> and </a:t>
            </a:r>
            <a:r>
              <a:rPr lang="en-GB" b="1" dirty="0">
                <a:solidFill>
                  <a:srgbClr val="002060"/>
                </a:solidFill>
                <a:effectLst/>
              </a:rPr>
              <a:t>single-cell </a:t>
            </a:r>
            <a:r>
              <a:rPr lang="en-GB" b="1" dirty="0" err="1">
                <a:solidFill>
                  <a:srgbClr val="002060"/>
                </a:solidFill>
                <a:effectLst/>
              </a:rPr>
              <a:t>RNASeq</a:t>
            </a:r>
            <a:r>
              <a:rPr lang="en-GB" b="0" dirty="0">
                <a:solidFill>
                  <a:srgbClr val="002060"/>
                </a:solidFill>
                <a:effectLst/>
              </a:rPr>
              <a:t> guidelines</a:t>
            </a:r>
          </a:p>
          <a:p>
            <a:pPr lvl="2">
              <a:buFont typeface="+mj-lt"/>
              <a:buAutoNum type="arabicPeriod"/>
            </a:pPr>
            <a:r>
              <a:rPr lang="en-GB" b="1" dirty="0">
                <a:solidFill>
                  <a:srgbClr val="002060"/>
                </a:solidFill>
                <a:effectLst/>
              </a:rPr>
              <a:t>Day 3</a:t>
            </a:r>
            <a:r>
              <a:rPr lang="en-GB" b="0" dirty="0">
                <a:solidFill>
                  <a:srgbClr val="002060"/>
                </a:solidFill>
                <a:effectLst/>
              </a:rPr>
              <a:t>: </a:t>
            </a:r>
            <a:r>
              <a:rPr lang="en-GB" b="0" i="1" dirty="0" err="1">
                <a:solidFill>
                  <a:srgbClr val="002060"/>
                </a:solidFill>
                <a:effectLst/>
              </a:rPr>
              <a:t>spacedeconv</a:t>
            </a:r>
            <a:r>
              <a:rPr lang="en-GB" b="0" dirty="0">
                <a:solidFill>
                  <a:srgbClr val="002060"/>
                </a:solidFill>
                <a:effectLst/>
              </a:rPr>
              <a:t> and </a:t>
            </a:r>
            <a:r>
              <a:rPr lang="en-GB" b="1" dirty="0">
                <a:solidFill>
                  <a:srgbClr val="002060"/>
                </a:solidFill>
                <a:effectLst/>
              </a:rPr>
              <a:t>spatial deconvolution algorithms</a:t>
            </a:r>
            <a:r>
              <a:rPr lang="en-GB" b="0" dirty="0">
                <a:solidFill>
                  <a:srgbClr val="002060"/>
                </a:solidFill>
                <a:effectLst/>
              </a:rPr>
              <a:t>. </a:t>
            </a:r>
          </a:p>
          <a:p>
            <a:pPr lvl="2">
              <a:buFont typeface="+mj-lt"/>
              <a:buAutoNum type="arabicPeriod"/>
            </a:pPr>
            <a:r>
              <a:rPr lang="en-GB" b="1" dirty="0">
                <a:solidFill>
                  <a:srgbClr val="002060"/>
                </a:solidFill>
                <a:effectLst/>
              </a:rPr>
              <a:t> Day 4: Multi-omics integration + </a:t>
            </a:r>
            <a:r>
              <a:rPr lang="en-GB" b="0" dirty="0">
                <a:solidFill>
                  <a:srgbClr val="002060"/>
                </a:solidFill>
                <a:effectLst/>
              </a:rPr>
              <a:t>methylation </a:t>
            </a:r>
          </a:p>
          <a:p>
            <a:pPr lvl="2">
              <a:buFont typeface="+mj-lt"/>
              <a:buAutoNum type="arabicPeriod"/>
            </a:pPr>
            <a:r>
              <a:rPr lang="en-GB" b="1" dirty="0">
                <a:solidFill>
                  <a:srgbClr val="002060"/>
                </a:solidFill>
                <a:effectLst/>
              </a:rPr>
              <a:t>Day 5: additional free time</a:t>
            </a:r>
            <a:r>
              <a:rPr lang="en-GB" b="0" dirty="0">
                <a:solidFill>
                  <a:srgbClr val="002060"/>
                </a:solidFill>
                <a:effectLst/>
              </a:rPr>
              <a:t> to run own analyses + </a:t>
            </a:r>
            <a:r>
              <a:rPr lang="en-GB" b="1" dirty="0" err="1">
                <a:solidFill>
                  <a:srgbClr val="002060"/>
                </a:solidFill>
                <a:effectLst/>
              </a:rPr>
              <a:t>DeconvBench</a:t>
            </a:r>
            <a:r>
              <a:rPr lang="en-GB" b="1" dirty="0">
                <a:solidFill>
                  <a:srgbClr val="002060"/>
                </a:solidFill>
                <a:effectLst/>
              </a:rPr>
              <a:t> </a:t>
            </a:r>
            <a:r>
              <a:rPr lang="en-GB" dirty="0">
                <a:solidFill>
                  <a:srgbClr val="002060"/>
                </a:solidFill>
                <a:effectLst/>
              </a:rPr>
              <a:t>+ </a:t>
            </a:r>
            <a:r>
              <a:rPr lang="en-GB" i="1" dirty="0" err="1">
                <a:solidFill>
                  <a:srgbClr val="002060"/>
                </a:solidFill>
                <a:effectLst/>
              </a:rPr>
              <a:t>CellTFusion</a:t>
            </a:r>
            <a:r>
              <a:rPr lang="en-GB" dirty="0">
                <a:solidFill>
                  <a:srgbClr val="002060"/>
                </a:solidFill>
                <a:effectLst/>
              </a:rPr>
              <a:t>.</a:t>
            </a:r>
            <a:r>
              <a:rPr lang="en-GB" b="0" dirty="0">
                <a:solidFill>
                  <a:srgbClr val="002060"/>
                </a:solidFill>
                <a:effectLst/>
              </a:rPr>
              <a:t> </a:t>
            </a:r>
          </a:p>
          <a:p>
            <a:pPr lvl="2">
              <a:buFont typeface="+mj-lt"/>
              <a:buAutoNum type="arabicPeriod"/>
            </a:pPr>
            <a:endParaRPr lang="en-GB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dirty="0">
                <a:solidFill>
                  <a:srgbClr val="002060"/>
                </a:solidFill>
                <a:effectLst/>
              </a:rPr>
              <a:t>Post </a:t>
            </a:r>
            <a:r>
              <a:rPr lang="en-GB" b="0" dirty="0" err="1">
                <a:solidFill>
                  <a:srgbClr val="002060"/>
                </a:solidFill>
                <a:effectLst/>
              </a:rPr>
              <a:t>HaDaCa</a:t>
            </a:r>
            <a:r>
              <a:rPr lang="en-GB" b="0" dirty="0">
                <a:solidFill>
                  <a:srgbClr val="002060"/>
                </a:solidFill>
                <a:effectLst/>
              </a:rPr>
              <a:t> 2027 (admittedly unrealistic): MSCA COFUND or Staff Grants.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GB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8947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26D92-8022-C8FD-D0C5-4E14F48F8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A014BE-DA40-336D-CB39-29C545EB8F61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0FEE4E4-9154-473B-BE02-7AD2CD0DCB0A}" type="slidenum">
              <a:rPr lang="en-GB" smtClean="0"/>
              <a:t>12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504BD2-56D0-B0C9-564A-A3F665AC2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367" y="106201"/>
            <a:ext cx="10475915" cy="841250"/>
          </a:xfrm>
        </p:spPr>
        <p:txBody>
          <a:bodyPr/>
          <a:lstStyle/>
          <a:p>
            <a:r>
              <a:rPr lang="en-GB" dirty="0"/>
              <a:t>Academic collaborations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26D1B0-05C7-DA11-CBC7-FB4E3CBD08C0}"/>
              </a:ext>
            </a:extLst>
          </p:cNvPr>
          <p:cNvSpPr txBox="1"/>
          <p:nvPr/>
        </p:nvSpPr>
        <p:spPr>
          <a:xfrm>
            <a:off x="242369" y="1266939"/>
            <a:ext cx="1076348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800" kern="150" dirty="0">
                <a:latin typeface="Century Gothic" panose="020B0502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France Canada Research Fund: </a:t>
            </a:r>
            <a:r>
              <a:rPr lang="en-GB" dirty="0">
                <a:effectLst/>
                <a:hlinkClick r:id="rId2"/>
              </a:rPr>
              <a:t>https://vancouver.consulfrance.org/Canada-Research-Fund-2025</a:t>
            </a:r>
            <a:r>
              <a:rPr lang="en-GB" dirty="0">
                <a:effectLst/>
              </a:rPr>
              <a:t> + similar grants: </a:t>
            </a:r>
            <a:r>
              <a:rPr lang="en-GB" dirty="0">
                <a:effectLst/>
                <a:hlinkClick r:id="rId3"/>
              </a:rPr>
              <a:t>https://vancouver.consulfrance.org/IMG/pdf/guidelines-fcrf-2025_en.pdf?7284/759f994afdd0190449bbc7fdc185f6de834abd45</a:t>
            </a:r>
            <a:r>
              <a:rPr lang="en-GB" dirty="0">
                <a:effectLst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effectLst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GB" dirty="0"/>
              <a:t>Application reopening on September 9</a:t>
            </a:r>
            <a:r>
              <a:rPr lang="en-GB" baseline="30000" dirty="0"/>
              <a:t>th</a:t>
            </a:r>
            <a:r>
              <a:rPr lang="en-GB" dirty="0"/>
              <a:t>, 2025 -&gt; closed for this year.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GB" dirty="0"/>
              <a:t>Includes University Laval.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GB" dirty="0"/>
              <a:t>Funds ranging from 8,000 to 15,000 CAD., applications from PIs only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GB" dirty="0"/>
              <a:t>Scientific project must be interdisciplinary, innovative, implying </a:t>
            </a:r>
            <a:r>
              <a:rPr lang="en-GB" dirty="0" err="1"/>
              <a:t>Ph.Ds</a:t>
            </a:r>
            <a:r>
              <a:rPr lang="en-GB" dirty="0"/>
              <a:t>,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GB" dirty="0"/>
              <a:t>To be paired with </a:t>
            </a:r>
            <a:r>
              <a:rPr lang="en-GB" dirty="0" err="1"/>
              <a:t>l’Oréal</a:t>
            </a:r>
            <a:r>
              <a:rPr lang="en-GB" dirty="0"/>
              <a:t> Canada + Laura Cantini (</a:t>
            </a:r>
            <a:r>
              <a:rPr lang="en-GB" dirty="0" err="1"/>
              <a:t>l’Oréal</a:t>
            </a:r>
            <a:r>
              <a:rPr lang="en-GB" dirty="0"/>
              <a:t> Grant for innovative women).</a:t>
            </a:r>
          </a:p>
          <a:p>
            <a:pPr lvl="1"/>
            <a:endParaRPr lang="en-GB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Alternatively, applies for visiting scientific visits: </a:t>
            </a:r>
            <a:r>
              <a:rPr lang="en-GB" dirty="0">
                <a:hlinkClick r:id="rId4"/>
              </a:rPr>
              <a:t>https://vancouver.consulfrance.org/Visiting-Scientist-from-France-2025</a:t>
            </a:r>
            <a:r>
              <a:rPr lang="en-GB" dirty="0"/>
              <a:t>. 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388965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6384A-9E38-7AF3-86F4-13FCD5521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0A1C04-4182-584B-588B-28C006921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693" y="0"/>
            <a:ext cx="10475915" cy="2216624"/>
          </a:xfrm>
        </p:spPr>
        <p:txBody>
          <a:bodyPr/>
          <a:lstStyle/>
          <a:p>
            <a:pPr algn="ctr"/>
            <a:r>
              <a:rPr lang="en-GB" dirty="0"/>
              <a:t>Miscellaneous perspectives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DFB29C2-0FB5-99AB-BECC-047D3B16E5F1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73808" y="754261"/>
            <a:ext cx="10475915" cy="5137721"/>
          </a:xfrm>
        </p:spPr>
        <p:txBody>
          <a:bodyPr/>
          <a:lstStyle/>
          <a:p>
            <a:r>
              <a:rPr lang="en-GB" b="1" dirty="0">
                <a:latin typeface="+mn-lt"/>
              </a:rPr>
              <a:t>Personal paper projects</a:t>
            </a:r>
          </a:p>
          <a:p>
            <a:endParaRPr lang="en-GB" dirty="0">
              <a:latin typeface="+mn-lt"/>
            </a:endParaRPr>
          </a:p>
          <a:p>
            <a:pPr marL="742950" lvl="1" indent="-285750">
              <a:spcAft>
                <a:spcPts val="800"/>
              </a:spcAft>
              <a:buFont typeface="+mj-lt"/>
              <a:buAutoNum type="alphaLcPeriod"/>
            </a:pPr>
            <a:r>
              <a:rPr lang="en-GB" sz="1400" kern="150" dirty="0"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Generate first deconvolution algorithms for retrieving the composition of bulk Drosophila samples: </a:t>
            </a:r>
            <a:r>
              <a:rPr lang="en-GB" sz="1400" kern="150" dirty="0">
                <a:latin typeface="+mn-lt"/>
                <a:ea typeface="Aptos" panose="020B0004020202020204" pitchFamily="34" charset="0"/>
                <a:cs typeface="Arial" panose="020B0604020202020204" pitchFamily="34" charset="0"/>
                <a:hlinkClick r:id="rId2"/>
              </a:rPr>
              <a:t>https://github.com/bastienchassagnol/DrosophiliaDeconv</a:t>
            </a:r>
            <a:r>
              <a:rPr lang="en-GB" sz="1400" kern="150" dirty="0"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</a:p>
          <a:p>
            <a:pPr marL="742950" lvl="1" indent="-285750">
              <a:spcAft>
                <a:spcPts val="800"/>
              </a:spcAft>
              <a:buFont typeface="+mj-lt"/>
              <a:buAutoNum type="alphaLcPeriod"/>
            </a:pPr>
            <a:r>
              <a:rPr lang="en-GB" sz="1400" kern="150" dirty="0"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Use mixture-model-based filtering approaches followed by comprehensive to compare and evaluate the impact of removing lowly expressed genes on downstream analyses: (</a:t>
            </a:r>
            <a:r>
              <a:rPr lang="en-GB" sz="1400" kern="150" dirty="0">
                <a:latin typeface="+mn-lt"/>
                <a:ea typeface="Aptos" panose="020B0004020202020204" pitchFamily="34" charset="0"/>
                <a:cs typeface="Arial" panose="020B0604020202020204" pitchFamily="34" charset="0"/>
                <a:hlinkClick r:id="rId3"/>
              </a:rPr>
              <a:t>https://sites.google.com/view/ascona2025/committees</a:t>
            </a:r>
            <a:r>
              <a:rPr lang="en-GB" sz="1400" kern="150" dirty="0"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 with Mark Robinson and Andrea Rau? Extension of </a:t>
            </a:r>
            <a:r>
              <a:rPr lang="en-GB" sz="1400" i="1" kern="150" dirty="0" err="1"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HTSfilter</a:t>
            </a:r>
            <a:r>
              <a:rPr lang="en-GB" sz="1400" kern="150" dirty="0"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, tailored for bulk transcriptomic, to single cell </a:t>
            </a:r>
            <a:r>
              <a:rPr lang="en-GB" sz="1400" kern="150" dirty="0" err="1"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RNASeq</a:t>
            </a:r>
            <a:r>
              <a:rPr lang="en-GB" sz="1400" kern="150" dirty="0"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?</a:t>
            </a:r>
          </a:p>
          <a:p>
            <a:pPr marL="742950" lvl="1" indent="-285750">
              <a:spcAft>
                <a:spcPts val="800"/>
              </a:spcAft>
              <a:buFont typeface="+mj-lt"/>
              <a:buAutoNum type="alphaLcPeriod"/>
            </a:pPr>
            <a:r>
              <a:rPr lang="en-GB" sz="1400" kern="150" dirty="0"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Optimise DeCovarT model (generative model, MLE or Bayesian, derive CIs, ..) with Gregory </a:t>
            </a:r>
            <a:r>
              <a:rPr lang="en-GB" sz="1400" kern="150" dirty="0" err="1"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Nuel</a:t>
            </a:r>
            <a:r>
              <a:rPr lang="en-GB" sz="1400" kern="150" dirty="0"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 (or any Canadian or American stat expert, like </a:t>
            </a:r>
            <a:r>
              <a:rPr lang="en-GB" sz="1400" b="1" dirty="0">
                <a:solidFill>
                  <a:srgbClr val="000000"/>
                </a:solidFill>
                <a:effectLst/>
                <a:latin typeface="+mn-lt"/>
              </a:rPr>
              <a:t>Rafael A. Irizarry </a:t>
            </a:r>
            <a:r>
              <a:rPr lang="en-GB" sz="1400" dirty="0">
                <a:solidFill>
                  <a:srgbClr val="000000"/>
                </a:solidFill>
                <a:effectLst/>
                <a:latin typeface="+mn-lt"/>
              </a:rPr>
              <a:t>who implemented a mixture </a:t>
            </a:r>
            <a:r>
              <a:rPr lang="en-GB" sz="1400" dirty="0" err="1">
                <a:solidFill>
                  <a:srgbClr val="000000"/>
                </a:solidFill>
                <a:effectLst/>
                <a:latin typeface="+mn-lt"/>
              </a:rPr>
              <a:t>Poissong</a:t>
            </a:r>
            <a:r>
              <a:rPr lang="en-GB" sz="1400" dirty="0">
                <a:solidFill>
                  <a:srgbClr val="000000"/>
                </a:solidFill>
                <a:effectLst/>
                <a:latin typeface="+mn-lt"/>
              </a:rPr>
              <a:t> log-Normal based approach termed RCTD for spatial deconvolution, </a:t>
            </a:r>
            <a:r>
              <a:rPr lang="en-GB" sz="1400" b="1" dirty="0">
                <a:solidFill>
                  <a:srgbClr val="000000"/>
                </a:solidFill>
                <a:effectLst/>
                <a:latin typeface="+mn-lt"/>
              </a:rPr>
              <a:t>Natalie Rodrigue </a:t>
            </a:r>
            <a:r>
              <a:rPr lang="en-GB" sz="1400" dirty="0">
                <a:solidFill>
                  <a:srgbClr val="000000"/>
                </a:solidFill>
                <a:effectLst/>
                <a:latin typeface="+mn-lt"/>
              </a:rPr>
              <a:t>or </a:t>
            </a:r>
            <a:r>
              <a:rPr lang="en-GB" sz="1400" b="1" dirty="0">
                <a:solidFill>
                  <a:srgbClr val="000000"/>
                </a:solidFill>
                <a:effectLst/>
                <a:latin typeface="+mn-lt"/>
              </a:rPr>
              <a:t>Justin </a:t>
            </a:r>
            <a:r>
              <a:rPr lang="en-GB" sz="1400" b="1" dirty="0" err="1">
                <a:solidFill>
                  <a:srgbClr val="000000"/>
                </a:solidFill>
                <a:effectLst/>
                <a:latin typeface="+mn-lt"/>
              </a:rPr>
              <a:t>Bélair</a:t>
            </a:r>
            <a:r>
              <a:rPr lang="en-GB" sz="1400" kern="150" dirty="0"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)?</a:t>
            </a:r>
          </a:p>
          <a:p>
            <a:pPr marL="742950" lvl="1" indent="-285750">
              <a:spcAft>
                <a:spcPts val="800"/>
              </a:spcAft>
              <a:buFont typeface="+mj-lt"/>
              <a:buAutoNum type="alphaLcPeriod"/>
            </a:pPr>
            <a:r>
              <a:rPr lang="en-GB" sz="1400" kern="150" dirty="0"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Infer and use GRNs at the cell population level for enhanced and biologically meaningful feature extraction: </a:t>
            </a:r>
          </a:p>
          <a:p>
            <a:pPr marL="922949" lvl="2" indent="-285750">
              <a:spcAft>
                <a:spcPts val="800"/>
              </a:spcAft>
              <a:buFont typeface="+mj-lt"/>
              <a:buAutoNum type="alphaLcPeriod"/>
            </a:pPr>
            <a:r>
              <a:rPr lang="en-GB" sz="1200" kern="150" dirty="0"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Using </a:t>
            </a:r>
            <a:r>
              <a:rPr lang="en-GB" sz="1200" kern="150" dirty="0" err="1"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scRNASeq</a:t>
            </a:r>
            <a:r>
              <a:rPr lang="en-GB" sz="1200" kern="150" dirty="0"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 fingerprints (Laura Cantini, Quentin </a:t>
            </a:r>
            <a:r>
              <a:rPr lang="en-GB" sz="1200" kern="150" dirty="0" err="1"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Blampey</a:t>
            </a:r>
            <a:r>
              <a:rPr lang="en-GB" sz="1200" kern="150" dirty="0"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, …)</a:t>
            </a:r>
          </a:p>
          <a:p>
            <a:pPr marL="922949" lvl="2" indent="-285750">
              <a:spcAft>
                <a:spcPts val="800"/>
              </a:spcAft>
              <a:buFont typeface="+mj-lt"/>
              <a:buAutoNum type="alphaLcPeriod"/>
            </a:pPr>
            <a:r>
              <a:rPr lang="en-GB" sz="1200" kern="150" dirty="0"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Incorporate prior knowledge and pathway information with Julio? Pablo Rodriguez </a:t>
            </a:r>
            <a:r>
              <a:rPr lang="en-GB" sz="1200" kern="150" dirty="0" err="1"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Miar</a:t>
            </a:r>
            <a:r>
              <a:rPr lang="en-GB" sz="1200" kern="150" dirty="0"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, Vera and Marcelo?</a:t>
            </a:r>
          </a:p>
          <a:p>
            <a:pPr marL="922949" lvl="2" indent="-285750">
              <a:spcAft>
                <a:spcPts val="800"/>
              </a:spcAft>
              <a:buFont typeface="+mj-lt"/>
              <a:buAutoNum type="alphaLcPeriod"/>
            </a:pPr>
            <a:r>
              <a:rPr lang="en-GB" sz="1200" kern="150" dirty="0"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Multi-omics approaches (Sebastien Dejean avec </a:t>
            </a:r>
            <a:r>
              <a:rPr lang="en-GB" sz="1200" i="1" kern="150" dirty="0" err="1"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MixOmics</a:t>
            </a:r>
            <a:r>
              <a:rPr lang="en-GB" sz="1200" kern="150" dirty="0"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GB" sz="1200" i="1" kern="150" dirty="0"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…)</a:t>
            </a:r>
            <a:endParaRPr lang="en-GB" sz="1200" kern="150" dirty="0">
              <a:latin typeface="+mn-lt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spcAft>
                <a:spcPts val="800"/>
              </a:spcAft>
              <a:buFont typeface="+mj-lt"/>
              <a:buAutoNum type="alphaLcPeriod"/>
            </a:pPr>
            <a:r>
              <a:rPr lang="en-GB" sz="1400" kern="150" dirty="0"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(Comprehensive benchmark evaluation with Francesca’s </a:t>
            </a:r>
            <a:r>
              <a:rPr lang="en-GB" sz="1400" i="1" kern="150" dirty="0" err="1"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DeconvBench</a:t>
            </a:r>
            <a:r>
              <a:rPr lang="en-GB" sz="1400" kern="150" dirty="0"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 benchmark framework + </a:t>
            </a:r>
            <a:r>
              <a:rPr lang="en-GB" sz="1400" i="1" kern="150" dirty="0" err="1"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SimBu</a:t>
            </a:r>
            <a:r>
              <a:rPr lang="en-GB" sz="1400" kern="150" dirty="0"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 in collaboration with Hugo Barbot Copula and EFA’s approaches for modelling bulk transcriptomic profiles)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GB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2631028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55047</TotalTime>
  <Words>1110</Words>
  <Application>Microsoft Office PowerPoint</Application>
  <PresentationFormat>Widescreen</PresentationFormat>
  <Paragraphs>148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Bebas Neue</vt:lpstr>
      <vt:lpstr>Calibri</vt:lpstr>
      <vt:lpstr>Century Gothic</vt:lpstr>
      <vt:lpstr>Courier New</vt:lpstr>
      <vt:lpstr>Police système</vt:lpstr>
      <vt:lpstr>Wingdings</vt:lpstr>
      <vt:lpstr>Thème Office</vt:lpstr>
      <vt:lpstr>Early integration and holistic approaches for enhanced and interpretable deconvolution algorithms</vt:lpstr>
      <vt:lpstr>Talk layout</vt:lpstr>
      <vt:lpstr>General ideas and exploration tracks</vt:lpstr>
      <vt:lpstr>General Modelling Framework</vt:lpstr>
      <vt:lpstr>Early integration approaches: feature selection</vt:lpstr>
      <vt:lpstr>PLIER pathway integration</vt:lpstr>
      <vt:lpstr>Early integration: MOFA’s matrix factorisation</vt:lpstr>
      <vt:lpstr>Early integration: MOWGLI matrix factorisation</vt:lpstr>
      <vt:lpstr>Late integration approaches </vt:lpstr>
      <vt:lpstr>Learning: Epidish and its variants  </vt:lpstr>
      <vt:lpstr>Academic collaborations</vt:lpstr>
      <vt:lpstr>Academic collaborations</vt:lpstr>
      <vt:lpstr>Miscellaneous perspectives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Patrick de Moratti</dc:creator>
  <cp:lastModifiedBy>bastien CHASSAGNOL</cp:lastModifiedBy>
  <cp:revision>234</cp:revision>
  <dcterms:created xsi:type="dcterms:W3CDTF">2022-06-28T09:14:04Z</dcterms:created>
  <dcterms:modified xsi:type="dcterms:W3CDTF">2025-11-17T13:14:37Z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0x010100071B0C54FFE1624584AB8E6F439FB886</vt:lpwstr>
  </property>
  <property fmtid="{D5CDD505-2E9C-101B-9397-08002B2CF9AE}" pid="3" name="Order">
    <vt:r8>102000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ComplianceAssetId">
    <vt:lpwstr/>
  </property>
  <property fmtid="{D5CDD505-2E9C-101B-9397-08002B2CF9AE}" pid="9" name="TemplateUrl">
    <vt:lpwstr/>
  </property>
</Properties>
</file>